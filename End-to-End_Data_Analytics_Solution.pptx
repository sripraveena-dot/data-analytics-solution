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1" dt="2026-09-30T17:13:45.5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fitness analytics solution for gyms and personal trainers. All member examples, values and outcomes are illustrative. The deck describes a proposed implementation, not a deployed platform.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scenario, not a claim about a specific gym. The users are a gym manager, a coach and an individual member. Progress depends on each member’s goals. Weight reduction is not assumed to be the goal for every member.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Coaches should access only assigned members, and members only their own records. Role and identity mapping must support that access model. The architecture is a portfolio demonstration of a larger solution. A small personal tracker alone would not require Databricks.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top row left to right, then the serving and analytics row right to left. Source files land in approved Azure storage before ingestion. Workflows/Jobs orchestrate the data tasks. GitHub stores development assets, not business data. Power BI connects through the Databricks SQL Warehouse.</a:t>
            </a:r>
          </a:p>
          <a:p>
            <a:endParaRPr/>
          </a:p>
          <a:p>
            <a:r>
              <a:t>Sources:</a:t>
            </a:r>
          </a:p>
          <a:p>
            <a:r>
              <a:t>https://learn.microsoft.com/en-us/azure/databricks/lakehouse/medallion</a:t>
            </a:r>
          </a:p>
          <a:p>
            <a:r>
              <a:t>https://learn.microsoft.com/en-us/azure/databricks/compute/sql-warehouse/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Sample inputs: Members.csv, Measurements.csv, Sessions.csv and Goals.xlsx. Measurements contain MemberID, MeasurementID, MeasuredAt, WeightKg and HeightCm. Sessions contain MemberID, SessionID, Date, ActivityType, Status and DurationMinutes. Goals contain GoalID, MemberID, Metric, TargetValue, Unit and TargetDate. Preserve original files and track processed batches.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transformation design. Keep missing measurements as missing rather than replacing them with zero. Route invalid units and unknown member IDs to a review queue. Gold retains measurement and session grain separately to avoid duplicated totals.</a:t>
            </a:r>
          </a:p>
          <a:p>
            <a:endParaRPr/>
          </a:p>
          <a:p>
            <a:r>
              <a:t>Sources:</a:t>
            </a:r>
          </a:p>
          <a:p>
            <a:r>
              <a:t>https://learn.microsoft.com/en-us/azure/databricks/lakehouse/medallion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workflow: ingestion, Bronze, Silver and Gold tasks run with dependencies. A final readiness signal can trigger Power BI Import refresh using an authorized API integration. DirectQuery reads from the serving layer without an Import refresh. Do not publish incomplete Gold updates.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constellation of fact tables shares DimMember and DimDate. DimDate relates to FactGoal through TargetDateKey as the active relationship. A separate start-date role is optional. Do not directly join the fact tables or flatten measurements onto session rows. Use unique surrogate keys, single-direction dimension-to-fact filtering, and a separate coach-member access mapping for authorization.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DAX: Workout Minutes = CALCULATE(SUM(FactSession[DurationMinutes]), FactSession[Status] = "Attended"). Attendance Rate = DIVIDE([Attended Sessions], [Eligible Planned Sessions]). Eligible planned sessions exclude future and canceled sessions under the agreed business rule. Latest Weight Kg and Latest Height Cm select the last nonblank reading independently at or before the selected as-of date while preserving the member filter. Do not sum or average height and weight to obtain the latest reading. Latest-value lookup removes the date-range lower bound. Choose Import versus DirectQuery based on freshness and performance needs.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values are illustrative. This is an editable PowerPoint mockup, not a live Power BI report. Four measurement records show weight history. Latest values show their own measurement dates. Attendance is 10/12, rounded to 83%. Activity minutes total 420. Activity filters affect sessions, not measurements. Member and period filters affect the relevant visuals. Weight trend direction does not imply success without a member-specific goal.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Planned Power BI interactions include member and date slicers, cross-filtering for related visuals, drill-through to detail, tooltips with recording dates, and page navigation. Access rules still apply to all interactions. An optional Power Apps form can save new measurements to an approved data source. New values appear in the report after the applicable ingestion and refresh cycle. The input form is a future enhancement, not part of the PowerPoint deliverable.</a:t>
            </a:r>
          </a:p>
          <a:p>
            <a:endParaRPr/>
          </a:p>
          <a:p>
            <a:r>
              <a:t>Sources:</a:t>
            </a:r>
          </a:p>
          <a:p>
            <a:r>
              <a:t>https://learn.microsoft.com/en-us/power-apps/maker/canvas-apps/powerapps-custom-visual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PBIP enables text-based report and semantic model assets to participate in Git workflows. Include the relevant report and semantic model folders, not only the .pbip entry file. Confirm supported project formats and deployment options in the client tenant. Proposed CI validates code, configuration and model assets. Promotion to test and production uses the organization’s approved automation and approvals.</a:t>
            </a:r>
          </a:p>
          <a:p>
            <a:endParaRPr/>
          </a:p>
          <a:p>
            <a:r>
              <a:t>Sources:</a:t>
            </a:r>
          </a:p>
          <a:p>
            <a:r>
              <a:t>https://learn.microsoft.com/en-us/power-bi/developer/projects/projects-overview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technical checks: required member and record IDs, parseable timestamps, positive measurement values and nonnegative session duration. Domain-specific plausibility rules require stakeholder agreement and should flag data for review. Reruns must not create duplicate records. Retain audit history and validate access scopes before sharing.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Intended benefits, not achieved results. Establish baselines with the fitness business. Start with attendance and member measurements, then expand goals and self-service access. Use patterns to support conversations rather than claiming medical outcomes or causal effects.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Agree the first fitness use case, sample source files, metric definitions and report audience. This deck is the first-step design. Implementation of the data pipeline and Power BI report follows separately.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623F6CDC-F93D-405F-A63F-E0F211EBEB51}"/>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4023205-DDFD-44F2-9EB9-F48AA021F91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F7F00DAD-8B7F-416C-BD91-2DAA2AB2FDE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43CC254-954B-4573-BDCA-EF188DA002C5}"/>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0325E62E-6597-47BF-B776-683B8DA9168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9BC53077-1A3A-4DDF-BCFE-D627F52BFA9A}"/>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6021DEB-6CCE-40C2-A48F-383054287E8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F3CCAB64-7AA5-4073-B315-C289275F78C3}"/>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59612BBF-E134-4485-B6CC-7DF008A53C03}"/>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61ABE83-70BD-463E-8236-2D2A12F8A0E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D12C74DD-31CD-4078-A1DB-5F22C788056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BC291120-9B6C-45BC-A6B5-55E660555E4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1E458B49-C385-48D6-88C4-E94C4D3EE18F}"/>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B263C38-7335-4A9A-8D85-0BA98148154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E314F20C-7E7C-4BE2-A490-D312BCCA72A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83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DC73686-3355-4440-81FE-DF1F1626178D}"/>
              </a:ext>
            </a:extLst>
          </p:cNvPr>
          <p:cNvSpPr>
            <a:spLocks noGrp="1"/>
          </p:cNvSpPr>
          <p:nvPr/>
        </p:nvSpPr>
        <p:spPr>
          <a:xfrm>
            <a:off x="609600" y="457200"/>
            <a:ext cx="10972800" cy="666750"/>
          </a:xfrm>
          <a:prstGeom prst="rect">
            <a:avLst/>
          </a:prstGeom>
          <a:noFill/>
          <a:ln w="0">
            <a:noFill/>
          </a:ln>
        </p:spPr>
        <p:txBody>
          <a:bodyPr>
            <a:noAutofit/>
          </a:bodyPr>
          <a:lstStyle/>
          <a:p>
            <a:endParaRPr/>
          </a:p>
        </p:txBody>
      </p:sp>
      <p:sp>
        <p:nvSpPr>
          <p:cNvPr id="2" name="Rectangle 1">
            <a:extLst>
              <a:ext uri="{FF2B5EF4-FFF2-40B4-BE49-F238E27FC236}">
                <a16:creationId xmlns:a16="http://schemas.microsoft.com/office/drawing/2014/main" id="{8CF0D364-FE56-477A-A008-95C8E061F6BF}"/>
              </a:ext>
            </a:extLst>
          </p:cNvPr>
          <p:cNvSpPr>
            <a:spLocks noGrp="1"/>
          </p:cNvSpPr>
          <p:nvPr/>
        </p:nvSpPr>
        <p:spPr>
          <a:xfrm>
            <a:off x="11049000" y="6410325"/>
            <a:ext cx="523875" cy="238125"/>
          </a:xfrm>
          <a:prstGeom prst="rect">
            <a:avLst/>
          </a:prstGeom>
          <a:noFill/>
          <a:ln w="0">
            <a:noFill/>
          </a:ln>
        </p:spPr>
        <p:txBody>
          <a:bodyPr>
            <a:noAutofit/>
          </a:bodyPr>
          <a:lstStyle/>
          <a:p>
            <a:pPr>
              <a:defRPr sz="1125" b="0">
                <a:solidFill>
                  <a:srgbClr val="BCD4E0"/>
                </a:solidFill>
                <a:latin typeface="Aptos"/>
                <a:ea typeface="Aptos"/>
                <a:cs typeface="Aptos"/>
              </a:defRPr>
            </a:pPr>
            <a:r>
              <a:rPr sz="1125" b="0">
                <a:solidFill>
                  <a:srgbClr val="BCD4E0"/>
                </a:solidFill>
                <a:latin typeface="Aptos"/>
                <a:ea typeface="Aptos"/>
                <a:cs typeface="Aptos"/>
              </a:rPr>
              <a:t>01</a:t>
            </a:r>
          </a:p>
        </p:txBody>
      </p:sp>
      <p:sp>
        <p:nvSpPr>
          <p:cNvPr id="3" name="Rectangle 2">
            <a:extLst>
              <a:ext uri="{FF2B5EF4-FFF2-40B4-BE49-F238E27FC236}">
                <a16:creationId xmlns:a16="http://schemas.microsoft.com/office/drawing/2014/main" id="{ED22D808-FA6A-4624-990C-153EC0691679}"/>
              </a:ext>
            </a:extLst>
          </p:cNvPr>
          <p:cNvSpPr>
            <a:spLocks noGrp="1"/>
          </p:cNvSpPr>
          <p:nvPr/>
        </p:nvSpPr>
        <p:spPr>
          <a:xfrm>
            <a:off x="723900" y="466725"/>
            <a:ext cx="10477500" cy="352425"/>
          </a:xfrm>
          <a:prstGeom prst="rect">
            <a:avLst/>
          </a:prstGeom>
          <a:noFill/>
          <a:ln w="0">
            <a:noFill/>
          </a:ln>
        </p:spPr>
        <p:txBody>
          <a:bodyPr>
            <a:noAutofit/>
          </a:bodyPr>
          <a:lstStyle/>
          <a:p>
            <a:pPr>
              <a:defRPr sz="1725" b="1">
                <a:solidFill>
                  <a:srgbClr val="8DD7DB"/>
                </a:solidFill>
                <a:latin typeface="Aptos"/>
                <a:ea typeface="Aptos"/>
                <a:cs typeface="Aptos"/>
              </a:defRPr>
            </a:pPr>
            <a:r>
              <a:rPr sz="1725" b="1">
                <a:solidFill>
                  <a:srgbClr val="8DD7DB"/>
                </a:solidFill>
                <a:latin typeface="Aptos"/>
                <a:ea typeface="Aptos"/>
                <a:cs typeface="Aptos"/>
              </a:rPr>
              <a:t>FITNESS MEMBER PROGRESS &amp; ENGAGEMENT</a:t>
            </a:r>
          </a:p>
        </p:txBody>
      </p:sp>
      <p:sp>
        <p:nvSpPr>
          <p:cNvPr id="4" name="Rectangle 3">
            <a:extLst>
              <a:ext uri="{FF2B5EF4-FFF2-40B4-BE49-F238E27FC236}">
                <a16:creationId xmlns:a16="http://schemas.microsoft.com/office/drawing/2014/main" id="{8EFEC8D7-2AC8-491B-9952-94AB3F30F3F3}"/>
              </a:ext>
            </a:extLst>
          </p:cNvPr>
          <p:cNvSpPr>
            <a:spLocks noGrp="1"/>
          </p:cNvSpPr>
          <p:nvPr/>
        </p:nvSpPr>
        <p:spPr>
          <a:xfrm>
            <a:off x="685800" y="1000125"/>
            <a:ext cx="10572750" cy="1714500"/>
          </a:xfrm>
          <a:prstGeom prst="rect">
            <a:avLst/>
          </a:prstGeom>
          <a:noFill/>
          <a:ln w="0">
            <a:noFill/>
          </a:ln>
        </p:spPr>
        <p:txBody>
          <a:bodyPr>
            <a:noAutofit/>
          </a:bodyPr>
          <a:lstStyle/>
          <a:p>
            <a:pPr>
              <a:defRPr sz="4650" b="1">
                <a:solidFill>
                  <a:srgbClr val="FFFFFF"/>
                </a:solidFill>
                <a:latin typeface="Aptos"/>
                <a:ea typeface="Aptos"/>
                <a:cs typeface="Aptos"/>
              </a:defRPr>
            </a:pPr>
            <a:r>
              <a:rPr sz="4650" b="1">
                <a:solidFill>
                  <a:srgbClr val="FFFFFF"/>
                </a:solidFill>
                <a:latin typeface="Aptos"/>
                <a:ea typeface="Aptos"/>
                <a:cs typeface="Aptos"/>
              </a:rPr>
              <a:t>End-to-End</a:t>
            </a:r>
          </a:p>
          <a:p>
            <a:pPr>
              <a:defRPr sz="4650" b="1">
                <a:solidFill>
                  <a:srgbClr val="FFFFFF"/>
                </a:solidFill>
                <a:latin typeface="Aptos"/>
                <a:ea typeface="Aptos"/>
                <a:cs typeface="Aptos"/>
              </a:defRPr>
            </a:pPr>
            <a:r>
              <a:rPr sz="4650" b="1">
                <a:solidFill>
                  <a:srgbClr val="FFFFFF"/>
                </a:solidFill>
                <a:latin typeface="Aptos"/>
                <a:ea typeface="Aptos"/>
                <a:cs typeface="Aptos"/>
              </a:rPr>
              <a:t>Data Analytics Solution</a:t>
            </a:r>
          </a:p>
        </p:txBody>
      </p:sp>
      <p:sp>
        <p:nvSpPr>
          <p:cNvPr id="5" name="Rectangle 4">
            <a:extLst>
              <a:ext uri="{FF2B5EF4-FFF2-40B4-BE49-F238E27FC236}">
                <a16:creationId xmlns:a16="http://schemas.microsoft.com/office/drawing/2014/main" id="{5757385D-9BA4-401E-B549-EBAF1BCA72A0}"/>
              </a:ext>
            </a:extLst>
          </p:cNvPr>
          <p:cNvSpPr>
            <a:spLocks noGrp="1"/>
          </p:cNvSpPr>
          <p:nvPr/>
        </p:nvSpPr>
        <p:spPr>
          <a:xfrm>
            <a:off x="723900" y="2943225"/>
            <a:ext cx="10572750" cy="457200"/>
          </a:xfrm>
          <a:prstGeom prst="rect">
            <a:avLst/>
          </a:prstGeom>
          <a:noFill/>
          <a:ln w="0">
            <a:noFill/>
          </a:ln>
        </p:spPr>
        <p:txBody>
          <a:bodyPr>
            <a:noAutofit/>
          </a:bodyPr>
          <a:lstStyle/>
          <a:p>
            <a:pPr>
              <a:defRPr sz="2175" b="0">
                <a:solidFill>
                  <a:srgbClr val="8DD7DB"/>
                </a:solidFill>
                <a:latin typeface="Aptos"/>
                <a:ea typeface="Aptos"/>
                <a:cs typeface="Aptos"/>
              </a:defRPr>
            </a:pPr>
            <a:r>
              <a:rPr sz="2175" b="0">
                <a:solidFill>
                  <a:srgbClr val="8DD7DB"/>
                </a:solidFill>
                <a:latin typeface="Aptos"/>
                <a:ea typeface="Aptos"/>
                <a:cs typeface="Aptos"/>
              </a:rPr>
              <a:t>Databricks | Power BI | Medallion Architecture</a:t>
            </a:r>
          </a:p>
        </p:txBody>
      </p:sp>
      <p:sp>
        <p:nvSpPr>
          <p:cNvPr id="6" name="Rectangle 5">
            <a:extLst>
              <a:ext uri="{FF2B5EF4-FFF2-40B4-BE49-F238E27FC236}">
                <a16:creationId xmlns:a16="http://schemas.microsoft.com/office/drawing/2014/main" id="{8FBF6376-2B8E-4F68-B606-C729F57C66C4}"/>
              </a:ext>
            </a:extLst>
          </p:cNvPr>
          <p:cNvSpPr>
            <a:spLocks noGrp="1"/>
          </p:cNvSpPr>
          <p:nvPr/>
        </p:nvSpPr>
        <p:spPr>
          <a:xfrm>
            <a:off x="723900" y="4257675"/>
            <a:ext cx="8572500" cy="523875"/>
          </a:xfrm>
          <a:prstGeom prst="rect">
            <a:avLst/>
          </a:prstGeom>
          <a:noFill/>
          <a:ln w="0">
            <a:noFill/>
          </a:ln>
        </p:spPr>
        <p:txBody>
          <a:bodyPr lIns="91440" tIns="45720" rIns="91440" bIns="45720" anchor="t">
            <a:noAutofit/>
          </a:bodyPr>
          <a:lstStyle/>
          <a:p>
            <a:pPr>
              <a:defRPr sz="2550" b="1">
                <a:solidFill>
                  <a:srgbClr val="FFFFFF"/>
                </a:solidFill>
                <a:latin typeface="Aptos"/>
                <a:ea typeface="Aptos"/>
                <a:cs typeface="Aptos"/>
              </a:defRPr>
            </a:pPr>
            <a:r>
              <a:rPr lang="en-US" sz="2550" b="1" dirty="0">
                <a:solidFill>
                  <a:srgbClr val="FFFFFF"/>
                </a:solidFill>
                <a:latin typeface="Aptos"/>
                <a:ea typeface="Aptos"/>
                <a:cs typeface="Aptos"/>
              </a:rPr>
              <a:t>Geddam Sri Praveena</a:t>
            </a:r>
          </a:p>
        </p:txBody>
      </p:sp>
      <p:sp>
        <p:nvSpPr>
          <p:cNvPr id="7" name="Rectangle 6">
            <a:extLst>
              <a:ext uri="{FF2B5EF4-FFF2-40B4-BE49-F238E27FC236}">
                <a16:creationId xmlns:a16="http://schemas.microsoft.com/office/drawing/2014/main" id="{B393417A-E82E-448F-96F3-8AD080E1687D}"/>
              </a:ext>
            </a:extLst>
          </p:cNvPr>
          <p:cNvSpPr>
            <a:spLocks noGrp="1"/>
          </p:cNvSpPr>
          <p:nvPr/>
        </p:nvSpPr>
        <p:spPr>
          <a:xfrm>
            <a:off x="723900" y="4810125"/>
            <a:ext cx="8572500" cy="428625"/>
          </a:xfrm>
          <a:prstGeom prst="rect">
            <a:avLst/>
          </a:prstGeom>
          <a:noFill/>
          <a:ln w="0">
            <a:noFill/>
          </a:ln>
        </p:spPr>
        <p:txBody>
          <a:bodyPr>
            <a:noAutofit/>
          </a:bodyPr>
          <a:lstStyle/>
          <a:p>
            <a:pPr>
              <a:defRPr sz="1875" b="0">
                <a:solidFill>
                  <a:srgbClr val="BCD4E0"/>
                </a:solidFill>
                <a:latin typeface="Aptos"/>
                <a:ea typeface="Aptos"/>
                <a:cs typeface="Aptos"/>
              </a:defRPr>
            </a:pPr>
            <a:r>
              <a:rPr sz="1875" b="0">
                <a:solidFill>
                  <a:srgbClr val="BCD4E0"/>
                </a:solidFill>
                <a:latin typeface="Aptos"/>
                <a:ea typeface="Aptos"/>
                <a:cs typeface="Aptos"/>
              </a:rPr>
              <a:t>Data &amp; Analytics Engineer</a:t>
            </a:r>
          </a:p>
        </p:txBody>
      </p:sp>
      <p:sp>
        <p:nvSpPr>
          <p:cNvPr id="8" name="Rectangle 7">
            <a:extLst>
              <a:ext uri="{FF2B5EF4-FFF2-40B4-BE49-F238E27FC236}">
                <a16:creationId xmlns:a16="http://schemas.microsoft.com/office/drawing/2014/main" id="{9E42A2CC-7725-47FA-B535-66F958E895DB}"/>
              </a:ext>
            </a:extLst>
          </p:cNvPr>
          <p:cNvSpPr>
            <a:spLocks noGrp="1"/>
          </p:cNvSpPr>
          <p:nvPr/>
        </p:nvSpPr>
        <p:spPr>
          <a:xfrm>
            <a:off x="723900" y="5800725"/>
            <a:ext cx="10287000" cy="381000"/>
          </a:xfrm>
          <a:prstGeom prst="rect">
            <a:avLst/>
          </a:prstGeom>
          <a:noFill/>
          <a:ln w="0">
            <a:noFill/>
          </a:ln>
        </p:spPr>
        <p:txBody>
          <a:bodyPr>
            <a:noAutofit/>
          </a:bodyPr>
          <a:lstStyle/>
          <a:p>
            <a:pPr>
              <a:defRPr sz="1800" b="0">
                <a:solidFill>
                  <a:srgbClr val="FFFFFF"/>
                </a:solidFill>
                <a:latin typeface="Aptos"/>
                <a:ea typeface="Aptos"/>
                <a:cs typeface="Aptos"/>
              </a:defRPr>
            </a:pPr>
            <a:r>
              <a:rPr sz="1800" b="0">
                <a:solidFill>
                  <a:srgbClr val="FFFFFF"/>
                </a:solidFill>
                <a:latin typeface="Aptos"/>
                <a:ea typeface="Aptos"/>
                <a:cs typeface="Aptos"/>
              </a:rPr>
              <a:t>Modern Data Engineering &amp; Business Intelligence</a:t>
            </a:r>
          </a:p>
        </p:txBody>
      </p:sp>
    </p:spTree>
    <p:extLst>
      <p:ext uri="{BB962C8B-B14F-4D97-AF65-F5344CB8AC3E}">
        <p14:creationId xmlns:p14="http://schemas.microsoft.com/office/powerpoint/2010/main" val="1886470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52A554B-7B63-433A-AE64-7EEE2AD8C5D9}"/>
              </a:ext>
            </a:extLst>
          </p:cNvPr>
          <p:cNvSpPr>
            <a:spLocks noGrp="1"/>
          </p:cNvSpPr>
          <p:nvPr/>
        </p:nvSpPr>
        <p:spPr>
          <a:xfrm>
            <a:off x="609600" y="457200"/>
            <a:ext cx="10972800" cy="666750"/>
          </a:xfrm>
          <a:prstGeom prst="rect">
            <a:avLst/>
          </a:prstGeom>
          <a:noFill/>
          <a:ln w="0">
            <a:noFill/>
          </a:ln>
        </p:spPr>
        <p:txBody>
          <a:bodyPr>
            <a:noAutofit/>
          </a:bodyPr>
          <a:lstStyle/>
          <a:p>
            <a:pPr>
              <a:defRPr sz="3150" b="1">
                <a:solidFill>
                  <a:srgbClr val="10283F"/>
                </a:solidFill>
                <a:latin typeface="Aptos"/>
                <a:ea typeface="Aptos"/>
                <a:cs typeface="Aptos"/>
              </a:defRPr>
            </a:pPr>
            <a:r>
              <a:rPr sz="3150" b="1">
                <a:solidFill>
                  <a:srgbClr val="10283F"/>
                </a:solidFill>
                <a:latin typeface="Aptos"/>
                <a:ea typeface="Aptos"/>
                <a:cs typeface="Aptos"/>
              </a:rPr>
              <a:t>Agenda</a:t>
            </a:r>
          </a:p>
        </p:txBody>
      </p:sp>
      <p:sp>
        <p:nvSpPr>
          <p:cNvPr id="2" name="Rectangle 1">
            <a:extLst>
              <a:ext uri="{FF2B5EF4-FFF2-40B4-BE49-F238E27FC236}">
                <a16:creationId xmlns:a16="http://schemas.microsoft.com/office/drawing/2014/main" id="{A9173DBC-6438-4A80-9A95-943132C5ECBA}"/>
              </a:ext>
            </a:extLst>
          </p:cNvPr>
          <p:cNvSpPr>
            <a:spLocks noGrp="1"/>
          </p:cNvSpPr>
          <p:nvPr/>
        </p:nvSpPr>
        <p:spPr>
          <a:xfrm>
            <a:off x="609600" y="1219200"/>
            <a:ext cx="10972800" cy="590550"/>
          </a:xfrm>
          <a:prstGeom prst="rect">
            <a:avLst/>
          </a:prstGeom>
          <a:noFill/>
          <a:ln w="0">
            <a:noFill/>
          </a:ln>
        </p:spPr>
        <p:txBody>
          <a:bodyPr>
            <a:noAutofit/>
          </a:bodyPr>
          <a:lstStyle/>
          <a:p>
            <a:pPr>
              <a:defRPr sz="1725" b="0">
                <a:solidFill>
                  <a:srgbClr val="526778"/>
                </a:solidFill>
                <a:latin typeface="Aptos"/>
                <a:ea typeface="Aptos"/>
                <a:cs typeface="Aptos"/>
              </a:defRPr>
            </a:pPr>
            <a:r>
              <a:rPr sz="1725" b="0">
                <a:solidFill>
                  <a:srgbClr val="526778"/>
                </a:solidFill>
                <a:latin typeface="Aptos"/>
                <a:ea typeface="Aptos"/>
                <a:cs typeface="Aptos"/>
              </a:rPr>
              <a:t>A fitness use case supported by a complete analytics architecture</a:t>
            </a:r>
          </a:p>
        </p:txBody>
      </p:sp>
      <p:sp>
        <p:nvSpPr>
          <p:cNvPr id="3" name="Rectangle 2">
            <a:extLst>
              <a:ext uri="{FF2B5EF4-FFF2-40B4-BE49-F238E27FC236}">
                <a16:creationId xmlns:a16="http://schemas.microsoft.com/office/drawing/2014/main" id="{1D1344C0-78C7-4D34-9004-019FECF4DDD5}"/>
              </a:ext>
            </a:extLst>
          </p:cNvPr>
          <p:cNvSpPr>
            <a:spLocks noGrp="1"/>
          </p:cNvSpPr>
          <p:nvPr/>
        </p:nvSpPr>
        <p:spPr>
          <a:xfrm>
            <a:off x="11049000" y="6410325"/>
            <a:ext cx="523875" cy="238125"/>
          </a:xfrm>
          <a:prstGeom prst="rect">
            <a:avLst/>
          </a:prstGeom>
          <a:noFill/>
          <a:ln w="0">
            <a:noFill/>
          </a:ln>
        </p:spPr>
        <p:txBody>
          <a:bodyPr>
            <a:noAutofit/>
          </a:bodyPr>
          <a:lstStyle/>
          <a:p>
            <a:pPr>
              <a:defRPr sz="1125" b="0">
                <a:solidFill>
                  <a:srgbClr val="526778"/>
                </a:solidFill>
                <a:latin typeface="Aptos"/>
                <a:ea typeface="Aptos"/>
                <a:cs typeface="Aptos"/>
              </a:defRPr>
            </a:pPr>
            <a:r>
              <a:rPr sz="1125" b="0">
                <a:solidFill>
                  <a:srgbClr val="526778"/>
                </a:solidFill>
                <a:latin typeface="Aptos"/>
                <a:ea typeface="Aptos"/>
                <a:cs typeface="Aptos"/>
              </a:rPr>
              <a:t>02</a:t>
            </a:r>
          </a:p>
        </p:txBody>
      </p:sp>
      <p:sp>
        <p:nvSpPr>
          <p:cNvPr id="4" name="Rectangle 3">
            <a:extLst>
              <a:ext uri="{FF2B5EF4-FFF2-40B4-BE49-F238E27FC236}">
                <a16:creationId xmlns:a16="http://schemas.microsoft.com/office/drawing/2014/main" id="{A42B4506-D7EF-49AE-A170-8BEB8C1C3EBE}"/>
              </a:ext>
            </a:extLst>
          </p:cNvPr>
          <p:cNvSpPr>
            <a:spLocks noGrp="1"/>
          </p:cNvSpPr>
          <p:nvPr/>
        </p:nvSpPr>
        <p:spPr>
          <a:xfrm>
            <a:off x="647700" y="2076450"/>
            <a:ext cx="857250" cy="523875"/>
          </a:xfrm>
          <a:prstGeom prst="rect">
            <a:avLst/>
          </a:prstGeom>
          <a:noFill/>
          <a:ln w="0">
            <a:noFill/>
          </a:ln>
        </p:spPr>
        <p:txBody>
          <a:bodyPr>
            <a:noAutofit/>
          </a:bodyPr>
          <a:lstStyle/>
          <a:p>
            <a:pPr>
              <a:defRPr sz="2550" b="1">
                <a:solidFill>
                  <a:srgbClr val="087F8C"/>
                </a:solidFill>
                <a:latin typeface="Aptos"/>
                <a:ea typeface="Aptos"/>
                <a:cs typeface="Aptos"/>
              </a:defRPr>
            </a:pPr>
            <a:r>
              <a:rPr sz="2550" b="1">
                <a:solidFill>
                  <a:srgbClr val="087F8C"/>
                </a:solidFill>
                <a:latin typeface="Aptos"/>
                <a:ea typeface="Aptos"/>
                <a:cs typeface="Aptos"/>
              </a:rPr>
              <a:t>01</a:t>
            </a:r>
          </a:p>
        </p:txBody>
      </p:sp>
      <p:sp>
        <p:nvSpPr>
          <p:cNvPr id="5" name="Rectangle 4">
            <a:extLst>
              <a:ext uri="{FF2B5EF4-FFF2-40B4-BE49-F238E27FC236}">
                <a16:creationId xmlns:a16="http://schemas.microsoft.com/office/drawing/2014/main" id="{8CFDC2D1-FF80-4FFD-AB4E-6AC0749DA64E}"/>
              </a:ext>
            </a:extLst>
          </p:cNvPr>
          <p:cNvSpPr>
            <a:spLocks noGrp="1"/>
          </p:cNvSpPr>
          <p:nvPr/>
        </p:nvSpPr>
        <p:spPr>
          <a:xfrm>
            <a:off x="1762125" y="2076450"/>
            <a:ext cx="3762375" cy="428625"/>
          </a:xfrm>
          <a:prstGeom prst="rect">
            <a:avLst/>
          </a:prstGeom>
          <a:noFill/>
          <a:ln w="0">
            <a:noFill/>
          </a:ln>
        </p:spPr>
        <p:txBody>
          <a:bodyPr>
            <a:noAutofit/>
          </a:bodyPr>
          <a:lstStyle/>
          <a:p>
            <a:pPr>
              <a:defRPr sz="2100" b="1">
                <a:solidFill>
                  <a:srgbClr val="10283F"/>
                </a:solidFill>
                <a:latin typeface="Aptos"/>
                <a:ea typeface="Aptos"/>
                <a:cs typeface="Aptos"/>
              </a:defRPr>
            </a:pPr>
            <a:r>
              <a:rPr sz="2100" b="1">
                <a:solidFill>
                  <a:srgbClr val="10283F"/>
                </a:solidFill>
                <a:latin typeface="Aptos"/>
                <a:ea typeface="Aptos"/>
                <a:cs typeface="Aptos"/>
              </a:rPr>
              <a:t>Fitness use case</a:t>
            </a:r>
          </a:p>
        </p:txBody>
      </p:sp>
      <p:sp>
        <p:nvSpPr>
          <p:cNvPr id="6" name="Rectangle 5">
            <a:extLst>
              <a:ext uri="{FF2B5EF4-FFF2-40B4-BE49-F238E27FC236}">
                <a16:creationId xmlns:a16="http://schemas.microsoft.com/office/drawing/2014/main" id="{F6CD93BE-101E-4B89-9D0D-0C534EF3681B}"/>
              </a:ext>
            </a:extLst>
          </p:cNvPr>
          <p:cNvSpPr>
            <a:spLocks noGrp="1"/>
          </p:cNvSpPr>
          <p:nvPr/>
        </p:nvSpPr>
        <p:spPr>
          <a:xfrm>
            <a:off x="5667375" y="2076450"/>
            <a:ext cx="5715000" cy="619125"/>
          </a:xfrm>
          <a:prstGeom prst="rect">
            <a:avLst/>
          </a:prstGeom>
          <a:noFill/>
          <a:ln w="0">
            <a:noFill/>
          </a:ln>
        </p:spPr>
        <p:txBody>
          <a:bodyPr>
            <a:noAutofit/>
          </a:bodyPr>
          <a:lstStyle/>
          <a:p>
            <a:pPr>
              <a:defRPr sz="1800" b="0">
                <a:solidFill>
                  <a:srgbClr val="526778"/>
                </a:solidFill>
                <a:latin typeface="Aptos"/>
                <a:ea typeface="Aptos"/>
                <a:cs typeface="Aptos"/>
              </a:defRPr>
            </a:pPr>
            <a:r>
              <a:rPr sz="1800" b="0">
                <a:solidFill>
                  <a:srgbClr val="526778"/>
                </a:solidFill>
                <a:latin typeface="Aptos"/>
                <a:ea typeface="Aptos"/>
                <a:cs typeface="Aptos"/>
              </a:rPr>
              <a:t>Member progress and coaching decisions</a:t>
            </a:r>
          </a:p>
        </p:txBody>
      </p:sp>
      <p:sp>
        <p:nvSpPr>
          <p:cNvPr id="7" name="Rectangle 6">
            <a:extLst>
              <a:ext uri="{FF2B5EF4-FFF2-40B4-BE49-F238E27FC236}">
                <a16:creationId xmlns:a16="http://schemas.microsoft.com/office/drawing/2014/main" id="{2F358B20-AF93-4D98-9B57-BA946EF7F8EE}"/>
              </a:ext>
            </a:extLst>
          </p:cNvPr>
          <p:cNvSpPr>
            <a:spLocks noGrp="1"/>
          </p:cNvSpPr>
          <p:nvPr/>
        </p:nvSpPr>
        <p:spPr>
          <a:xfrm>
            <a:off x="647700" y="3028950"/>
            <a:ext cx="857250" cy="523875"/>
          </a:xfrm>
          <a:prstGeom prst="rect">
            <a:avLst/>
          </a:prstGeom>
          <a:noFill/>
          <a:ln w="0">
            <a:noFill/>
          </a:ln>
        </p:spPr>
        <p:txBody>
          <a:bodyPr>
            <a:noAutofit/>
          </a:bodyPr>
          <a:lstStyle/>
          <a:p>
            <a:pPr>
              <a:defRPr sz="2550" b="1">
                <a:solidFill>
                  <a:srgbClr val="087F8C"/>
                </a:solidFill>
                <a:latin typeface="Aptos"/>
                <a:ea typeface="Aptos"/>
                <a:cs typeface="Aptos"/>
              </a:defRPr>
            </a:pPr>
            <a:r>
              <a:rPr sz="2550" b="1">
                <a:solidFill>
                  <a:srgbClr val="087F8C"/>
                </a:solidFill>
                <a:latin typeface="Aptos"/>
                <a:ea typeface="Aptos"/>
                <a:cs typeface="Aptos"/>
              </a:rPr>
              <a:t>02</a:t>
            </a:r>
          </a:p>
        </p:txBody>
      </p:sp>
      <p:sp>
        <p:nvSpPr>
          <p:cNvPr id="8" name="Rectangle 7">
            <a:extLst>
              <a:ext uri="{FF2B5EF4-FFF2-40B4-BE49-F238E27FC236}">
                <a16:creationId xmlns:a16="http://schemas.microsoft.com/office/drawing/2014/main" id="{4A994AB0-721A-4136-896B-A491760CA870}"/>
              </a:ext>
            </a:extLst>
          </p:cNvPr>
          <p:cNvSpPr>
            <a:spLocks noGrp="1"/>
          </p:cNvSpPr>
          <p:nvPr/>
        </p:nvSpPr>
        <p:spPr>
          <a:xfrm>
            <a:off x="1762125" y="3028950"/>
            <a:ext cx="3762375" cy="428625"/>
          </a:xfrm>
          <a:prstGeom prst="rect">
            <a:avLst/>
          </a:prstGeom>
          <a:noFill/>
          <a:ln w="0">
            <a:noFill/>
          </a:ln>
        </p:spPr>
        <p:txBody>
          <a:bodyPr>
            <a:noAutofit/>
          </a:bodyPr>
          <a:lstStyle/>
          <a:p>
            <a:pPr>
              <a:defRPr sz="2100" b="1">
                <a:solidFill>
                  <a:srgbClr val="10283F"/>
                </a:solidFill>
                <a:latin typeface="Aptos"/>
                <a:ea typeface="Aptos"/>
                <a:cs typeface="Aptos"/>
              </a:defRPr>
            </a:pPr>
            <a:r>
              <a:rPr sz="2100" b="1">
                <a:solidFill>
                  <a:srgbClr val="10283F"/>
                </a:solidFill>
                <a:latin typeface="Aptos"/>
                <a:ea typeface="Aptos"/>
                <a:cs typeface="Aptos"/>
              </a:rPr>
              <a:t>Data platform</a:t>
            </a:r>
          </a:p>
        </p:txBody>
      </p:sp>
      <p:sp>
        <p:nvSpPr>
          <p:cNvPr id="9" name="Rectangle 8">
            <a:extLst>
              <a:ext uri="{FF2B5EF4-FFF2-40B4-BE49-F238E27FC236}">
                <a16:creationId xmlns:a16="http://schemas.microsoft.com/office/drawing/2014/main" id="{900CB35A-8397-495A-80E8-E4C9BBA5A95D}"/>
              </a:ext>
            </a:extLst>
          </p:cNvPr>
          <p:cNvSpPr>
            <a:spLocks noGrp="1"/>
          </p:cNvSpPr>
          <p:nvPr/>
        </p:nvSpPr>
        <p:spPr>
          <a:xfrm>
            <a:off x="5667375" y="3028950"/>
            <a:ext cx="5715000" cy="619125"/>
          </a:xfrm>
          <a:prstGeom prst="rect">
            <a:avLst/>
          </a:prstGeom>
          <a:noFill/>
          <a:ln w="0">
            <a:noFill/>
          </a:ln>
        </p:spPr>
        <p:txBody>
          <a:bodyPr>
            <a:noAutofit/>
          </a:bodyPr>
          <a:lstStyle/>
          <a:p>
            <a:pPr>
              <a:defRPr sz="1800" b="0">
                <a:solidFill>
                  <a:srgbClr val="526778"/>
                </a:solidFill>
                <a:latin typeface="Aptos"/>
                <a:ea typeface="Aptos"/>
                <a:cs typeface="Aptos"/>
              </a:defRPr>
            </a:pPr>
            <a:r>
              <a:rPr sz="1800" b="0">
                <a:solidFill>
                  <a:srgbClr val="526778"/>
                </a:solidFill>
                <a:latin typeface="Aptos"/>
                <a:ea typeface="Aptos"/>
                <a:cs typeface="Aptos"/>
              </a:rPr>
              <a:t>Architecture, ingestion and medallion layers</a:t>
            </a:r>
          </a:p>
        </p:txBody>
      </p:sp>
      <p:sp>
        <p:nvSpPr>
          <p:cNvPr id="10" name="Rectangle 9">
            <a:extLst>
              <a:ext uri="{FF2B5EF4-FFF2-40B4-BE49-F238E27FC236}">
                <a16:creationId xmlns:a16="http://schemas.microsoft.com/office/drawing/2014/main" id="{D8E09D47-FFF0-4E1D-BD6D-5BB2D956FB2A}"/>
              </a:ext>
            </a:extLst>
          </p:cNvPr>
          <p:cNvSpPr>
            <a:spLocks noGrp="1"/>
          </p:cNvSpPr>
          <p:nvPr/>
        </p:nvSpPr>
        <p:spPr>
          <a:xfrm>
            <a:off x="647700" y="3981450"/>
            <a:ext cx="857250" cy="523875"/>
          </a:xfrm>
          <a:prstGeom prst="rect">
            <a:avLst/>
          </a:prstGeom>
          <a:noFill/>
          <a:ln w="0">
            <a:noFill/>
          </a:ln>
        </p:spPr>
        <p:txBody>
          <a:bodyPr>
            <a:noAutofit/>
          </a:bodyPr>
          <a:lstStyle/>
          <a:p>
            <a:pPr>
              <a:defRPr sz="2550" b="1">
                <a:solidFill>
                  <a:srgbClr val="087F8C"/>
                </a:solidFill>
                <a:latin typeface="Aptos"/>
                <a:ea typeface="Aptos"/>
                <a:cs typeface="Aptos"/>
              </a:defRPr>
            </a:pPr>
            <a:r>
              <a:rPr sz="2550" b="1">
                <a:solidFill>
                  <a:srgbClr val="087F8C"/>
                </a:solidFill>
                <a:latin typeface="Aptos"/>
                <a:ea typeface="Aptos"/>
                <a:cs typeface="Aptos"/>
              </a:rPr>
              <a:t>03</a:t>
            </a:r>
          </a:p>
        </p:txBody>
      </p:sp>
      <p:sp>
        <p:nvSpPr>
          <p:cNvPr id="11" name="Rectangle 10">
            <a:extLst>
              <a:ext uri="{FF2B5EF4-FFF2-40B4-BE49-F238E27FC236}">
                <a16:creationId xmlns:a16="http://schemas.microsoft.com/office/drawing/2014/main" id="{0A57E8A3-BEAD-4875-A057-9F134F288A6F}"/>
              </a:ext>
            </a:extLst>
          </p:cNvPr>
          <p:cNvSpPr>
            <a:spLocks noGrp="1"/>
          </p:cNvSpPr>
          <p:nvPr/>
        </p:nvSpPr>
        <p:spPr>
          <a:xfrm>
            <a:off x="1762125" y="3981450"/>
            <a:ext cx="3762375" cy="428625"/>
          </a:xfrm>
          <a:prstGeom prst="rect">
            <a:avLst/>
          </a:prstGeom>
          <a:noFill/>
          <a:ln w="0">
            <a:noFill/>
          </a:ln>
        </p:spPr>
        <p:txBody>
          <a:bodyPr>
            <a:noAutofit/>
          </a:bodyPr>
          <a:lstStyle/>
          <a:p>
            <a:pPr>
              <a:defRPr sz="2100" b="1">
                <a:solidFill>
                  <a:srgbClr val="10283F"/>
                </a:solidFill>
                <a:latin typeface="Aptos"/>
                <a:ea typeface="Aptos"/>
                <a:cs typeface="Aptos"/>
              </a:defRPr>
            </a:pPr>
            <a:r>
              <a:rPr sz="2100" b="1">
                <a:solidFill>
                  <a:srgbClr val="10283F"/>
                </a:solidFill>
                <a:latin typeface="Aptos"/>
                <a:ea typeface="Aptos"/>
                <a:cs typeface="Aptos"/>
              </a:rPr>
              <a:t>Analytics experience</a:t>
            </a:r>
          </a:p>
        </p:txBody>
      </p:sp>
      <p:sp>
        <p:nvSpPr>
          <p:cNvPr id="12" name="Rectangle 11">
            <a:extLst>
              <a:ext uri="{FF2B5EF4-FFF2-40B4-BE49-F238E27FC236}">
                <a16:creationId xmlns:a16="http://schemas.microsoft.com/office/drawing/2014/main" id="{CA8C4930-C03B-4C95-9A35-63FA00822ABE}"/>
              </a:ext>
            </a:extLst>
          </p:cNvPr>
          <p:cNvSpPr>
            <a:spLocks noGrp="1"/>
          </p:cNvSpPr>
          <p:nvPr/>
        </p:nvSpPr>
        <p:spPr>
          <a:xfrm>
            <a:off x="5667375" y="3981450"/>
            <a:ext cx="5715000" cy="619125"/>
          </a:xfrm>
          <a:prstGeom prst="rect">
            <a:avLst/>
          </a:prstGeom>
          <a:noFill/>
          <a:ln w="0">
            <a:noFill/>
          </a:ln>
        </p:spPr>
        <p:txBody>
          <a:bodyPr>
            <a:noAutofit/>
          </a:bodyPr>
          <a:lstStyle/>
          <a:p>
            <a:pPr>
              <a:defRPr sz="1800" b="0">
                <a:solidFill>
                  <a:srgbClr val="526778"/>
                </a:solidFill>
                <a:latin typeface="Aptos"/>
                <a:ea typeface="Aptos"/>
                <a:cs typeface="Aptos"/>
              </a:defRPr>
            </a:pPr>
            <a:r>
              <a:rPr sz="1800" b="0">
                <a:solidFill>
                  <a:srgbClr val="526778"/>
                </a:solidFill>
                <a:latin typeface="Aptos"/>
                <a:ea typeface="Aptos"/>
                <a:cs typeface="Aptos"/>
              </a:rPr>
              <a:t>Gold model, semantic model and dashboard</a:t>
            </a:r>
          </a:p>
        </p:txBody>
      </p:sp>
      <p:sp>
        <p:nvSpPr>
          <p:cNvPr id="13" name="Rectangle 12">
            <a:extLst>
              <a:ext uri="{FF2B5EF4-FFF2-40B4-BE49-F238E27FC236}">
                <a16:creationId xmlns:a16="http://schemas.microsoft.com/office/drawing/2014/main" id="{AA896B66-01D6-42F4-AC4B-79686267BA30}"/>
              </a:ext>
            </a:extLst>
          </p:cNvPr>
          <p:cNvSpPr>
            <a:spLocks noGrp="1"/>
          </p:cNvSpPr>
          <p:nvPr/>
        </p:nvSpPr>
        <p:spPr>
          <a:xfrm>
            <a:off x="647700" y="4933950"/>
            <a:ext cx="857250" cy="523875"/>
          </a:xfrm>
          <a:prstGeom prst="rect">
            <a:avLst/>
          </a:prstGeom>
          <a:noFill/>
          <a:ln w="0">
            <a:noFill/>
          </a:ln>
        </p:spPr>
        <p:txBody>
          <a:bodyPr>
            <a:noAutofit/>
          </a:bodyPr>
          <a:lstStyle/>
          <a:p>
            <a:pPr>
              <a:defRPr sz="2550" b="1">
                <a:solidFill>
                  <a:srgbClr val="087F8C"/>
                </a:solidFill>
                <a:latin typeface="Aptos"/>
                <a:ea typeface="Aptos"/>
                <a:cs typeface="Aptos"/>
              </a:defRPr>
            </a:pPr>
            <a:r>
              <a:rPr sz="2550" b="1">
                <a:solidFill>
                  <a:srgbClr val="087F8C"/>
                </a:solidFill>
                <a:latin typeface="Aptos"/>
                <a:ea typeface="Aptos"/>
                <a:cs typeface="Aptos"/>
              </a:rPr>
              <a:t>04</a:t>
            </a:r>
          </a:p>
        </p:txBody>
      </p:sp>
      <p:sp>
        <p:nvSpPr>
          <p:cNvPr id="14" name="Rectangle 13">
            <a:extLst>
              <a:ext uri="{FF2B5EF4-FFF2-40B4-BE49-F238E27FC236}">
                <a16:creationId xmlns:a16="http://schemas.microsoft.com/office/drawing/2014/main" id="{D9D5E265-268E-497E-9CA1-0F985ED8BAB5}"/>
              </a:ext>
            </a:extLst>
          </p:cNvPr>
          <p:cNvSpPr>
            <a:spLocks noGrp="1"/>
          </p:cNvSpPr>
          <p:nvPr/>
        </p:nvSpPr>
        <p:spPr>
          <a:xfrm>
            <a:off x="1762125" y="4933950"/>
            <a:ext cx="3762375" cy="428625"/>
          </a:xfrm>
          <a:prstGeom prst="rect">
            <a:avLst/>
          </a:prstGeom>
          <a:noFill/>
          <a:ln w="0">
            <a:noFill/>
          </a:ln>
        </p:spPr>
        <p:txBody>
          <a:bodyPr>
            <a:noAutofit/>
          </a:bodyPr>
          <a:lstStyle/>
          <a:p>
            <a:pPr>
              <a:defRPr sz="2100" b="1">
                <a:solidFill>
                  <a:srgbClr val="10283F"/>
                </a:solidFill>
                <a:latin typeface="Aptos"/>
                <a:ea typeface="Aptos"/>
                <a:cs typeface="Aptos"/>
              </a:defRPr>
            </a:pPr>
            <a:r>
              <a:rPr sz="2100" b="1">
                <a:solidFill>
                  <a:srgbClr val="10283F"/>
                </a:solidFill>
                <a:latin typeface="Aptos"/>
                <a:ea typeface="Aptos"/>
                <a:cs typeface="Aptos"/>
              </a:rPr>
              <a:t>Delivery and operations</a:t>
            </a:r>
          </a:p>
        </p:txBody>
      </p:sp>
      <p:sp>
        <p:nvSpPr>
          <p:cNvPr id="15" name="Rectangle 14">
            <a:extLst>
              <a:ext uri="{FF2B5EF4-FFF2-40B4-BE49-F238E27FC236}">
                <a16:creationId xmlns:a16="http://schemas.microsoft.com/office/drawing/2014/main" id="{79DA3356-485B-4A6A-972F-B94EC76CCC04}"/>
              </a:ext>
            </a:extLst>
          </p:cNvPr>
          <p:cNvSpPr>
            <a:spLocks noGrp="1"/>
          </p:cNvSpPr>
          <p:nvPr/>
        </p:nvSpPr>
        <p:spPr>
          <a:xfrm>
            <a:off x="5667375" y="4933950"/>
            <a:ext cx="5715000" cy="619125"/>
          </a:xfrm>
          <a:prstGeom prst="rect">
            <a:avLst/>
          </a:prstGeom>
          <a:noFill/>
          <a:ln w="0">
            <a:noFill/>
          </a:ln>
        </p:spPr>
        <p:txBody>
          <a:bodyPr>
            <a:noAutofit/>
          </a:bodyPr>
          <a:lstStyle/>
          <a:p>
            <a:pPr>
              <a:defRPr sz="1800" b="0">
                <a:solidFill>
                  <a:srgbClr val="526778"/>
                </a:solidFill>
                <a:latin typeface="Aptos"/>
                <a:ea typeface="Aptos"/>
                <a:cs typeface="Aptos"/>
              </a:defRPr>
            </a:pPr>
            <a:r>
              <a:rPr sz="1800" b="0">
                <a:solidFill>
                  <a:srgbClr val="526778"/>
                </a:solidFill>
                <a:latin typeface="Aptos"/>
                <a:ea typeface="Aptos"/>
                <a:cs typeface="Aptos"/>
              </a:rPr>
              <a:t>GitHub, CI/CD, quality and outcomes</a:t>
            </a:r>
          </a:p>
        </p:txBody>
      </p:sp>
    </p:spTree>
    <p:extLst>
      <p:ext uri="{BB962C8B-B14F-4D97-AF65-F5344CB8AC3E}">
        <p14:creationId xmlns:p14="http://schemas.microsoft.com/office/powerpoint/2010/main" val="1603614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24DC590-F4A7-47BD-8A98-C42A328EBCA8}"/>
              </a:ext>
            </a:extLst>
          </p:cNvPr>
          <p:cNvSpPr>
            <a:spLocks noGrp="1"/>
          </p:cNvSpPr>
          <p:nvPr/>
        </p:nvSpPr>
        <p:spPr>
          <a:xfrm>
            <a:off x="609600" y="457200"/>
            <a:ext cx="10972800" cy="666750"/>
          </a:xfrm>
          <a:prstGeom prst="rect">
            <a:avLst/>
          </a:prstGeom>
          <a:noFill/>
          <a:ln w="0">
            <a:noFill/>
          </a:ln>
        </p:spPr>
        <p:txBody>
          <a:bodyPr>
            <a:noAutofit/>
          </a:bodyPr>
          <a:lstStyle/>
          <a:p>
            <a:pPr>
              <a:defRPr sz="3150" b="1">
                <a:solidFill>
                  <a:srgbClr val="10283F"/>
                </a:solidFill>
                <a:latin typeface="Aptos"/>
                <a:ea typeface="Aptos"/>
                <a:cs typeface="Aptos"/>
              </a:defRPr>
            </a:pPr>
            <a:r>
              <a:rPr sz="3150" b="1">
                <a:solidFill>
                  <a:srgbClr val="10283F"/>
                </a:solidFill>
                <a:latin typeface="Aptos"/>
                <a:ea typeface="Aptos"/>
                <a:cs typeface="Aptos"/>
              </a:rPr>
              <a:t>Fitness Business Use Case</a:t>
            </a:r>
          </a:p>
        </p:txBody>
      </p:sp>
      <p:sp>
        <p:nvSpPr>
          <p:cNvPr id="2" name="Rectangle 1">
            <a:extLst>
              <a:ext uri="{FF2B5EF4-FFF2-40B4-BE49-F238E27FC236}">
                <a16:creationId xmlns:a16="http://schemas.microsoft.com/office/drawing/2014/main" id="{B9C14654-5C7A-428F-B724-744D28EB0D4C}"/>
              </a:ext>
            </a:extLst>
          </p:cNvPr>
          <p:cNvSpPr>
            <a:spLocks noGrp="1"/>
          </p:cNvSpPr>
          <p:nvPr/>
        </p:nvSpPr>
        <p:spPr>
          <a:xfrm>
            <a:off x="609600" y="1219200"/>
            <a:ext cx="10972800" cy="590550"/>
          </a:xfrm>
          <a:prstGeom prst="rect">
            <a:avLst/>
          </a:prstGeom>
          <a:noFill/>
          <a:ln w="0">
            <a:noFill/>
          </a:ln>
        </p:spPr>
        <p:txBody>
          <a:bodyPr>
            <a:noAutofit/>
          </a:bodyPr>
          <a:lstStyle/>
          <a:p>
            <a:pPr>
              <a:defRPr sz="1725" b="0">
                <a:solidFill>
                  <a:srgbClr val="526778"/>
                </a:solidFill>
                <a:latin typeface="Aptos"/>
                <a:ea typeface="Aptos"/>
                <a:cs typeface="Aptos"/>
              </a:defRPr>
            </a:pPr>
            <a:r>
              <a:rPr sz="1725" b="0">
                <a:solidFill>
                  <a:srgbClr val="526778"/>
                </a:solidFill>
                <a:latin typeface="Aptos"/>
                <a:ea typeface="Aptos"/>
                <a:cs typeface="Aptos"/>
              </a:rPr>
              <a:t>Member Progress &amp; Engagement Analytics for gyms and personal trainers</a:t>
            </a:r>
          </a:p>
        </p:txBody>
      </p:sp>
      <p:sp>
        <p:nvSpPr>
          <p:cNvPr id="3" name="Rectangle 2">
            <a:extLst>
              <a:ext uri="{FF2B5EF4-FFF2-40B4-BE49-F238E27FC236}">
                <a16:creationId xmlns:a16="http://schemas.microsoft.com/office/drawing/2014/main" id="{540B1D56-5C3A-4302-9A2F-39C309275E96}"/>
              </a:ext>
            </a:extLst>
          </p:cNvPr>
          <p:cNvSpPr>
            <a:spLocks noGrp="1"/>
          </p:cNvSpPr>
          <p:nvPr/>
        </p:nvSpPr>
        <p:spPr>
          <a:xfrm>
            <a:off x="11049000" y="6410325"/>
            <a:ext cx="523875" cy="238125"/>
          </a:xfrm>
          <a:prstGeom prst="rect">
            <a:avLst/>
          </a:prstGeom>
          <a:noFill/>
          <a:ln w="0">
            <a:noFill/>
          </a:ln>
        </p:spPr>
        <p:txBody>
          <a:bodyPr>
            <a:noAutofit/>
          </a:bodyPr>
          <a:lstStyle/>
          <a:p>
            <a:pPr>
              <a:defRPr sz="1125" b="0">
                <a:solidFill>
                  <a:srgbClr val="526778"/>
                </a:solidFill>
                <a:latin typeface="Aptos"/>
                <a:ea typeface="Aptos"/>
                <a:cs typeface="Aptos"/>
              </a:defRPr>
            </a:pPr>
            <a:r>
              <a:rPr sz="1125" b="0">
                <a:solidFill>
                  <a:srgbClr val="526778"/>
                </a:solidFill>
                <a:latin typeface="Aptos"/>
                <a:ea typeface="Aptos"/>
                <a:cs typeface="Aptos"/>
              </a:rPr>
              <a:t>03</a:t>
            </a:r>
          </a:p>
        </p:txBody>
      </p:sp>
      <p:sp>
        <p:nvSpPr>
          <p:cNvPr id="4" name="Rectangle 3">
            <a:extLst>
              <a:ext uri="{FF2B5EF4-FFF2-40B4-BE49-F238E27FC236}">
                <a16:creationId xmlns:a16="http://schemas.microsoft.com/office/drawing/2014/main" id="{9D9C6D15-6A54-4054-ADB2-4EA68A621F16}"/>
              </a:ext>
            </a:extLst>
          </p:cNvPr>
          <p:cNvSpPr>
            <a:spLocks noGrp="1"/>
          </p:cNvSpPr>
          <p:nvPr/>
        </p:nvSpPr>
        <p:spPr>
          <a:xfrm>
            <a:off x="609600" y="2286000"/>
            <a:ext cx="33337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The problem</a:t>
            </a:r>
          </a:p>
        </p:txBody>
      </p:sp>
      <p:sp>
        <p:nvSpPr>
          <p:cNvPr id="5" name="Rectangle 4">
            <a:extLst>
              <a:ext uri="{FF2B5EF4-FFF2-40B4-BE49-F238E27FC236}">
                <a16:creationId xmlns:a16="http://schemas.microsoft.com/office/drawing/2014/main" id="{F923E32D-A422-4ECB-ABB0-DC7668FD7FEF}"/>
              </a:ext>
            </a:extLst>
          </p:cNvPr>
          <p:cNvSpPr>
            <a:spLocks noGrp="1"/>
          </p:cNvSpPr>
          <p:nvPr/>
        </p:nvSpPr>
        <p:spPr>
          <a:xfrm>
            <a:off x="609600" y="2971800"/>
            <a:ext cx="3333750" cy="2381250"/>
          </a:xfrm>
          <a:prstGeom prst="rect">
            <a:avLst/>
          </a:prstGeom>
          <a:noFill/>
          <a:ln w="0">
            <a:noFill/>
          </a:ln>
        </p:spPr>
        <p:txBody>
          <a:bodyPr>
            <a:noAutofit/>
          </a:bodyPr>
          <a:lstStyle/>
          <a:p>
            <a:pPr>
              <a:defRPr sz="1950" b="0">
                <a:solidFill>
                  <a:srgbClr val="16324A"/>
                </a:solidFill>
                <a:latin typeface="Aptos"/>
                <a:ea typeface="Aptos"/>
                <a:cs typeface="Aptos"/>
              </a:defRPr>
            </a:pPr>
            <a:r>
              <a:rPr sz="1950" b="0">
                <a:solidFill>
                  <a:srgbClr val="16324A"/>
                </a:solidFill>
                <a:latin typeface="Aptos"/>
                <a:ea typeface="Aptos"/>
                <a:cs typeface="Aptos"/>
              </a:rPr>
              <a:t>Member measurements and attendance sit in separate files.</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Coaches spend time preparing reviews.</a:t>
            </a:r>
          </a:p>
        </p:txBody>
      </p:sp>
      <p:sp>
        <p:nvSpPr>
          <p:cNvPr id="6" name="Rectangle 5">
            <a:extLst>
              <a:ext uri="{FF2B5EF4-FFF2-40B4-BE49-F238E27FC236}">
                <a16:creationId xmlns:a16="http://schemas.microsoft.com/office/drawing/2014/main" id="{3153CE89-55DF-4910-BCCF-DD5ADA96C0D0}"/>
              </a:ext>
            </a:extLst>
          </p:cNvPr>
          <p:cNvSpPr>
            <a:spLocks noGrp="1"/>
          </p:cNvSpPr>
          <p:nvPr/>
        </p:nvSpPr>
        <p:spPr>
          <a:xfrm>
            <a:off x="4419600" y="2286000"/>
            <a:ext cx="33337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The questions</a:t>
            </a:r>
          </a:p>
        </p:txBody>
      </p:sp>
      <p:sp>
        <p:nvSpPr>
          <p:cNvPr id="7" name="Rectangle 6">
            <a:extLst>
              <a:ext uri="{FF2B5EF4-FFF2-40B4-BE49-F238E27FC236}">
                <a16:creationId xmlns:a16="http://schemas.microsoft.com/office/drawing/2014/main" id="{1B45CC51-C993-49CB-8084-0D68AA63DD0A}"/>
              </a:ext>
            </a:extLst>
          </p:cNvPr>
          <p:cNvSpPr>
            <a:spLocks noGrp="1"/>
          </p:cNvSpPr>
          <p:nvPr/>
        </p:nvSpPr>
        <p:spPr>
          <a:xfrm>
            <a:off x="4419600" y="2971800"/>
            <a:ext cx="3333750" cy="2381250"/>
          </a:xfrm>
          <a:prstGeom prst="rect">
            <a:avLst/>
          </a:prstGeom>
          <a:noFill/>
          <a:ln w="0">
            <a:noFill/>
          </a:ln>
        </p:spPr>
        <p:txBody>
          <a:bodyPr>
            <a:noAutofit/>
          </a:bodyPr>
          <a:lstStyle/>
          <a:p>
            <a:pPr>
              <a:defRPr sz="1950" b="0">
                <a:solidFill>
                  <a:srgbClr val="16324A"/>
                </a:solidFill>
                <a:latin typeface="Aptos"/>
                <a:ea typeface="Aptos"/>
                <a:cs typeface="Aptos"/>
              </a:defRPr>
            </a:pPr>
            <a:r>
              <a:rPr sz="1950" b="0">
                <a:solidFill>
                  <a:srgbClr val="16324A"/>
                </a:solidFill>
                <a:latin typeface="Aptos"/>
                <a:ea typeface="Aptos"/>
                <a:cs typeface="Aptos"/>
              </a:rPr>
              <a:t>How is each member progressing?</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Who missed planned sessions?</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Which records need updating?</a:t>
            </a:r>
          </a:p>
        </p:txBody>
      </p:sp>
      <p:sp>
        <p:nvSpPr>
          <p:cNvPr id="8" name="Rectangle 7">
            <a:extLst>
              <a:ext uri="{FF2B5EF4-FFF2-40B4-BE49-F238E27FC236}">
                <a16:creationId xmlns:a16="http://schemas.microsoft.com/office/drawing/2014/main" id="{E3D39D92-98BF-4B75-AEF4-A4DF28E2A255}"/>
              </a:ext>
            </a:extLst>
          </p:cNvPr>
          <p:cNvSpPr>
            <a:spLocks noGrp="1"/>
          </p:cNvSpPr>
          <p:nvPr/>
        </p:nvSpPr>
        <p:spPr>
          <a:xfrm>
            <a:off x="8229600" y="2286000"/>
            <a:ext cx="33337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The decision</a:t>
            </a:r>
          </a:p>
        </p:txBody>
      </p:sp>
      <p:sp>
        <p:nvSpPr>
          <p:cNvPr id="9" name="Rectangle 8">
            <a:extLst>
              <a:ext uri="{FF2B5EF4-FFF2-40B4-BE49-F238E27FC236}">
                <a16:creationId xmlns:a16="http://schemas.microsoft.com/office/drawing/2014/main" id="{11B688D2-17D0-419E-8A55-055FE974AD6B}"/>
              </a:ext>
            </a:extLst>
          </p:cNvPr>
          <p:cNvSpPr>
            <a:spLocks noGrp="1"/>
          </p:cNvSpPr>
          <p:nvPr/>
        </p:nvSpPr>
        <p:spPr>
          <a:xfrm>
            <a:off x="8229600" y="2971800"/>
            <a:ext cx="3333750" cy="2381250"/>
          </a:xfrm>
          <a:prstGeom prst="rect">
            <a:avLst/>
          </a:prstGeom>
          <a:noFill/>
          <a:ln w="0">
            <a:noFill/>
          </a:ln>
        </p:spPr>
        <p:txBody>
          <a:bodyPr>
            <a:noAutofit/>
          </a:bodyPr>
          <a:lstStyle/>
          <a:p>
            <a:pPr>
              <a:defRPr sz="1950" b="0">
                <a:solidFill>
                  <a:srgbClr val="16324A"/>
                </a:solidFill>
                <a:latin typeface="Aptos"/>
                <a:ea typeface="Aptos"/>
                <a:cs typeface="Aptos"/>
              </a:defRPr>
            </a:pPr>
            <a:r>
              <a:rPr sz="1950" b="0">
                <a:solidFill>
                  <a:srgbClr val="16324A"/>
                </a:solidFill>
                <a:latin typeface="Aptos"/>
                <a:ea typeface="Aptos"/>
                <a:cs typeface="Aptos"/>
              </a:rPr>
              <a:t>Prepare a focused member review.</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Prioritize follow-ups using attendance and agreed goals.</a:t>
            </a:r>
          </a:p>
        </p:txBody>
      </p:sp>
    </p:spTree>
    <p:extLst>
      <p:ext uri="{BB962C8B-B14F-4D97-AF65-F5344CB8AC3E}">
        <p14:creationId xmlns:p14="http://schemas.microsoft.com/office/powerpoint/2010/main" val="684470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84D09D-81B3-47FE-887B-F8255D18B5F7}"/>
              </a:ext>
            </a:extLst>
          </p:cNvPr>
          <p:cNvSpPr>
            <a:spLocks noGrp="1"/>
          </p:cNvSpPr>
          <p:nvPr/>
        </p:nvSpPr>
        <p:spPr>
          <a:xfrm>
            <a:off x="609600" y="457200"/>
            <a:ext cx="10972800" cy="666750"/>
          </a:xfrm>
          <a:prstGeom prst="rect">
            <a:avLst/>
          </a:prstGeom>
          <a:noFill/>
          <a:ln w="0">
            <a:noFill/>
          </a:ln>
        </p:spPr>
        <p:txBody>
          <a:bodyPr>
            <a:noAutofit/>
          </a:bodyPr>
          <a:lstStyle/>
          <a:p>
            <a:pPr>
              <a:defRPr sz="3150" b="1">
                <a:solidFill>
                  <a:srgbClr val="10283F"/>
                </a:solidFill>
                <a:latin typeface="Aptos"/>
                <a:ea typeface="Aptos"/>
                <a:cs typeface="Aptos"/>
              </a:defRPr>
            </a:pPr>
            <a:r>
              <a:rPr sz="3150" b="1">
                <a:solidFill>
                  <a:srgbClr val="10283F"/>
                </a:solidFill>
                <a:latin typeface="Aptos"/>
                <a:ea typeface="Aptos"/>
                <a:cs typeface="Aptos"/>
              </a:rPr>
              <a:t>Solution Overview</a:t>
            </a:r>
          </a:p>
        </p:txBody>
      </p:sp>
      <p:sp>
        <p:nvSpPr>
          <p:cNvPr id="2" name="Rectangle 1">
            <a:extLst>
              <a:ext uri="{FF2B5EF4-FFF2-40B4-BE49-F238E27FC236}">
                <a16:creationId xmlns:a16="http://schemas.microsoft.com/office/drawing/2014/main" id="{F645922B-791F-46B1-99CC-39C68F5A0098}"/>
              </a:ext>
            </a:extLst>
          </p:cNvPr>
          <p:cNvSpPr>
            <a:spLocks noGrp="1"/>
          </p:cNvSpPr>
          <p:nvPr/>
        </p:nvSpPr>
        <p:spPr>
          <a:xfrm>
            <a:off x="609600" y="1219200"/>
            <a:ext cx="10972800" cy="590550"/>
          </a:xfrm>
          <a:prstGeom prst="rect">
            <a:avLst/>
          </a:prstGeom>
          <a:noFill/>
          <a:ln w="0">
            <a:noFill/>
          </a:ln>
        </p:spPr>
        <p:txBody>
          <a:bodyPr>
            <a:noAutofit/>
          </a:bodyPr>
          <a:lstStyle/>
          <a:p>
            <a:pPr>
              <a:defRPr sz="1725" b="0">
                <a:solidFill>
                  <a:srgbClr val="526778"/>
                </a:solidFill>
                <a:latin typeface="Aptos"/>
                <a:ea typeface="Aptos"/>
                <a:cs typeface="Aptos"/>
              </a:defRPr>
            </a:pPr>
            <a:r>
              <a:rPr sz="1725" b="0">
                <a:solidFill>
                  <a:srgbClr val="526778"/>
                </a:solidFill>
                <a:latin typeface="Aptos"/>
                <a:ea typeface="Aptos"/>
                <a:cs typeface="Aptos"/>
              </a:rPr>
              <a:t>One reporting experience for different fitness roles</a:t>
            </a:r>
          </a:p>
        </p:txBody>
      </p:sp>
      <p:sp>
        <p:nvSpPr>
          <p:cNvPr id="3" name="Rectangle 2">
            <a:extLst>
              <a:ext uri="{FF2B5EF4-FFF2-40B4-BE49-F238E27FC236}">
                <a16:creationId xmlns:a16="http://schemas.microsoft.com/office/drawing/2014/main" id="{4AE8F498-A21F-4C0A-A164-351980D85043}"/>
              </a:ext>
            </a:extLst>
          </p:cNvPr>
          <p:cNvSpPr>
            <a:spLocks noGrp="1"/>
          </p:cNvSpPr>
          <p:nvPr/>
        </p:nvSpPr>
        <p:spPr>
          <a:xfrm>
            <a:off x="11049000" y="6410325"/>
            <a:ext cx="523875" cy="238125"/>
          </a:xfrm>
          <a:prstGeom prst="rect">
            <a:avLst/>
          </a:prstGeom>
          <a:noFill/>
          <a:ln w="0">
            <a:noFill/>
          </a:ln>
        </p:spPr>
        <p:txBody>
          <a:bodyPr>
            <a:noAutofit/>
          </a:bodyPr>
          <a:lstStyle/>
          <a:p>
            <a:pPr>
              <a:defRPr sz="1125" b="0">
                <a:solidFill>
                  <a:srgbClr val="526778"/>
                </a:solidFill>
                <a:latin typeface="Aptos"/>
                <a:ea typeface="Aptos"/>
                <a:cs typeface="Aptos"/>
              </a:defRPr>
            </a:pPr>
            <a:r>
              <a:rPr sz="1125" b="0">
                <a:solidFill>
                  <a:srgbClr val="526778"/>
                </a:solidFill>
                <a:latin typeface="Aptos"/>
                <a:ea typeface="Aptos"/>
                <a:cs typeface="Aptos"/>
              </a:rPr>
              <a:t>04</a:t>
            </a:r>
          </a:p>
        </p:txBody>
      </p:sp>
      <p:sp>
        <p:nvSpPr>
          <p:cNvPr id="4" name="Rectangle 3">
            <a:extLst>
              <a:ext uri="{FF2B5EF4-FFF2-40B4-BE49-F238E27FC236}">
                <a16:creationId xmlns:a16="http://schemas.microsoft.com/office/drawing/2014/main" id="{29A3D7B7-D373-4167-9A7A-2F4EDDF3D633}"/>
              </a:ext>
            </a:extLst>
          </p:cNvPr>
          <p:cNvSpPr>
            <a:spLocks noGrp="1"/>
          </p:cNvSpPr>
          <p:nvPr/>
        </p:nvSpPr>
        <p:spPr>
          <a:xfrm>
            <a:off x="609600" y="2286000"/>
            <a:ext cx="33337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Gym manager</a:t>
            </a:r>
          </a:p>
        </p:txBody>
      </p:sp>
      <p:sp>
        <p:nvSpPr>
          <p:cNvPr id="5" name="Rectangle 4">
            <a:extLst>
              <a:ext uri="{FF2B5EF4-FFF2-40B4-BE49-F238E27FC236}">
                <a16:creationId xmlns:a16="http://schemas.microsoft.com/office/drawing/2014/main" id="{DFCFE76E-2CB6-4E61-AE27-1F01152F0A0A}"/>
              </a:ext>
            </a:extLst>
          </p:cNvPr>
          <p:cNvSpPr>
            <a:spLocks noGrp="1"/>
          </p:cNvSpPr>
          <p:nvPr/>
        </p:nvSpPr>
        <p:spPr>
          <a:xfrm>
            <a:off x="609600" y="2971800"/>
            <a:ext cx="3333750" cy="2381250"/>
          </a:xfrm>
          <a:prstGeom prst="rect">
            <a:avLst/>
          </a:prstGeom>
          <a:noFill/>
          <a:ln w="0">
            <a:noFill/>
          </a:ln>
        </p:spPr>
        <p:txBody>
          <a:bodyPr>
            <a:noAutofit/>
          </a:bodyPr>
          <a:lstStyle/>
          <a:p>
            <a:pPr>
              <a:defRPr sz="1950" b="0">
                <a:solidFill>
                  <a:srgbClr val="16324A"/>
                </a:solidFill>
                <a:latin typeface="Aptos"/>
                <a:ea typeface="Aptos"/>
                <a:cs typeface="Aptos"/>
              </a:defRPr>
            </a:pPr>
            <a:r>
              <a:rPr sz="1950" b="0">
                <a:solidFill>
                  <a:srgbClr val="16324A"/>
                </a:solidFill>
                <a:latin typeface="Aptos"/>
                <a:ea typeface="Aptos"/>
                <a:cs typeface="Aptos"/>
              </a:rPr>
              <a:t>Review participation and attendance across periods.</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Identify gaps in data collection.</a:t>
            </a:r>
          </a:p>
        </p:txBody>
      </p:sp>
      <p:sp>
        <p:nvSpPr>
          <p:cNvPr id="6" name="Rectangle 5">
            <a:extLst>
              <a:ext uri="{FF2B5EF4-FFF2-40B4-BE49-F238E27FC236}">
                <a16:creationId xmlns:a16="http://schemas.microsoft.com/office/drawing/2014/main" id="{4DA7BD80-BC5D-480F-B4DC-28E1563961EB}"/>
              </a:ext>
            </a:extLst>
          </p:cNvPr>
          <p:cNvSpPr>
            <a:spLocks noGrp="1"/>
          </p:cNvSpPr>
          <p:nvPr/>
        </p:nvSpPr>
        <p:spPr>
          <a:xfrm>
            <a:off x="4419600" y="2286000"/>
            <a:ext cx="33337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Fitness coach</a:t>
            </a:r>
          </a:p>
        </p:txBody>
      </p:sp>
      <p:sp>
        <p:nvSpPr>
          <p:cNvPr id="7" name="Rectangle 6">
            <a:extLst>
              <a:ext uri="{FF2B5EF4-FFF2-40B4-BE49-F238E27FC236}">
                <a16:creationId xmlns:a16="http://schemas.microsoft.com/office/drawing/2014/main" id="{C7E78448-93E3-4EE5-A9D6-A75D864835A5}"/>
              </a:ext>
            </a:extLst>
          </p:cNvPr>
          <p:cNvSpPr>
            <a:spLocks noGrp="1"/>
          </p:cNvSpPr>
          <p:nvPr/>
        </p:nvSpPr>
        <p:spPr>
          <a:xfrm>
            <a:off x="4419600" y="2971800"/>
            <a:ext cx="3333750" cy="2381250"/>
          </a:xfrm>
          <a:prstGeom prst="rect">
            <a:avLst/>
          </a:prstGeom>
          <a:noFill/>
          <a:ln w="0">
            <a:noFill/>
          </a:ln>
        </p:spPr>
        <p:txBody>
          <a:bodyPr>
            <a:noAutofit/>
          </a:bodyPr>
          <a:lstStyle/>
          <a:p>
            <a:pPr>
              <a:defRPr sz="1950" b="0">
                <a:solidFill>
                  <a:srgbClr val="16324A"/>
                </a:solidFill>
                <a:latin typeface="Aptos"/>
                <a:ea typeface="Aptos"/>
                <a:cs typeface="Aptos"/>
              </a:defRPr>
            </a:pPr>
            <a:r>
              <a:rPr sz="1950" b="0">
                <a:solidFill>
                  <a:srgbClr val="16324A"/>
                </a:solidFill>
                <a:latin typeface="Aptos"/>
                <a:ea typeface="Aptos"/>
                <a:cs typeface="Aptos"/>
              </a:rPr>
              <a:t>Select a member and review measurements, goals and sessions.</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Prepare follow-up conversations.</a:t>
            </a:r>
          </a:p>
        </p:txBody>
      </p:sp>
      <p:sp>
        <p:nvSpPr>
          <p:cNvPr id="8" name="Rectangle 7">
            <a:extLst>
              <a:ext uri="{FF2B5EF4-FFF2-40B4-BE49-F238E27FC236}">
                <a16:creationId xmlns:a16="http://schemas.microsoft.com/office/drawing/2014/main" id="{3BE8A59D-6363-4AA0-BE7C-5641162254E1}"/>
              </a:ext>
            </a:extLst>
          </p:cNvPr>
          <p:cNvSpPr>
            <a:spLocks noGrp="1"/>
          </p:cNvSpPr>
          <p:nvPr/>
        </p:nvSpPr>
        <p:spPr>
          <a:xfrm>
            <a:off x="8229600" y="2286000"/>
            <a:ext cx="33337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Member</a:t>
            </a:r>
          </a:p>
        </p:txBody>
      </p:sp>
      <p:sp>
        <p:nvSpPr>
          <p:cNvPr id="9" name="Rectangle 8">
            <a:extLst>
              <a:ext uri="{FF2B5EF4-FFF2-40B4-BE49-F238E27FC236}">
                <a16:creationId xmlns:a16="http://schemas.microsoft.com/office/drawing/2014/main" id="{5465171A-870C-4036-80E7-469355DC2F3A}"/>
              </a:ext>
            </a:extLst>
          </p:cNvPr>
          <p:cNvSpPr>
            <a:spLocks noGrp="1"/>
          </p:cNvSpPr>
          <p:nvPr/>
        </p:nvSpPr>
        <p:spPr>
          <a:xfrm>
            <a:off x="8229600" y="2971800"/>
            <a:ext cx="3333750" cy="2381250"/>
          </a:xfrm>
          <a:prstGeom prst="rect">
            <a:avLst/>
          </a:prstGeom>
          <a:noFill/>
          <a:ln w="0">
            <a:noFill/>
          </a:ln>
        </p:spPr>
        <p:txBody>
          <a:bodyPr>
            <a:noAutofit/>
          </a:bodyPr>
          <a:lstStyle/>
          <a:p>
            <a:pPr>
              <a:defRPr sz="1950" b="0">
                <a:solidFill>
                  <a:srgbClr val="16324A"/>
                </a:solidFill>
                <a:latin typeface="Aptos"/>
                <a:ea typeface="Aptos"/>
                <a:cs typeface="Aptos"/>
              </a:defRPr>
            </a:pPr>
            <a:r>
              <a:rPr sz="1950" b="0">
                <a:solidFill>
                  <a:srgbClr val="16324A"/>
                </a:solidFill>
                <a:latin typeface="Aptos"/>
                <a:ea typeface="Aptos"/>
                <a:cs typeface="Aptos"/>
              </a:rPr>
              <a:t>View personal weight and height with measurement dates.</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Explore activity and goal history.</a:t>
            </a:r>
          </a:p>
        </p:txBody>
      </p:sp>
      <p:sp>
        <p:nvSpPr>
          <p:cNvPr id="10" name="Rectangle 9">
            <a:extLst>
              <a:ext uri="{FF2B5EF4-FFF2-40B4-BE49-F238E27FC236}">
                <a16:creationId xmlns:a16="http://schemas.microsoft.com/office/drawing/2014/main" id="{3F30401B-01EB-4F12-9ED6-119855F157BA}"/>
              </a:ext>
            </a:extLst>
          </p:cNvPr>
          <p:cNvSpPr>
            <a:spLocks noGrp="1"/>
          </p:cNvSpPr>
          <p:nvPr/>
        </p:nvSpPr>
        <p:spPr>
          <a:xfrm>
            <a:off x="609600" y="5791200"/>
            <a:ext cx="10953750" cy="4572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Databricks prepares reliable data. Power BI supports the review and exploration.</a:t>
            </a:r>
          </a:p>
        </p:txBody>
      </p:sp>
    </p:spTree>
    <p:extLst>
      <p:ext uri="{BB962C8B-B14F-4D97-AF65-F5344CB8AC3E}">
        <p14:creationId xmlns:p14="http://schemas.microsoft.com/office/powerpoint/2010/main" val="1721712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8837FF5E-5F9A-4D88-B3CD-1A4414A3936F}"/>
              </a:ext>
            </a:extLst>
          </p:cNvPr>
          <p:cNvSpPr>
            <a:spLocks noGrp="1"/>
          </p:cNvSpPr>
          <p:nvPr/>
        </p:nvSpPr>
        <p:spPr>
          <a:xfrm>
            <a:off x="609600" y="457200"/>
            <a:ext cx="10972800" cy="666750"/>
          </a:xfrm>
          <a:prstGeom prst="rect">
            <a:avLst/>
          </a:prstGeom>
          <a:noFill/>
          <a:ln w="0">
            <a:noFill/>
          </a:ln>
        </p:spPr>
        <p:txBody>
          <a:bodyPr>
            <a:noAutofit/>
          </a:bodyPr>
          <a:lstStyle/>
          <a:p>
            <a:pPr>
              <a:defRPr sz="3150" b="1">
                <a:solidFill>
                  <a:srgbClr val="10283F"/>
                </a:solidFill>
                <a:latin typeface="Aptos"/>
                <a:ea typeface="Aptos"/>
                <a:cs typeface="Aptos"/>
              </a:defRPr>
            </a:pPr>
            <a:r>
              <a:rPr sz="3150" b="1">
                <a:solidFill>
                  <a:srgbClr val="10283F"/>
                </a:solidFill>
                <a:latin typeface="Aptos"/>
                <a:ea typeface="Aptos"/>
                <a:cs typeface="Aptos"/>
              </a:rPr>
              <a:t>End-to-End Architecture</a:t>
            </a:r>
          </a:p>
        </p:txBody>
      </p:sp>
      <p:sp>
        <p:nvSpPr>
          <p:cNvPr id="2" name="Rectangle 1">
            <a:extLst>
              <a:ext uri="{FF2B5EF4-FFF2-40B4-BE49-F238E27FC236}">
                <a16:creationId xmlns:a16="http://schemas.microsoft.com/office/drawing/2014/main" id="{913B4C5B-EBCE-49F9-8A44-16230A3C83C0}"/>
              </a:ext>
            </a:extLst>
          </p:cNvPr>
          <p:cNvSpPr>
            <a:spLocks noGrp="1"/>
          </p:cNvSpPr>
          <p:nvPr/>
        </p:nvSpPr>
        <p:spPr>
          <a:xfrm>
            <a:off x="609600" y="1219200"/>
            <a:ext cx="10972800" cy="590550"/>
          </a:xfrm>
          <a:prstGeom prst="rect">
            <a:avLst/>
          </a:prstGeom>
          <a:noFill/>
          <a:ln w="0">
            <a:noFill/>
          </a:ln>
        </p:spPr>
        <p:txBody>
          <a:bodyPr>
            <a:noAutofit/>
          </a:bodyPr>
          <a:lstStyle/>
          <a:p>
            <a:pPr>
              <a:defRPr sz="1725" b="0">
                <a:solidFill>
                  <a:srgbClr val="526778"/>
                </a:solidFill>
                <a:latin typeface="Aptos"/>
                <a:ea typeface="Aptos"/>
                <a:cs typeface="Aptos"/>
              </a:defRPr>
            </a:pPr>
            <a:r>
              <a:rPr sz="1725" b="0">
                <a:solidFill>
                  <a:srgbClr val="526778"/>
                </a:solidFill>
                <a:latin typeface="Aptos"/>
                <a:ea typeface="Aptos"/>
                <a:cs typeface="Aptos"/>
              </a:rPr>
              <a:t>Data processing and report delivery share one traceable flow</a:t>
            </a:r>
          </a:p>
        </p:txBody>
      </p:sp>
      <p:sp>
        <p:nvSpPr>
          <p:cNvPr id="3" name="Rectangle 2">
            <a:extLst>
              <a:ext uri="{FF2B5EF4-FFF2-40B4-BE49-F238E27FC236}">
                <a16:creationId xmlns:a16="http://schemas.microsoft.com/office/drawing/2014/main" id="{B0FBE76C-A69C-400C-8349-F8BC3352C85D}"/>
              </a:ext>
            </a:extLst>
          </p:cNvPr>
          <p:cNvSpPr>
            <a:spLocks noGrp="1"/>
          </p:cNvSpPr>
          <p:nvPr/>
        </p:nvSpPr>
        <p:spPr>
          <a:xfrm>
            <a:off x="11049000" y="6410325"/>
            <a:ext cx="523875" cy="238125"/>
          </a:xfrm>
          <a:prstGeom prst="rect">
            <a:avLst/>
          </a:prstGeom>
          <a:noFill/>
          <a:ln w="0">
            <a:noFill/>
          </a:ln>
        </p:spPr>
        <p:txBody>
          <a:bodyPr>
            <a:noAutofit/>
          </a:bodyPr>
          <a:lstStyle/>
          <a:p>
            <a:pPr>
              <a:defRPr sz="1125" b="0">
                <a:solidFill>
                  <a:srgbClr val="526778"/>
                </a:solidFill>
                <a:latin typeface="Aptos"/>
                <a:ea typeface="Aptos"/>
                <a:cs typeface="Aptos"/>
              </a:defRPr>
            </a:pPr>
            <a:r>
              <a:rPr sz="1125" b="0">
                <a:solidFill>
                  <a:srgbClr val="526778"/>
                </a:solidFill>
                <a:latin typeface="Aptos"/>
                <a:ea typeface="Aptos"/>
                <a:cs typeface="Aptos"/>
              </a:rPr>
              <a:t>05</a:t>
            </a:r>
          </a:p>
        </p:txBody>
      </p:sp>
      <p:sp>
        <p:nvSpPr>
          <p:cNvPr id="4" name="Rectangle 3">
            <a:extLst>
              <a:ext uri="{FF2B5EF4-FFF2-40B4-BE49-F238E27FC236}">
                <a16:creationId xmlns:a16="http://schemas.microsoft.com/office/drawing/2014/main" id="{0E1631E7-BD9A-4D71-A333-251574A3A6B6}"/>
              </a:ext>
            </a:extLst>
          </p:cNvPr>
          <p:cNvSpPr>
            <a:spLocks noGrp="1"/>
          </p:cNvSpPr>
          <p:nvPr/>
        </p:nvSpPr>
        <p:spPr>
          <a:xfrm>
            <a:off x="609600" y="2381250"/>
            <a:ext cx="1971675" cy="1190625"/>
          </a:xfrm>
          <a:prstGeom prst="rect">
            <a:avLst/>
          </a:prstGeom>
          <a:solidFill>
            <a:srgbClr val="EDF3F6"/>
          </a:solidFill>
          <a:ln w="0">
            <a:noFill/>
          </a:ln>
        </p:spPr>
      </p:sp>
      <p:sp>
        <p:nvSpPr>
          <p:cNvPr id="5" name="Rectangle 4">
            <a:extLst>
              <a:ext uri="{FF2B5EF4-FFF2-40B4-BE49-F238E27FC236}">
                <a16:creationId xmlns:a16="http://schemas.microsoft.com/office/drawing/2014/main" id="{E7F02C74-B4C2-46B3-9518-43A015360FD8}"/>
              </a:ext>
            </a:extLst>
          </p:cNvPr>
          <p:cNvSpPr>
            <a:spLocks noGrp="1"/>
          </p:cNvSpPr>
          <p:nvPr/>
        </p:nvSpPr>
        <p:spPr>
          <a:xfrm>
            <a:off x="609600" y="2381250"/>
            <a:ext cx="47625" cy="1190625"/>
          </a:xfrm>
          <a:prstGeom prst="rect">
            <a:avLst/>
          </a:prstGeom>
          <a:solidFill>
            <a:srgbClr val="087F8C"/>
          </a:solidFill>
          <a:ln w="0">
            <a:noFill/>
          </a:ln>
        </p:spPr>
      </p:sp>
      <p:sp>
        <p:nvSpPr>
          <p:cNvPr id="6" name="Rectangle 5">
            <a:extLst>
              <a:ext uri="{FF2B5EF4-FFF2-40B4-BE49-F238E27FC236}">
                <a16:creationId xmlns:a16="http://schemas.microsoft.com/office/drawing/2014/main" id="{72E8BC33-EB98-40B5-BD7B-F3CD15FAC4D8}"/>
              </a:ext>
            </a:extLst>
          </p:cNvPr>
          <p:cNvSpPr>
            <a:spLocks noGrp="1"/>
          </p:cNvSpPr>
          <p:nvPr/>
        </p:nvSpPr>
        <p:spPr>
          <a:xfrm>
            <a:off x="781050" y="2514600"/>
            <a:ext cx="1666875" cy="4191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Excel / CSV</a:t>
            </a:r>
          </a:p>
        </p:txBody>
      </p:sp>
      <p:sp>
        <p:nvSpPr>
          <p:cNvPr id="7" name="Rectangle 6">
            <a:extLst>
              <a:ext uri="{FF2B5EF4-FFF2-40B4-BE49-F238E27FC236}">
                <a16:creationId xmlns:a16="http://schemas.microsoft.com/office/drawing/2014/main" id="{2400F3BC-9910-4B75-8F14-95793AA10CD9}"/>
              </a:ext>
            </a:extLst>
          </p:cNvPr>
          <p:cNvSpPr>
            <a:spLocks noGrp="1"/>
          </p:cNvSpPr>
          <p:nvPr/>
        </p:nvSpPr>
        <p:spPr>
          <a:xfrm>
            <a:off x="781050" y="2943225"/>
            <a:ext cx="1666875" cy="571500"/>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Fitness source files</a:t>
            </a:r>
          </a:p>
        </p:txBody>
      </p:sp>
      <p:sp>
        <p:nvSpPr>
          <p:cNvPr id="8" name="Arrow: Right 7">
            <a:extLst>
              <a:ext uri="{FF2B5EF4-FFF2-40B4-BE49-F238E27FC236}">
                <a16:creationId xmlns:a16="http://schemas.microsoft.com/office/drawing/2014/main" id="{2793C35E-75B1-45F6-A992-ECABFBD49FAB}"/>
              </a:ext>
            </a:extLst>
          </p:cNvPr>
          <p:cNvSpPr>
            <a:spLocks noGrp="1"/>
          </p:cNvSpPr>
          <p:nvPr/>
        </p:nvSpPr>
        <p:spPr>
          <a:xfrm>
            <a:off x="2609850" y="2886075"/>
            <a:ext cx="228600" cy="190500"/>
          </a:xfrm>
          <a:prstGeom prst="rightArrow">
            <a:avLst/>
          </a:prstGeom>
          <a:solidFill>
            <a:srgbClr val="087F8C"/>
          </a:solidFill>
          <a:ln w="0">
            <a:noFill/>
          </a:ln>
        </p:spPr>
      </p:sp>
      <p:sp>
        <p:nvSpPr>
          <p:cNvPr id="9" name="Rectangle 8">
            <a:extLst>
              <a:ext uri="{FF2B5EF4-FFF2-40B4-BE49-F238E27FC236}">
                <a16:creationId xmlns:a16="http://schemas.microsoft.com/office/drawing/2014/main" id="{998593F9-A534-4273-8261-F01EF0B6E80A}"/>
              </a:ext>
            </a:extLst>
          </p:cNvPr>
          <p:cNvSpPr>
            <a:spLocks noGrp="1"/>
          </p:cNvSpPr>
          <p:nvPr/>
        </p:nvSpPr>
        <p:spPr>
          <a:xfrm>
            <a:off x="2857500" y="2381250"/>
            <a:ext cx="1971675" cy="1190625"/>
          </a:xfrm>
          <a:prstGeom prst="rect">
            <a:avLst/>
          </a:prstGeom>
          <a:solidFill>
            <a:srgbClr val="EDF3F6"/>
          </a:solidFill>
          <a:ln w="0">
            <a:noFill/>
          </a:ln>
        </p:spPr>
      </p:sp>
      <p:sp>
        <p:nvSpPr>
          <p:cNvPr id="10" name="Rectangle 9">
            <a:extLst>
              <a:ext uri="{FF2B5EF4-FFF2-40B4-BE49-F238E27FC236}">
                <a16:creationId xmlns:a16="http://schemas.microsoft.com/office/drawing/2014/main" id="{505FA50F-6655-4FA6-84DF-1062BFE6AF75}"/>
              </a:ext>
            </a:extLst>
          </p:cNvPr>
          <p:cNvSpPr>
            <a:spLocks noGrp="1"/>
          </p:cNvSpPr>
          <p:nvPr/>
        </p:nvSpPr>
        <p:spPr>
          <a:xfrm>
            <a:off x="2857500" y="2381250"/>
            <a:ext cx="47625" cy="1190625"/>
          </a:xfrm>
          <a:prstGeom prst="rect">
            <a:avLst/>
          </a:prstGeom>
          <a:solidFill>
            <a:srgbClr val="087F8C"/>
          </a:solidFill>
          <a:ln w="0">
            <a:noFill/>
          </a:ln>
        </p:spPr>
      </p:sp>
      <p:sp>
        <p:nvSpPr>
          <p:cNvPr id="11" name="Rectangle 10">
            <a:extLst>
              <a:ext uri="{FF2B5EF4-FFF2-40B4-BE49-F238E27FC236}">
                <a16:creationId xmlns:a16="http://schemas.microsoft.com/office/drawing/2014/main" id="{77AC933E-76E2-4CBD-8D75-B20D88C3F548}"/>
              </a:ext>
            </a:extLst>
          </p:cNvPr>
          <p:cNvSpPr>
            <a:spLocks noGrp="1"/>
          </p:cNvSpPr>
          <p:nvPr/>
        </p:nvSpPr>
        <p:spPr>
          <a:xfrm>
            <a:off x="3028950" y="2514600"/>
            <a:ext cx="1666875" cy="4191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Databricks</a:t>
            </a:r>
          </a:p>
        </p:txBody>
      </p:sp>
      <p:sp>
        <p:nvSpPr>
          <p:cNvPr id="12" name="Rectangle 11">
            <a:extLst>
              <a:ext uri="{FF2B5EF4-FFF2-40B4-BE49-F238E27FC236}">
                <a16:creationId xmlns:a16="http://schemas.microsoft.com/office/drawing/2014/main" id="{3CFDD58D-C01C-4DBB-BD74-8C297BF25D81}"/>
              </a:ext>
            </a:extLst>
          </p:cNvPr>
          <p:cNvSpPr>
            <a:spLocks noGrp="1"/>
          </p:cNvSpPr>
          <p:nvPr/>
        </p:nvSpPr>
        <p:spPr>
          <a:xfrm>
            <a:off x="3028950" y="2943225"/>
            <a:ext cx="1666875" cy="571500"/>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PySpark / Python</a:t>
            </a:r>
          </a:p>
        </p:txBody>
      </p:sp>
      <p:sp>
        <p:nvSpPr>
          <p:cNvPr id="13" name="Arrow: Right 12">
            <a:extLst>
              <a:ext uri="{FF2B5EF4-FFF2-40B4-BE49-F238E27FC236}">
                <a16:creationId xmlns:a16="http://schemas.microsoft.com/office/drawing/2014/main" id="{08CA9B9A-E8CD-4F6E-81A4-BB3F4E3C9320}"/>
              </a:ext>
            </a:extLst>
          </p:cNvPr>
          <p:cNvSpPr>
            <a:spLocks noGrp="1"/>
          </p:cNvSpPr>
          <p:nvPr/>
        </p:nvSpPr>
        <p:spPr>
          <a:xfrm>
            <a:off x="4857750" y="2886075"/>
            <a:ext cx="228600" cy="190500"/>
          </a:xfrm>
          <a:prstGeom prst="rightArrow">
            <a:avLst/>
          </a:prstGeom>
          <a:solidFill>
            <a:srgbClr val="087F8C"/>
          </a:solidFill>
          <a:ln w="0">
            <a:noFill/>
          </a:ln>
        </p:spPr>
      </p:sp>
      <p:sp>
        <p:nvSpPr>
          <p:cNvPr id="14" name="Rectangle 13">
            <a:extLst>
              <a:ext uri="{FF2B5EF4-FFF2-40B4-BE49-F238E27FC236}">
                <a16:creationId xmlns:a16="http://schemas.microsoft.com/office/drawing/2014/main" id="{16CB8B88-231F-4117-9A8B-91F51449226D}"/>
              </a:ext>
            </a:extLst>
          </p:cNvPr>
          <p:cNvSpPr>
            <a:spLocks noGrp="1"/>
          </p:cNvSpPr>
          <p:nvPr/>
        </p:nvSpPr>
        <p:spPr>
          <a:xfrm>
            <a:off x="5105400" y="2381250"/>
            <a:ext cx="1971675" cy="1190625"/>
          </a:xfrm>
          <a:prstGeom prst="rect">
            <a:avLst/>
          </a:prstGeom>
          <a:solidFill>
            <a:srgbClr val="EDF3F6"/>
          </a:solidFill>
          <a:ln w="0">
            <a:noFill/>
          </a:ln>
        </p:spPr>
      </p:sp>
      <p:sp>
        <p:nvSpPr>
          <p:cNvPr id="15" name="Rectangle 14">
            <a:extLst>
              <a:ext uri="{FF2B5EF4-FFF2-40B4-BE49-F238E27FC236}">
                <a16:creationId xmlns:a16="http://schemas.microsoft.com/office/drawing/2014/main" id="{745BA36D-779F-4577-AC81-AC7AA0312BC9}"/>
              </a:ext>
            </a:extLst>
          </p:cNvPr>
          <p:cNvSpPr>
            <a:spLocks noGrp="1"/>
          </p:cNvSpPr>
          <p:nvPr/>
        </p:nvSpPr>
        <p:spPr>
          <a:xfrm>
            <a:off x="5105400" y="2381250"/>
            <a:ext cx="47625" cy="1190625"/>
          </a:xfrm>
          <a:prstGeom prst="rect">
            <a:avLst/>
          </a:prstGeom>
          <a:solidFill>
            <a:srgbClr val="B27648"/>
          </a:solidFill>
          <a:ln w="0">
            <a:noFill/>
          </a:ln>
        </p:spPr>
      </p:sp>
      <p:sp>
        <p:nvSpPr>
          <p:cNvPr id="16" name="Rectangle 15">
            <a:extLst>
              <a:ext uri="{FF2B5EF4-FFF2-40B4-BE49-F238E27FC236}">
                <a16:creationId xmlns:a16="http://schemas.microsoft.com/office/drawing/2014/main" id="{2C21B351-ED9C-4E5F-A7A4-4261EFC7F2DC}"/>
              </a:ext>
            </a:extLst>
          </p:cNvPr>
          <p:cNvSpPr>
            <a:spLocks noGrp="1"/>
          </p:cNvSpPr>
          <p:nvPr/>
        </p:nvSpPr>
        <p:spPr>
          <a:xfrm>
            <a:off x="5276850" y="2514600"/>
            <a:ext cx="1666875" cy="419100"/>
          </a:xfrm>
          <a:prstGeom prst="rect">
            <a:avLst/>
          </a:prstGeom>
          <a:noFill/>
          <a:ln w="0">
            <a:noFill/>
          </a:ln>
        </p:spPr>
        <p:txBody>
          <a:bodyPr>
            <a:noAutofit/>
          </a:bodyPr>
          <a:lstStyle/>
          <a:p>
            <a:pPr>
              <a:defRPr sz="1875" b="1">
                <a:solidFill>
                  <a:srgbClr val="B27648"/>
                </a:solidFill>
                <a:latin typeface="Aptos"/>
                <a:ea typeface="Aptos"/>
                <a:cs typeface="Aptos"/>
              </a:defRPr>
            </a:pPr>
            <a:r>
              <a:rPr sz="1875" b="1">
                <a:solidFill>
                  <a:srgbClr val="B27648"/>
                </a:solidFill>
                <a:latin typeface="Aptos"/>
                <a:ea typeface="Aptos"/>
                <a:cs typeface="Aptos"/>
              </a:rPr>
              <a:t>Bronze</a:t>
            </a:r>
          </a:p>
        </p:txBody>
      </p:sp>
      <p:sp>
        <p:nvSpPr>
          <p:cNvPr id="17" name="Rectangle 16">
            <a:extLst>
              <a:ext uri="{FF2B5EF4-FFF2-40B4-BE49-F238E27FC236}">
                <a16:creationId xmlns:a16="http://schemas.microsoft.com/office/drawing/2014/main" id="{11556548-802E-4353-B979-89E6B091481E}"/>
              </a:ext>
            </a:extLst>
          </p:cNvPr>
          <p:cNvSpPr>
            <a:spLocks noGrp="1"/>
          </p:cNvSpPr>
          <p:nvPr/>
        </p:nvSpPr>
        <p:spPr>
          <a:xfrm>
            <a:off x="5276850" y="2943225"/>
            <a:ext cx="1666875" cy="571500"/>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Raw Delta</a:t>
            </a:r>
          </a:p>
        </p:txBody>
      </p:sp>
      <p:sp>
        <p:nvSpPr>
          <p:cNvPr id="18" name="Arrow: Right 17">
            <a:extLst>
              <a:ext uri="{FF2B5EF4-FFF2-40B4-BE49-F238E27FC236}">
                <a16:creationId xmlns:a16="http://schemas.microsoft.com/office/drawing/2014/main" id="{39CDD968-F660-4FAC-AC93-5C4F7C01A8FF}"/>
              </a:ext>
            </a:extLst>
          </p:cNvPr>
          <p:cNvSpPr>
            <a:spLocks noGrp="1"/>
          </p:cNvSpPr>
          <p:nvPr/>
        </p:nvSpPr>
        <p:spPr>
          <a:xfrm>
            <a:off x="7105650" y="2886075"/>
            <a:ext cx="228600" cy="190500"/>
          </a:xfrm>
          <a:prstGeom prst="rightArrow">
            <a:avLst/>
          </a:prstGeom>
          <a:solidFill>
            <a:srgbClr val="087F8C"/>
          </a:solidFill>
          <a:ln w="0">
            <a:noFill/>
          </a:ln>
        </p:spPr>
      </p:sp>
      <p:sp>
        <p:nvSpPr>
          <p:cNvPr id="19" name="Rectangle 18">
            <a:extLst>
              <a:ext uri="{FF2B5EF4-FFF2-40B4-BE49-F238E27FC236}">
                <a16:creationId xmlns:a16="http://schemas.microsoft.com/office/drawing/2014/main" id="{79D8BD6E-D2A2-4DB0-903B-59FE87E4B90E}"/>
              </a:ext>
            </a:extLst>
          </p:cNvPr>
          <p:cNvSpPr>
            <a:spLocks noGrp="1"/>
          </p:cNvSpPr>
          <p:nvPr/>
        </p:nvSpPr>
        <p:spPr>
          <a:xfrm>
            <a:off x="7353300" y="2381250"/>
            <a:ext cx="1971675" cy="1190625"/>
          </a:xfrm>
          <a:prstGeom prst="rect">
            <a:avLst/>
          </a:prstGeom>
          <a:solidFill>
            <a:srgbClr val="EDF3F6"/>
          </a:solidFill>
          <a:ln w="0">
            <a:noFill/>
          </a:ln>
        </p:spPr>
      </p:sp>
      <p:sp>
        <p:nvSpPr>
          <p:cNvPr id="20" name="Rectangle 19">
            <a:extLst>
              <a:ext uri="{FF2B5EF4-FFF2-40B4-BE49-F238E27FC236}">
                <a16:creationId xmlns:a16="http://schemas.microsoft.com/office/drawing/2014/main" id="{9A80FB5B-5165-447D-AF37-6D89D1CC7525}"/>
              </a:ext>
            </a:extLst>
          </p:cNvPr>
          <p:cNvSpPr>
            <a:spLocks noGrp="1"/>
          </p:cNvSpPr>
          <p:nvPr/>
        </p:nvSpPr>
        <p:spPr>
          <a:xfrm>
            <a:off x="7353300" y="2381250"/>
            <a:ext cx="47625" cy="1190625"/>
          </a:xfrm>
          <a:prstGeom prst="rect">
            <a:avLst/>
          </a:prstGeom>
          <a:solidFill>
            <a:srgbClr val="7D94A5"/>
          </a:solidFill>
          <a:ln w="0">
            <a:noFill/>
          </a:ln>
        </p:spPr>
      </p:sp>
      <p:sp>
        <p:nvSpPr>
          <p:cNvPr id="21" name="Rectangle 20">
            <a:extLst>
              <a:ext uri="{FF2B5EF4-FFF2-40B4-BE49-F238E27FC236}">
                <a16:creationId xmlns:a16="http://schemas.microsoft.com/office/drawing/2014/main" id="{2BA00F0A-6744-4154-91FA-1CA4B0CB880F}"/>
              </a:ext>
            </a:extLst>
          </p:cNvPr>
          <p:cNvSpPr>
            <a:spLocks noGrp="1"/>
          </p:cNvSpPr>
          <p:nvPr/>
        </p:nvSpPr>
        <p:spPr>
          <a:xfrm>
            <a:off x="7524750" y="2514600"/>
            <a:ext cx="1666875" cy="419100"/>
          </a:xfrm>
          <a:prstGeom prst="rect">
            <a:avLst/>
          </a:prstGeom>
          <a:noFill/>
          <a:ln w="0">
            <a:noFill/>
          </a:ln>
        </p:spPr>
        <p:txBody>
          <a:bodyPr>
            <a:noAutofit/>
          </a:bodyPr>
          <a:lstStyle/>
          <a:p>
            <a:pPr>
              <a:defRPr sz="1875" b="1">
                <a:solidFill>
                  <a:srgbClr val="7D94A5"/>
                </a:solidFill>
                <a:latin typeface="Aptos"/>
                <a:ea typeface="Aptos"/>
                <a:cs typeface="Aptos"/>
              </a:defRPr>
            </a:pPr>
            <a:r>
              <a:rPr sz="1875" b="1">
                <a:solidFill>
                  <a:srgbClr val="7D94A5"/>
                </a:solidFill>
                <a:latin typeface="Aptos"/>
                <a:ea typeface="Aptos"/>
                <a:cs typeface="Aptos"/>
              </a:rPr>
              <a:t>Silver</a:t>
            </a:r>
          </a:p>
        </p:txBody>
      </p:sp>
      <p:sp>
        <p:nvSpPr>
          <p:cNvPr id="22" name="Rectangle 21">
            <a:extLst>
              <a:ext uri="{FF2B5EF4-FFF2-40B4-BE49-F238E27FC236}">
                <a16:creationId xmlns:a16="http://schemas.microsoft.com/office/drawing/2014/main" id="{B3FC96D1-8C20-4408-ADCB-356403B75CE3}"/>
              </a:ext>
            </a:extLst>
          </p:cNvPr>
          <p:cNvSpPr>
            <a:spLocks noGrp="1"/>
          </p:cNvSpPr>
          <p:nvPr/>
        </p:nvSpPr>
        <p:spPr>
          <a:xfrm>
            <a:off x="7524750" y="2943225"/>
            <a:ext cx="1666875" cy="571500"/>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Clean and validate</a:t>
            </a:r>
          </a:p>
        </p:txBody>
      </p:sp>
      <p:sp>
        <p:nvSpPr>
          <p:cNvPr id="23" name="Arrow: Right 22">
            <a:extLst>
              <a:ext uri="{FF2B5EF4-FFF2-40B4-BE49-F238E27FC236}">
                <a16:creationId xmlns:a16="http://schemas.microsoft.com/office/drawing/2014/main" id="{E9DD4A65-0AD6-426C-8094-547A8FACB5AE}"/>
              </a:ext>
            </a:extLst>
          </p:cNvPr>
          <p:cNvSpPr>
            <a:spLocks noGrp="1"/>
          </p:cNvSpPr>
          <p:nvPr/>
        </p:nvSpPr>
        <p:spPr>
          <a:xfrm>
            <a:off x="9353550" y="2886075"/>
            <a:ext cx="228600" cy="190500"/>
          </a:xfrm>
          <a:prstGeom prst="rightArrow">
            <a:avLst/>
          </a:prstGeom>
          <a:solidFill>
            <a:srgbClr val="087F8C"/>
          </a:solidFill>
          <a:ln w="0">
            <a:noFill/>
          </a:ln>
        </p:spPr>
      </p:sp>
      <p:sp>
        <p:nvSpPr>
          <p:cNvPr id="24" name="Rectangle 23">
            <a:extLst>
              <a:ext uri="{FF2B5EF4-FFF2-40B4-BE49-F238E27FC236}">
                <a16:creationId xmlns:a16="http://schemas.microsoft.com/office/drawing/2014/main" id="{EC799A69-AF52-49A9-BC11-FF44E70C4CEF}"/>
              </a:ext>
            </a:extLst>
          </p:cNvPr>
          <p:cNvSpPr>
            <a:spLocks noGrp="1"/>
          </p:cNvSpPr>
          <p:nvPr/>
        </p:nvSpPr>
        <p:spPr>
          <a:xfrm>
            <a:off x="9601200" y="2381250"/>
            <a:ext cx="1971675" cy="1190625"/>
          </a:xfrm>
          <a:prstGeom prst="rect">
            <a:avLst/>
          </a:prstGeom>
          <a:solidFill>
            <a:srgbClr val="EDF3F6"/>
          </a:solidFill>
          <a:ln w="0">
            <a:noFill/>
          </a:ln>
        </p:spPr>
      </p:sp>
      <p:sp>
        <p:nvSpPr>
          <p:cNvPr id="25" name="Rectangle 24">
            <a:extLst>
              <a:ext uri="{FF2B5EF4-FFF2-40B4-BE49-F238E27FC236}">
                <a16:creationId xmlns:a16="http://schemas.microsoft.com/office/drawing/2014/main" id="{1A051B6E-C44E-40FE-A48E-D2BC1E088EAC}"/>
              </a:ext>
            </a:extLst>
          </p:cNvPr>
          <p:cNvSpPr>
            <a:spLocks noGrp="1"/>
          </p:cNvSpPr>
          <p:nvPr/>
        </p:nvSpPr>
        <p:spPr>
          <a:xfrm>
            <a:off x="9601200" y="2381250"/>
            <a:ext cx="47625" cy="1190625"/>
          </a:xfrm>
          <a:prstGeom prst="rect">
            <a:avLst/>
          </a:prstGeom>
          <a:solidFill>
            <a:srgbClr val="C39035"/>
          </a:solidFill>
          <a:ln w="0">
            <a:noFill/>
          </a:ln>
        </p:spPr>
      </p:sp>
      <p:sp>
        <p:nvSpPr>
          <p:cNvPr id="26" name="Rectangle 25">
            <a:extLst>
              <a:ext uri="{FF2B5EF4-FFF2-40B4-BE49-F238E27FC236}">
                <a16:creationId xmlns:a16="http://schemas.microsoft.com/office/drawing/2014/main" id="{67C5F4F3-C0E2-4536-99EA-61B9E6CAB9FB}"/>
              </a:ext>
            </a:extLst>
          </p:cNvPr>
          <p:cNvSpPr>
            <a:spLocks noGrp="1"/>
          </p:cNvSpPr>
          <p:nvPr/>
        </p:nvSpPr>
        <p:spPr>
          <a:xfrm>
            <a:off x="9772650" y="2514600"/>
            <a:ext cx="1666875" cy="419100"/>
          </a:xfrm>
          <a:prstGeom prst="rect">
            <a:avLst/>
          </a:prstGeom>
          <a:noFill/>
          <a:ln w="0">
            <a:noFill/>
          </a:ln>
        </p:spPr>
        <p:txBody>
          <a:bodyPr>
            <a:noAutofit/>
          </a:bodyPr>
          <a:lstStyle/>
          <a:p>
            <a:pPr>
              <a:defRPr sz="1875" b="1">
                <a:solidFill>
                  <a:srgbClr val="C39035"/>
                </a:solidFill>
                <a:latin typeface="Aptos"/>
                <a:ea typeface="Aptos"/>
                <a:cs typeface="Aptos"/>
              </a:defRPr>
            </a:pPr>
            <a:r>
              <a:rPr sz="1875" b="1">
                <a:solidFill>
                  <a:srgbClr val="C39035"/>
                </a:solidFill>
                <a:latin typeface="Aptos"/>
                <a:ea typeface="Aptos"/>
                <a:cs typeface="Aptos"/>
              </a:rPr>
              <a:t>Gold</a:t>
            </a:r>
          </a:p>
        </p:txBody>
      </p:sp>
      <p:sp>
        <p:nvSpPr>
          <p:cNvPr id="27" name="Rectangle 26">
            <a:extLst>
              <a:ext uri="{FF2B5EF4-FFF2-40B4-BE49-F238E27FC236}">
                <a16:creationId xmlns:a16="http://schemas.microsoft.com/office/drawing/2014/main" id="{4B1D9B1E-079B-4C65-97A0-43E4862B7C15}"/>
              </a:ext>
            </a:extLst>
          </p:cNvPr>
          <p:cNvSpPr>
            <a:spLocks noGrp="1"/>
          </p:cNvSpPr>
          <p:nvPr/>
        </p:nvSpPr>
        <p:spPr>
          <a:xfrm>
            <a:off x="9772650" y="2943225"/>
            <a:ext cx="1666875" cy="571500"/>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Facts / dimensions</a:t>
            </a:r>
          </a:p>
        </p:txBody>
      </p:sp>
      <p:sp>
        <p:nvSpPr>
          <p:cNvPr id="28" name="Rectangle 27">
            <a:extLst>
              <a:ext uri="{FF2B5EF4-FFF2-40B4-BE49-F238E27FC236}">
                <a16:creationId xmlns:a16="http://schemas.microsoft.com/office/drawing/2014/main" id="{10377E5D-67A4-4D66-AFD1-70F77268DCE2}"/>
              </a:ext>
            </a:extLst>
          </p:cNvPr>
          <p:cNvSpPr>
            <a:spLocks noGrp="1"/>
          </p:cNvSpPr>
          <p:nvPr/>
        </p:nvSpPr>
        <p:spPr>
          <a:xfrm>
            <a:off x="2857500" y="1847850"/>
            <a:ext cx="8705850" cy="381000"/>
          </a:xfrm>
          <a:prstGeom prst="rect">
            <a:avLst/>
          </a:prstGeom>
          <a:solidFill>
            <a:srgbClr val="10283F"/>
          </a:solidFill>
          <a:ln w="0">
            <a:noFill/>
          </a:ln>
        </p:spPr>
      </p:sp>
      <p:sp>
        <p:nvSpPr>
          <p:cNvPr id="29" name="Rectangle 28">
            <a:extLst>
              <a:ext uri="{FF2B5EF4-FFF2-40B4-BE49-F238E27FC236}">
                <a16:creationId xmlns:a16="http://schemas.microsoft.com/office/drawing/2014/main" id="{83D40FE1-430D-499D-8685-47C4DCFA5E28}"/>
              </a:ext>
            </a:extLst>
          </p:cNvPr>
          <p:cNvSpPr>
            <a:spLocks noGrp="1"/>
          </p:cNvSpPr>
          <p:nvPr/>
        </p:nvSpPr>
        <p:spPr>
          <a:xfrm>
            <a:off x="3028950" y="1905000"/>
            <a:ext cx="8429625" cy="295275"/>
          </a:xfrm>
          <a:prstGeom prst="rect">
            <a:avLst/>
          </a:prstGeom>
          <a:noFill/>
          <a:ln w="0">
            <a:noFill/>
          </a:ln>
        </p:spPr>
        <p:txBody>
          <a:bodyPr>
            <a:noAutofit/>
          </a:bodyPr>
          <a:lstStyle/>
          <a:p>
            <a:pPr>
              <a:defRPr sz="1500" b="1">
                <a:solidFill>
                  <a:srgbClr val="FFFFFF"/>
                </a:solidFill>
                <a:latin typeface="Aptos"/>
                <a:ea typeface="Aptos"/>
                <a:cs typeface="Aptos"/>
              </a:defRPr>
            </a:pPr>
            <a:r>
              <a:rPr sz="1500" b="1">
                <a:solidFill>
                  <a:srgbClr val="FFFFFF"/>
                </a:solidFill>
                <a:latin typeface="Aptos"/>
                <a:ea typeface="Aptos"/>
                <a:cs typeface="Aptos"/>
              </a:rPr>
              <a:t>Databricks Workflows / Jobs orchestrate ingestion and layer processing</a:t>
            </a:r>
          </a:p>
        </p:txBody>
      </p:sp>
      <p:sp>
        <p:nvSpPr>
          <p:cNvPr id="30" name="Rectangle 29">
            <a:extLst>
              <a:ext uri="{FF2B5EF4-FFF2-40B4-BE49-F238E27FC236}">
                <a16:creationId xmlns:a16="http://schemas.microsoft.com/office/drawing/2014/main" id="{444F0438-5CBA-4BDB-9384-0E23E965967C}"/>
              </a:ext>
            </a:extLst>
          </p:cNvPr>
          <p:cNvSpPr>
            <a:spLocks noGrp="1"/>
          </p:cNvSpPr>
          <p:nvPr/>
        </p:nvSpPr>
        <p:spPr>
          <a:xfrm>
            <a:off x="7543800" y="4200525"/>
            <a:ext cx="2095500" cy="1114425"/>
          </a:xfrm>
          <a:prstGeom prst="rect">
            <a:avLst/>
          </a:prstGeom>
          <a:solidFill>
            <a:srgbClr val="EDF3F6"/>
          </a:solidFill>
          <a:ln w="0">
            <a:noFill/>
          </a:ln>
        </p:spPr>
      </p:sp>
      <p:sp>
        <p:nvSpPr>
          <p:cNvPr id="31" name="Rectangle 30">
            <a:extLst>
              <a:ext uri="{FF2B5EF4-FFF2-40B4-BE49-F238E27FC236}">
                <a16:creationId xmlns:a16="http://schemas.microsoft.com/office/drawing/2014/main" id="{8EAF17FA-36B1-47C0-A93F-BBCA9C5FF580}"/>
              </a:ext>
            </a:extLst>
          </p:cNvPr>
          <p:cNvSpPr>
            <a:spLocks noGrp="1"/>
          </p:cNvSpPr>
          <p:nvPr/>
        </p:nvSpPr>
        <p:spPr>
          <a:xfrm>
            <a:off x="7543800" y="4200525"/>
            <a:ext cx="47625" cy="1114425"/>
          </a:xfrm>
          <a:prstGeom prst="rect">
            <a:avLst/>
          </a:prstGeom>
          <a:solidFill>
            <a:srgbClr val="087F8C"/>
          </a:solidFill>
          <a:ln w="0">
            <a:noFill/>
          </a:ln>
        </p:spPr>
      </p:sp>
      <p:sp>
        <p:nvSpPr>
          <p:cNvPr id="32" name="Rectangle 31">
            <a:extLst>
              <a:ext uri="{FF2B5EF4-FFF2-40B4-BE49-F238E27FC236}">
                <a16:creationId xmlns:a16="http://schemas.microsoft.com/office/drawing/2014/main" id="{8C304898-D1F5-4D0D-95FC-5B5DAFE12326}"/>
              </a:ext>
            </a:extLst>
          </p:cNvPr>
          <p:cNvSpPr>
            <a:spLocks noGrp="1"/>
          </p:cNvSpPr>
          <p:nvPr/>
        </p:nvSpPr>
        <p:spPr>
          <a:xfrm>
            <a:off x="7715250" y="4333875"/>
            <a:ext cx="1790700" cy="4191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SQL Warehouse</a:t>
            </a:r>
          </a:p>
        </p:txBody>
      </p:sp>
      <p:sp>
        <p:nvSpPr>
          <p:cNvPr id="33" name="Rectangle 32">
            <a:extLst>
              <a:ext uri="{FF2B5EF4-FFF2-40B4-BE49-F238E27FC236}">
                <a16:creationId xmlns:a16="http://schemas.microsoft.com/office/drawing/2014/main" id="{470C0137-D4F7-4513-9558-E841A6B84717}"/>
              </a:ext>
            </a:extLst>
          </p:cNvPr>
          <p:cNvSpPr>
            <a:spLocks noGrp="1"/>
          </p:cNvSpPr>
          <p:nvPr/>
        </p:nvSpPr>
        <p:spPr>
          <a:xfrm>
            <a:off x="7715250" y="4762500"/>
            <a:ext cx="1790700" cy="495300"/>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Serve Gold tables</a:t>
            </a:r>
          </a:p>
        </p:txBody>
      </p:sp>
      <p:sp>
        <p:nvSpPr>
          <p:cNvPr id="34" name="Rectangle 33">
            <a:extLst>
              <a:ext uri="{FF2B5EF4-FFF2-40B4-BE49-F238E27FC236}">
                <a16:creationId xmlns:a16="http://schemas.microsoft.com/office/drawing/2014/main" id="{F3857A97-CA91-4948-8294-30F5DA25C75B}"/>
              </a:ext>
            </a:extLst>
          </p:cNvPr>
          <p:cNvSpPr>
            <a:spLocks noGrp="1"/>
          </p:cNvSpPr>
          <p:nvPr/>
        </p:nvSpPr>
        <p:spPr>
          <a:xfrm>
            <a:off x="4095750" y="4200525"/>
            <a:ext cx="2476500" cy="1114425"/>
          </a:xfrm>
          <a:prstGeom prst="rect">
            <a:avLst/>
          </a:prstGeom>
          <a:solidFill>
            <a:srgbClr val="EDF3F6"/>
          </a:solidFill>
          <a:ln w="0">
            <a:noFill/>
          </a:ln>
        </p:spPr>
      </p:sp>
      <p:sp>
        <p:nvSpPr>
          <p:cNvPr id="35" name="Rectangle 34">
            <a:extLst>
              <a:ext uri="{FF2B5EF4-FFF2-40B4-BE49-F238E27FC236}">
                <a16:creationId xmlns:a16="http://schemas.microsoft.com/office/drawing/2014/main" id="{F0BA943C-C946-46E7-99F2-6F381F2B5E7E}"/>
              </a:ext>
            </a:extLst>
          </p:cNvPr>
          <p:cNvSpPr>
            <a:spLocks noGrp="1"/>
          </p:cNvSpPr>
          <p:nvPr/>
        </p:nvSpPr>
        <p:spPr>
          <a:xfrm>
            <a:off x="4095750" y="4200525"/>
            <a:ext cx="47625" cy="1114425"/>
          </a:xfrm>
          <a:prstGeom prst="rect">
            <a:avLst/>
          </a:prstGeom>
          <a:solidFill>
            <a:srgbClr val="087F8C"/>
          </a:solidFill>
          <a:ln w="0">
            <a:noFill/>
          </a:ln>
        </p:spPr>
      </p:sp>
      <p:sp>
        <p:nvSpPr>
          <p:cNvPr id="36" name="Rectangle 35">
            <a:extLst>
              <a:ext uri="{FF2B5EF4-FFF2-40B4-BE49-F238E27FC236}">
                <a16:creationId xmlns:a16="http://schemas.microsoft.com/office/drawing/2014/main" id="{3B3134F1-A9D6-45BE-8863-EAD5F38B1515}"/>
              </a:ext>
            </a:extLst>
          </p:cNvPr>
          <p:cNvSpPr>
            <a:spLocks noGrp="1"/>
          </p:cNvSpPr>
          <p:nvPr/>
        </p:nvSpPr>
        <p:spPr>
          <a:xfrm>
            <a:off x="4267200" y="4333875"/>
            <a:ext cx="2171700" cy="4191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Power BI model</a:t>
            </a:r>
          </a:p>
        </p:txBody>
      </p:sp>
      <p:sp>
        <p:nvSpPr>
          <p:cNvPr id="37" name="Rectangle 36">
            <a:extLst>
              <a:ext uri="{FF2B5EF4-FFF2-40B4-BE49-F238E27FC236}">
                <a16:creationId xmlns:a16="http://schemas.microsoft.com/office/drawing/2014/main" id="{C8D75DDD-BB8F-438C-BAF4-708E4B95BEF9}"/>
              </a:ext>
            </a:extLst>
          </p:cNvPr>
          <p:cNvSpPr>
            <a:spLocks noGrp="1"/>
          </p:cNvSpPr>
          <p:nvPr/>
        </p:nvSpPr>
        <p:spPr>
          <a:xfrm>
            <a:off x="4267200" y="4762500"/>
            <a:ext cx="2171700" cy="495300"/>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Relationships + DAX</a:t>
            </a:r>
          </a:p>
        </p:txBody>
      </p:sp>
      <p:sp>
        <p:nvSpPr>
          <p:cNvPr id="38" name="Rectangle 37">
            <a:extLst>
              <a:ext uri="{FF2B5EF4-FFF2-40B4-BE49-F238E27FC236}">
                <a16:creationId xmlns:a16="http://schemas.microsoft.com/office/drawing/2014/main" id="{A965D479-6229-49E5-81F0-AF9BE641E4E0}"/>
              </a:ext>
            </a:extLst>
          </p:cNvPr>
          <p:cNvSpPr>
            <a:spLocks noGrp="1"/>
          </p:cNvSpPr>
          <p:nvPr/>
        </p:nvSpPr>
        <p:spPr>
          <a:xfrm>
            <a:off x="609600" y="4200525"/>
            <a:ext cx="2524125" cy="1114425"/>
          </a:xfrm>
          <a:prstGeom prst="rect">
            <a:avLst/>
          </a:prstGeom>
          <a:solidFill>
            <a:srgbClr val="EDF3F6"/>
          </a:solidFill>
          <a:ln w="0">
            <a:noFill/>
          </a:ln>
        </p:spPr>
      </p:sp>
      <p:sp>
        <p:nvSpPr>
          <p:cNvPr id="39" name="Rectangle 38">
            <a:extLst>
              <a:ext uri="{FF2B5EF4-FFF2-40B4-BE49-F238E27FC236}">
                <a16:creationId xmlns:a16="http://schemas.microsoft.com/office/drawing/2014/main" id="{8A751D93-170B-4B0E-AB48-8132AC5630B8}"/>
              </a:ext>
            </a:extLst>
          </p:cNvPr>
          <p:cNvSpPr>
            <a:spLocks noGrp="1"/>
          </p:cNvSpPr>
          <p:nvPr/>
        </p:nvSpPr>
        <p:spPr>
          <a:xfrm>
            <a:off x="609600" y="4200525"/>
            <a:ext cx="47625" cy="1114425"/>
          </a:xfrm>
          <a:prstGeom prst="rect">
            <a:avLst/>
          </a:prstGeom>
          <a:solidFill>
            <a:srgbClr val="087F8C"/>
          </a:solidFill>
          <a:ln w="0">
            <a:noFill/>
          </a:ln>
        </p:spPr>
      </p:sp>
      <p:sp>
        <p:nvSpPr>
          <p:cNvPr id="40" name="Rectangle 39">
            <a:extLst>
              <a:ext uri="{FF2B5EF4-FFF2-40B4-BE49-F238E27FC236}">
                <a16:creationId xmlns:a16="http://schemas.microsoft.com/office/drawing/2014/main" id="{6DBA1996-0992-46A5-8007-0279FFAB97C5}"/>
              </a:ext>
            </a:extLst>
          </p:cNvPr>
          <p:cNvSpPr>
            <a:spLocks noGrp="1"/>
          </p:cNvSpPr>
          <p:nvPr/>
        </p:nvSpPr>
        <p:spPr>
          <a:xfrm>
            <a:off x="781050" y="4333875"/>
            <a:ext cx="2219325" cy="4191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Power BI report</a:t>
            </a:r>
          </a:p>
        </p:txBody>
      </p:sp>
      <p:sp>
        <p:nvSpPr>
          <p:cNvPr id="41" name="Rectangle 40">
            <a:extLst>
              <a:ext uri="{FF2B5EF4-FFF2-40B4-BE49-F238E27FC236}">
                <a16:creationId xmlns:a16="http://schemas.microsoft.com/office/drawing/2014/main" id="{72191C6E-2D92-4943-9C5A-D8457D9A4AC6}"/>
              </a:ext>
            </a:extLst>
          </p:cNvPr>
          <p:cNvSpPr>
            <a:spLocks noGrp="1"/>
          </p:cNvSpPr>
          <p:nvPr/>
        </p:nvSpPr>
        <p:spPr>
          <a:xfrm>
            <a:off x="781050" y="4762500"/>
            <a:ext cx="2219325" cy="495300"/>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Member progress</a:t>
            </a:r>
          </a:p>
        </p:txBody>
      </p:sp>
      <p:sp>
        <p:nvSpPr>
          <p:cNvPr id="42" name="Arrow: Down 41">
            <a:extLst>
              <a:ext uri="{FF2B5EF4-FFF2-40B4-BE49-F238E27FC236}">
                <a16:creationId xmlns:a16="http://schemas.microsoft.com/office/drawing/2014/main" id="{52BB4CC0-513D-42C7-935E-4A5D60041A0D}"/>
              </a:ext>
            </a:extLst>
          </p:cNvPr>
          <p:cNvSpPr>
            <a:spLocks noGrp="1"/>
          </p:cNvSpPr>
          <p:nvPr/>
        </p:nvSpPr>
        <p:spPr>
          <a:xfrm>
            <a:off x="10477500" y="3581400"/>
            <a:ext cx="171450" cy="638175"/>
          </a:xfrm>
          <a:prstGeom prst="downArrow">
            <a:avLst/>
          </a:prstGeom>
          <a:solidFill>
            <a:srgbClr val="087F8C"/>
          </a:solidFill>
          <a:ln w="0">
            <a:noFill/>
          </a:ln>
        </p:spPr>
      </p:sp>
      <p:sp>
        <p:nvSpPr>
          <p:cNvPr id="43" name="Arrow: Left 42">
            <a:extLst>
              <a:ext uri="{FF2B5EF4-FFF2-40B4-BE49-F238E27FC236}">
                <a16:creationId xmlns:a16="http://schemas.microsoft.com/office/drawing/2014/main" id="{C8598D78-7A4E-4738-A30F-49146B8E2B8B}"/>
              </a:ext>
            </a:extLst>
          </p:cNvPr>
          <p:cNvSpPr>
            <a:spLocks noGrp="1"/>
          </p:cNvSpPr>
          <p:nvPr/>
        </p:nvSpPr>
        <p:spPr>
          <a:xfrm>
            <a:off x="9658350" y="4591050"/>
            <a:ext cx="666750" cy="190500"/>
          </a:xfrm>
          <a:prstGeom prst="leftArrow">
            <a:avLst/>
          </a:prstGeom>
          <a:solidFill>
            <a:srgbClr val="087F8C"/>
          </a:solidFill>
          <a:ln w="0">
            <a:noFill/>
          </a:ln>
        </p:spPr>
      </p:sp>
      <p:sp>
        <p:nvSpPr>
          <p:cNvPr id="44" name="Arrow: Left 43">
            <a:extLst>
              <a:ext uri="{FF2B5EF4-FFF2-40B4-BE49-F238E27FC236}">
                <a16:creationId xmlns:a16="http://schemas.microsoft.com/office/drawing/2014/main" id="{B41D3D09-F337-40EE-BA70-0363C7FB1C59}"/>
              </a:ext>
            </a:extLst>
          </p:cNvPr>
          <p:cNvSpPr>
            <a:spLocks noGrp="1"/>
          </p:cNvSpPr>
          <p:nvPr/>
        </p:nvSpPr>
        <p:spPr>
          <a:xfrm>
            <a:off x="6686550" y="4591050"/>
            <a:ext cx="742950" cy="190500"/>
          </a:xfrm>
          <a:prstGeom prst="leftArrow">
            <a:avLst/>
          </a:prstGeom>
          <a:solidFill>
            <a:srgbClr val="087F8C"/>
          </a:solidFill>
          <a:ln w="0">
            <a:noFill/>
          </a:ln>
        </p:spPr>
      </p:sp>
      <p:sp>
        <p:nvSpPr>
          <p:cNvPr id="45" name="Arrow: Left 44">
            <a:extLst>
              <a:ext uri="{FF2B5EF4-FFF2-40B4-BE49-F238E27FC236}">
                <a16:creationId xmlns:a16="http://schemas.microsoft.com/office/drawing/2014/main" id="{8B113B02-2935-42B9-8345-2CCBEE2688E7}"/>
              </a:ext>
            </a:extLst>
          </p:cNvPr>
          <p:cNvSpPr>
            <a:spLocks noGrp="1"/>
          </p:cNvSpPr>
          <p:nvPr/>
        </p:nvSpPr>
        <p:spPr>
          <a:xfrm>
            <a:off x="3257550" y="4591050"/>
            <a:ext cx="723900" cy="190500"/>
          </a:xfrm>
          <a:prstGeom prst="leftArrow">
            <a:avLst/>
          </a:prstGeom>
          <a:solidFill>
            <a:srgbClr val="087F8C"/>
          </a:solidFill>
          <a:ln w="0">
            <a:noFill/>
          </a:ln>
        </p:spPr>
      </p:sp>
      <p:sp>
        <p:nvSpPr>
          <p:cNvPr id="46" name="Rectangle 45">
            <a:extLst>
              <a:ext uri="{FF2B5EF4-FFF2-40B4-BE49-F238E27FC236}">
                <a16:creationId xmlns:a16="http://schemas.microsoft.com/office/drawing/2014/main" id="{BEEA20E0-0EE2-44B0-9829-295B83528D70}"/>
              </a:ext>
            </a:extLst>
          </p:cNvPr>
          <p:cNvSpPr>
            <a:spLocks noGrp="1"/>
          </p:cNvSpPr>
          <p:nvPr/>
        </p:nvSpPr>
        <p:spPr>
          <a:xfrm>
            <a:off x="609600" y="5810250"/>
            <a:ext cx="10953750" cy="381000"/>
          </a:xfrm>
          <a:prstGeom prst="rect">
            <a:avLst/>
          </a:prstGeom>
          <a:noFill/>
          <a:ln w="0">
            <a:noFill/>
          </a:ln>
        </p:spPr>
        <p:txBody>
          <a:bodyPr>
            <a:noAutofit/>
          </a:bodyPr>
          <a:lstStyle/>
          <a:p>
            <a:pPr>
              <a:defRPr sz="1725" b="1">
                <a:solidFill>
                  <a:srgbClr val="087F8C"/>
                </a:solidFill>
                <a:latin typeface="Aptos"/>
                <a:ea typeface="Aptos"/>
                <a:cs typeface="Aptos"/>
              </a:defRPr>
            </a:pPr>
            <a:r>
              <a:rPr sz="1725" b="1">
                <a:solidFill>
                  <a:srgbClr val="087F8C"/>
                </a:solidFill>
                <a:latin typeface="Aptos"/>
                <a:ea typeface="Aptos"/>
                <a:cs typeface="Aptos"/>
              </a:rPr>
              <a:t>GitHub + CI/CD support code, model assets, workflow configuration and releases</a:t>
            </a:r>
          </a:p>
        </p:txBody>
      </p:sp>
    </p:spTree>
    <p:extLst>
      <p:ext uri="{BB962C8B-B14F-4D97-AF65-F5344CB8AC3E}">
        <p14:creationId xmlns:p14="http://schemas.microsoft.com/office/powerpoint/2010/main" val="1702230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CEF1D93-D033-49E1-9125-81EA0878B3D9}"/>
              </a:ext>
            </a:extLst>
          </p:cNvPr>
          <p:cNvSpPr>
            <a:spLocks noGrp="1"/>
          </p:cNvSpPr>
          <p:nvPr/>
        </p:nvSpPr>
        <p:spPr>
          <a:xfrm>
            <a:off x="609600" y="457200"/>
            <a:ext cx="10972800" cy="666750"/>
          </a:xfrm>
          <a:prstGeom prst="rect">
            <a:avLst/>
          </a:prstGeom>
          <a:noFill/>
          <a:ln w="0">
            <a:noFill/>
          </a:ln>
        </p:spPr>
        <p:txBody>
          <a:bodyPr>
            <a:noAutofit/>
          </a:bodyPr>
          <a:lstStyle/>
          <a:p>
            <a:pPr>
              <a:defRPr sz="3150" b="1">
                <a:solidFill>
                  <a:srgbClr val="10283F"/>
                </a:solidFill>
                <a:latin typeface="Aptos"/>
                <a:ea typeface="Aptos"/>
                <a:cs typeface="Aptos"/>
              </a:defRPr>
            </a:pPr>
            <a:r>
              <a:rPr sz="3150" b="1">
                <a:solidFill>
                  <a:srgbClr val="10283F"/>
                </a:solidFill>
                <a:latin typeface="Aptos"/>
                <a:ea typeface="Aptos"/>
                <a:cs typeface="Aptos"/>
              </a:rPr>
              <a:t>Data Sources &amp; Ingestion</a:t>
            </a:r>
          </a:p>
        </p:txBody>
      </p:sp>
      <p:sp>
        <p:nvSpPr>
          <p:cNvPr id="2" name="Rectangle 1">
            <a:extLst>
              <a:ext uri="{FF2B5EF4-FFF2-40B4-BE49-F238E27FC236}">
                <a16:creationId xmlns:a16="http://schemas.microsoft.com/office/drawing/2014/main" id="{AFF7A75D-7A43-4F84-90A0-CFD75655BB2E}"/>
              </a:ext>
            </a:extLst>
          </p:cNvPr>
          <p:cNvSpPr>
            <a:spLocks noGrp="1"/>
          </p:cNvSpPr>
          <p:nvPr/>
        </p:nvSpPr>
        <p:spPr>
          <a:xfrm>
            <a:off x="609600" y="1219200"/>
            <a:ext cx="10972800" cy="590550"/>
          </a:xfrm>
          <a:prstGeom prst="rect">
            <a:avLst/>
          </a:prstGeom>
          <a:noFill/>
          <a:ln w="0">
            <a:noFill/>
          </a:ln>
        </p:spPr>
        <p:txBody>
          <a:bodyPr>
            <a:noAutofit/>
          </a:bodyPr>
          <a:lstStyle/>
          <a:p>
            <a:pPr>
              <a:defRPr sz="1725" b="0">
                <a:solidFill>
                  <a:srgbClr val="526778"/>
                </a:solidFill>
                <a:latin typeface="Aptos"/>
                <a:ea typeface="Aptos"/>
                <a:cs typeface="Aptos"/>
              </a:defRPr>
            </a:pPr>
            <a:r>
              <a:rPr sz="1725" b="0">
                <a:solidFill>
                  <a:srgbClr val="526778"/>
                </a:solidFill>
                <a:latin typeface="Aptos"/>
                <a:ea typeface="Aptos"/>
                <a:cs typeface="Aptos"/>
              </a:rPr>
              <a:t>Excel and CSV inputs with stable member IDs and dated records</a:t>
            </a:r>
          </a:p>
        </p:txBody>
      </p:sp>
      <p:sp>
        <p:nvSpPr>
          <p:cNvPr id="3" name="Rectangle 2">
            <a:extLst>
              <a:ext uri="{FF2B5EF4-FFF2-40B4-BE49-F238E27FC236}">
                <a16:creationId xmlns:a16="http://schemas.microsoft.com/office/drawing/2014/main" id="{8FF2A543-E867-4CEB-A207-A476BBC1107C}"/>
              </a:ext>
            </a:extLst>
          </p:cNvPr>
          <p:cNvSpPr>
            <a:spLocks noGrp="1"/>
          </p:cNvSpPr>
          <p:nvPr/>
        </p:nvSpPr>
        <p:spPr>
          <a:xfrm>
            <a:off x="11049000" y="6410325"/>
            <a:ext cx="523875" cy="238125"/>
          </a:xfrm>
          <a:prstGeom prst="rect">
            <a:avLst/>
          </a:prstGeom>
          <a:noFill/>
          <a:ln w="0">
            <a:noFill/>
          </a:ln>
        </p:spPr>
        <p:txBody>
          <a:bodyPr>
            <a:noAutofit/>
          </a:bodyPr>
          <a:lstStyle/>
          <a:p>
            <a:pPr>
              <a:defRPr sz="1125" b="0">
                <a:solidFill>
                  <a:srgbClr val="526778"/>
                </a:solidFill>
                <a:latin typeface="Aptos"/>
                <a:ea typeface="Aptos"/>
                <a:cs typeface="Aptos"/>
              </a:defRPr>
            </a:pPr>
            <a:r>
              <a:rPr sz="1125" b="0">
                <a:solidFill>
                  <a:srgbClr val="526778"/>
                </a:solidFill>
                <a:latin typeface="Aptos"/>
                <a:ea typeface="Aptos"/>
                <a:cs typeface="Aptos"/>
              </a:rPr>
              <a:t>06</a:t>
            </a:r>
          </a:p>
        </p:txBody>
      </p:sp>
      <p:sp>
        <p:nvSpPr>
          <p:cNvPr id="4" name="Rectangle 3">
            <a:extLst>
              <a:ext uri="{FF2B5EF4-FFF2-40B4-BE49-F238E27FC236}">
                <a16:creationId xmlns:a16="http://schemas.microsoft.com/office/drawing/2014/main" id="{8439B266-1687-4A4A-8685-876871BE3AD5}"/>
              </a:ext>
            </a:extLst>
          </p:cNvPr>
          <p:cNvSpPr>
            <a:spLocks noGrp="1"/>
          </p:cNvSpPr>
          <p:nvPr/>
        </p:nvSpPr>
        <p:spPr>
          <a:xfrm>
            <a:off x="609600" y="2286000"/>
            <a:ext cx="33337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Members &amp; measures</a:t>
            </a:r>
          </a:p>
        </p:txBody>
      </p:sp>
      <p:sp>
        <p:nvSpPr>
          <p:cNvPr id="5" name="Rectangle 4">
            <a:extLst>
              <a:ext uri="{FF2B5EF4-FFF2-40B4-BE49-F238E27FC236}">
                <a16:creationId xmlns:a16="http://schemas.microsoft.com/office/drawing/2014/main" id="{CC5299ED-4EFA-430C-9013-AC5E150AD082}"/>
              </a:ext>
            </a:extLst>
          </p:cNvPr>
          <p:cNvSpPr>
            <a:spLocks noGrp="1"/>
          </p:cNvSpPr>
          <p:nvPr/>
        </p:nvSpPr>
        <p:spPr>
          <a:xfrm>
            <a:off x="609600" y="2971800"/>
            <a:ext cx="3333750" cy="2381250"/>
          </a:xfrm>
          <a:prstGeom prst="rect">
            <a:avLst/>
          </a:prstGeom>
          <a:noFill/>
          <a:ln w="0">
            <a:noFill/>
          </a:ln>
        </p:spPr>
        <p:txBody>
          <a:bodyPr>
            <a:noAutofit/>
          </a:bodyPr>
          <a:lstStyle/>
          <a:p>
            <a:pPr>
              <a:defRPr sz="1950" b="0">
                <a:solidFill>
                  <a:srgbClr val="16324A"/>
                </a:solidFill>
                <a:latin typeface="Aptos"/>
                <a:ea typeface="Aptos"/>
                <a:cs typeface="Aptos"/>
              </a:defRPr>
            </a:pPr>
            <a:r>
              <a:rPr sz="1950" b="0">
                <a:solidFill>
                  <a:srgbClr val="16324A"/>
                </a:solidFill>
                <a:latin typeface="Aptos"/>
                <a:ea typeface="Aptos"/>
                <a:cs typeface="Aptos"/>
              </a:rPr>
              <a:t>Member ID and coach assignment</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Measurement date, weight in kg and height in cm</a:t>
            </a:r>
          </a:p>
        </p:txBody>
      </p:sp>
      <p:sp>
        <p:nvSpPr>
          <p:cNvPr id="6" name="Rectangle 5">
            <a:extLst>
              <a:ext uri="{FF2B5EF4-FFF2-40B4-BE49-F238E27FC236}">
                <a16:creationId xmlns:a16="http://schemas.microsoft.com/office/drawing/2014/main" id="{C47AAB1D-3A89-49E9-9DB8-CDA2F13653B5}"/>
              </a:ext>
            </a:extLst>
          </p:cNvPr>
          <p:cNvSpPr>
            <a:spLocks noGrp="1"/>
          </p:cNvSpPr>
          <p:nvPr/>
        </p:nvSpPr>
        <p:spPr>
          <a:xfrm>
            <a:off x="4419600" y="2286000"/>
            <a:ext cx="33337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Sessions &amp; goals</a:t>
            </a:r>
          </a:p>
        </p:txBody>
      </p:sp>
      <p:sp>
        <p:nvSpPr>
          <p:cNvPr id="7" name="Rectangle 6">
            <a:extLst>
              <a:ext uri="{FF2B5EF4-FFF2-40B4-BE49-F238E27FC236}">
                <a16:creationId xmlns:a16="http://schemas.microsoft.com/office/drawing/2014/main" id="{A05C8EBD-07DA-4ABA-99DA-F6498329FE24}"/>
              </a:ext>
            </a:extLst>
          </p:cNvPr>
          <p:cNvSpPr>
            <a:spLocks noGrp="1"/>
          </p:cNvSpPr>
          <p:nvPr/>
        </p:nvSpPr>
        <p:spPr>
          <a:xfrm>
            <a:off x="4419600" y="2971800"/>
            <a:ext cx="3333750" cy="2381250"/>
          </a:xfrm>
          <a:prstGeom prst="rect">
            <a:avLst/>
          </a:prstGeom>
          <a:noFill/>
          <a:ln w="0">
            <a:noFill/>
          </a:ln>
        </p:spPr>
        <p:txBody>
          <a:bodyPr>
            <a:noAutofit/>
          </a:bodyPr>
          <a:lstStyle/>
          <a:p>
            <a:pPr>
              <a:defRPr sz="1950" b="0">
                <a:solidFill>
                  <a:srgbClr val="16324A"/>
                </a:solidFill>
                <a:latin typeface="Aptos"/>
                <a:ea typeface="Aptos"/>
                <a:cs typeface="Aptos"/>
              </a:defRPr>
            </a:pPr>
            <a:r>
              <a:rPr sz="1950" b="0">
                <a:solidFill>
                  <a:srgbClr val="16324A"/>
                </a:solidFill>
                <a:latin typeface="Aptos"/>
                <a:ea typeface="Aptos"/>
                <a:cs typeface="Aptos"/>
              </a:rPr>
              <a:t>Session ID, activity and date</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Planned status, attendance and minutes</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Goal, unit and target date</a:t>
            </a:r>
          </a:p>
        </p:txBody>
      </p:sp>
      <p:sp>
        <p:nvSpPr>
          <p:cNvPr id="8" name="Rectangle 7">
            <a:extLst>
              <a:ext uri="{FF2B5EF4-FFF2-40B4-BE49-F238E27FC236}">
                <a16:creationId xmlns:a16="http://schemas.microsoft.com/office/drawing/2014/main" id="{4B38D11A-95D6-4ABC-B416-3FD7F3930055}"/>
              </a:ext>
            </a:extLst>
          </p:cNvPr>
          <p:cNvSpPr>
            <a:spLocks noGrp="1"/>
          </p:cNvSpPr>
          <p:nvPr/>
        </p:nvSpPr>
        <p:spPr>
          <a:xfrm>
            <a:off x="8229600" y="2286000"/>
            <a:ext cx="33337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Databricks ingestion</a:t>
            </a:r>
          </a:p>
        </p:txBody>
      </p:sp>
      <p:sp>
        <p:nvSpPr>
          <p:cNvPr id="9" name="Rectangle 8">
            <a:extLst>
              <a:ext uri="{FF2B5EF4-FFF2-40B4-BE49-F238E27FC236}">
                <a16:creationId xmlns:a16="http://schemas.microsoft.com/office/drawing/2014/main" id="{9A01C4C0-39D4-4BC2-9164-BEB4AC37293F}"/>
              </a:ext>
            </a:extLst>
          </p:cNvPr>
          <p:cNvSpPr>
            <a:spLocks noGrp="1"/>
          </p:cNvSpPr>
          <p:nvPr/>
        </p:nvSpPr>
        <p:spPr>
          <a:xfrm>
            <a:off x="8229600" y="2971800"/>
            <a:ext cx="3333750" cy="2381250"/>
          </a:xfrm>
          <a:prstGeom prst="rect">
            <a:avLst/>
          </a:prstGeom>
          <a:noFill/>
          <a:ln w="0">
            <a:noFill/>
          </a:ln>
        </p:spPr>
        <p:txBody>
          <a:bodyPr>
            <a:noAutofit/>
          </a:bodyPr>
          <a:lstStyle/>
          <a:p>
            <a:pPr>
              <a:defRPr sz="1950" b="0">
                <a:solidFill>
                  <a:srgbClr val="16324A"/>
                </a:solidFill>
                <a:latin typeface="Aptos"/>
                <a:ea typeface="Aptos"/>
                <a:cs typeface="Aptos"/>
              </a:defRPr>
            </a:pPr>
            <a:r>
              <a:rPr sz="1950" b="0">
                <a:solidFill>
                  <a:srgbClr val="16324A"/>
                </a:solidFill>
                <a:latin typeface="Aptos"/>
                <a:ea typeface="Aptos"/>
                <a:cs typeface="Aptos"/>
              </a:rPr>
              <a:t>PySpark reads CSV. An approved Python reader extracts Excel.</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Bronze captures raw data and file metadata.</a:t>
            </a:r>
          </a:p>
        </p:txBody>
      </p:sp>
    </p:spTree>
    <p:extLst>
      <p:ext uri="{BB962C8B-B14F-4D97-AF65-F5344CB8AC3E}">
        <p14:creationId xmlns:p14="http://schemas.microsoft.com/office/powerpoint/2010/main" val="205581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741AB1D-7ECA-40A2-B0D7-13C67A65929E}"/>
              </a:ext>
            </a:extLst>
          </p:cNvPr>
          <p:cNvSpPr>
            <a:spLocks noGrp="1"/>
          </p:cNvSpPr>
          <p:nvPr/>
        </p:nvSpPr>
        <p:spPr>
          <a:xfrm>
            <a:off x="609600" y="457200"/>
            <a:ext cx="10972800" cy="666750"/>
          </a:xfrm>
          <a:prstGeom prst="rect">
            <a:avLst/>
          </a:prstGeom>
          <a:noFill/>
          <a:ln w="0">
            <a:noFill/>
          </a:ln>
        </p:spPr>
        <p:txBody>
          <a:bodyPr>
            <a:noAutofit/>
          </a:bodyPr>
          <a:lstStyle/>
          <a:p>
            <a:pPr>
              <a:defRPr sz="3150" b="1">
                <a:solidFill>
                  <a:srgbClr val="10283F"/>
                </a:solidFill>
                <a:latin typeface="Aptos"/>
                <a:ea typeface="Aptos"/>
                <a:cs typeface="Aptos"/>
              </a:defRPr>
            </a:pPr>
            <a:r>
              <a:rPr sz="3150" b="1">
                <a:solidFill>
                  <a:srgbClr val="10283F"/>
                </a:solidFill>
                <a:latin typeface="Aptos"/>
                <a:ea typeface="Aptos"/>
                <a:cs typeface="Aptos"/>
              </a:rPr>
              <a:t>Bronze / Silver / Gold</a:t>
            </a:r>
          </a:p>
        </p:txBody>
      </p:sp>
      <p:sp>
        <p:nvSpPr>
          <p:cNvPr id="2" name="Rectangle 1">
            <a:extLst>
              <a:ext uri="{FF2B5EF4-FFF2-40B4-BE49-F238E27FC236}">
                <a16:creationId xmlns:a16="http://schemas.microsoft.com/office/drawing/2014/main" id="{5C441BBB-B3C5-425B-91F9-6DFC90ECD5C8}"/>
              </a:ext>
            </a:extLst>
          </p:cNvPr>
          <p:cNvSpPr>
            <a:spLocks noGrp="1"/>
          </p:cNvSpPr>
          <p:nvPr/>
        </p:nvSpPr>
        <p:spPr>
          <a:xfrm>
            <a:off x="609600" y="1219200"/>
            <a:ext cx="10972800" cy="590550"/>
          </a:xfrm>
          <a:prstGeom prst="rect">
            <a:avLst/>
          </a:prstGeom>
          <a:noFill/>
          <a:ln w="0">
            <a:noFill/>
          </a:ln>
        </p:spPr>
        <p:txBody>
          <a:bodyPr>
            <a:noAutofit/>
          </a:bodyPr>
          <a:lstStyle/>
          <a:p>
            <a:pPr>
              <a:defRPr sz="1725" b="0">
                <a:solidFill>
                  <a:srgbClr val="526778"/>
                </a:solidFill>
                <a:latin typeface="Aptos"/>
                <a:ea typeface="Aptos"/>
                <a:cs typeface="Aptos"/>
              </a:defRPr>
            </a:pPr>
            <a:r>
              <a:rPr sz="1725" b="0">
                <a:solidFill>
                  <a:srgbClr val="526778"/>
                </a:solidFill>
                <a:latin typeface="Aptos"/>
                <a:ea typeface="Aptos"/>
                <a:cs typeface="Aptos"/>
              </a:rPr>
              <a:t>Fitness records become consistent, report-ready tables</a:t>
            </a:r>
          </a:p>
        </p:txBody>
      </p:sp>
      <p:sp>
        <p:nvSpPr>
          <p:cNvPr id="3" name="Rectangle 2">
            <a:extLst>
              <a:ext uri="{FF2B5EF4-FFF2-40B4-BE49-F238E27FC236}">
                <a16:creationId xmlns:a16="http://schemas.microsoft.com/office/drawing/2014/main" id="{0ADF36F5-2E4F-4C36-AE6B-9E8604227CE2}"/>
              </a:ext>
            </a:extLst>
          </p:cNvPr>
          <p:cNvSpPr>
            <a:spLocks noGrp="1"/>
          </p:cNvSpPr>
          <p:nvPr/>
        </p:nvSpPr>
        <p:spPr>
          <a:xfrm>
            <a:off x="11049000" y="6410325"/>
            <a:ext cx="523875" cy="238125"/>
          </a:xfrm>
          <a:prstGeom prst="rect">
            <a:avLst/>
          </a:prstGeom>
          <a:noFill/>
          <a:ln w="0">
            <a:noFill/>
          </a:ln>
        </p:spPr>
        <p:txBody>
          <a:bodyPr>
            <a:noAutofit/>
          </a:bodyPr>
          <a:lstStyle/>
          <a:p>
            <a:pPr>
              <a:defRPr sz="1125" b="0">
                <a:solidFill>
                  <a:srgbClr val="526778"/>
                </a:solidFill>
                <a:latin typeface="Aptos"/>
                <a:ea typeface="Aptos"/>
                <a:cs typeface="Aptos"/>
              </a:defRPr>
            </a:pPr>
            <a:r>
              <a:rPr sz="1125" b="0">
                <a:solidFill>
                  <a:srgbClr val="526778"/>
                </a:solidFill>
                <a:latin typeface="Aptos"/>
                <a:ea typeface="Aptos"/>
                <a:cs typeface="Aptos"/>
              </a:rPr>
              <a:t>07</a:t>
            </a:r>
          </a:p>
        </p:txBody>
      </p:sp>
      <p:sp>
        <p:nvSpPr>
          <p:cNvPr id="4" name="Rectangle 3">
            <a:extLst>
              <a:ext uri="{FF2B5EF4-FFF2-40B4-BE49-F238E27FC236}">
                <a16:creationId xmlns:a16="http://schemas.microsoft.com/office/drawing/2014/main" id="{EFD8E663-05C4-46EC-8906-DF6C65F6E8A0}"/>
              </a:ext>
            </a:extLst>
          </p:cNvPr>
          <p:cNvSpPr>
            <a:spLocks noGrp="1"/>
          </p:cNvSpPr>
          <p:nvPr/>
        </p:nvSpPr>
        <p:spPr>
          <a:xfrm>
            <a:off x="609600" y="2143125"/>
            <a:ext cx="3333750" cy="85725"/>
          </a:xfrm>
          <a:prstGeom prst="rect">
            <a:avLst/>
          </a:prstGeom>
          <a:solidFill>
            <a:srgbClr val="B27648"/>
          </a:solidFill>
          <a:ln w="0">
            <a:noFill/>
          </a:ln>
        </p:spPr>
      </p:sp>
      <p:sp>
        <p:nvSpPr>
          <p:cNvPr id="5" name="Rectangle 4">
            <a:extLst>
              <a:ext uri="{FF2B5EF4-FFF2-40B4-BE49-F238E27FC236}">
                <a16:creationId xmlns:a16="http://schemas.microsoft.com/office/drawing/2014/main" id="{551A8BF2-2967-4A07-BB7A-25304603A995}"/>
              </a:ext>
            </a:extLst>
          </p:cNvPr>
          <p:cNvSpPr>
            <a:spLocks noGrp="1"/>
          </p:cNvSpPr>
          <p:nvPr/>
        </p:nvSpPr>
        <p:spPr>
          <a:xfrm>
            <a:off x="609600" y="2428875"/>
            <a:ext cx="3333750" cy="523875"/>
          </a:xfrm>
          <a:prstGeom prst="rect">
            <a:avLst/>
          </a:prstGeom>
          <a:noFill/>
          <a:ln w="0">
            <a:noFill/>
          </a:ln>
        </p:spPr>
        <p:txBody>
          <a:bodyPr>
            <a:noAutofit/>
          </a:bodyPr>
          <a:lstStyle/>
          <a:p>
            <a:pPr>
              <a:defRPr sz="2625" b="1">
                <a:solidFill>
                  <a:srgbClr val="B27648"/>
                </a:solidFill>
                <a:latin typeface="Aptos"/>
                <a:ea typeface="Aptos"/>
                <a:cs typeface="Aptos"/>
              </a:defRPr>
            </a:pPr>
            <a:r>
              <a:rPr sz="2625" b="1">
                <a:solidFill>
                  <a:srgbClr val="B27648"/>
                </a:solidFill>
                <a:latin typeface="Aptos"/>
                <a:ea typeface="Aptos"/>
                <a:cs typeface="Aptos"/>
              </a:rPr>
              <a:t>Bronze</a:t>
            </a:r>
          </a:p>
        </p:txBody>
      </p:sp>
      <p:sp>
        <p:nvSpPr>
          <p:cNvPr id="6" name="Rectangle 5">
            <a:extLst>
              <a:ext uri="{FF2B5EF4-FFF2-40B4-BE49-F238E27FC236}">
                <a16:creationId xmlns:a16="http://schemas.microsoft.com/office/drawing/2014/main" id="{EE333CED-BE32-4C03-BDD5-710142169C27}"/>
              </a:ext>
            </a:extLst>
          </p:cNvPr>
          <p:cNvSpPr>
            <a:spLocks noGrp="1"/>
          </p:cNvSpPr>
          <p:nvPr/>
        </p:nvSpPr>
        <p:spPr>
          <a:xfrm>
            <a:off x="609600" y="3067050"/>
            <a:ext cx="3333750" cy="619125"/>
          </a:xfrm>
          <a:prstGeom prst="rect">
            <a:avLst/>
          </a:prstGeom>
          <a:noFill/>
          <a:ln w="0">
            <a:noFill/>
          </a:ln>
        </p:spPr>
        <p:txBody>
          <a:bodyPr>
            <a:noAutofit/>
          </a:bodyPr>
          <a:lstStyle/>
          <a:p>
            <a:pPr>
              <a:defRPr sz="1875" b="1">
                <a:solidFill>
                  <a:srgbClr val="10283F"/>
                </a:solidFill>
                <a:latin typeface="Aptos"/>
                <a:ea typeface="Aptos"/>
                <a:cs typeface="Aptos"/>
              </a:defRPr>
            </a:pPr>
            <a:r>
              <a:rPr sz="1875" b="1">
                <a:solidFill>
                  <a:srgbClr val="10283F"/>
                </a:solidFill>
                <a:latin typeface="Aptos"/>
                <a:ea typeface="Aptos"/>
                <a:cs typeface="Aptos"/>
              </a:rPr>
              <a:t>Preserve source history</a:t>
            </a:r>
          </a:p>
        </p:txBody>
      </p:sp>
      <p:sp>
        <p:nvSpPr>
          <p:cNvPr id="7" name="Rectangle 6">
            <a:extLst>
              <a:ext uri="{FF2B5EF4-FFF2-40B4-BE49-F238E27FC236}">
                <a16:creationId xmlns:a16="http://schemas.microsoft.com/office/drawing/2014/main" id="{96F0EF0A-961D-4592-A565-B35359BD9A45}"/>
              </a:ext>
            </a:extLst>
          </p:cNvPr>
          <p:cNvSpPr>
            <a:spLocks noGrp="1"/>
          </p:cNvSpPr>
          <p:nvPr/>
        </p:nvSpPr>
        <p:spPr>
          <a:xfrm>
            <a:off x="609600" y="3886200"/>
            <a:ext cx="3333750" cy="1571625"/>
          </a:xfrm>
          <a:prstGeom prst="rect">
            <a:avLst/>
          </a:prstGeom>
          <a:noFill/>
          <a:ln w="0">
            <a:noFill/>
          </a:ln>
        </p:spPr>
        <p:txBody>
          <a:bodyPr>
            <a:noAutofit/>
          </a:bodyPr>
          <a:lstStyle/>
          <a:p>
            <a:pPr>
              <a:defRPr sz="1800" b="0">
                <a:solidFill>
                  <a:srgbClr val="16324A"/>
                </a:solidFill>
                <a:latin typeface="Aptos"/>
                <a:ea typeface="Aptos"/>
                <a:cs typeface="Aptos"/>
              </a:defRPr>
            </a:pPr>
            <a:r>
              <a:rPr sz="1800" b="0">
                <a:solidFill>
                  <a:srgbClr val="16324A"/>
                </a:solidFill>
                <a:latin typeface="Aptos"/>
                <a:ea typeface="Aptos"/>
                <a:cs typeface="Aptos"/>
              </a:rPr>
              <a:t>Raw fitness records</a:t>
            </a:r>
          </a:p>
          <a:p>
            <a:pPr>
              <a:defRPr sz="1800" b="0">
                <a:solidFill>
                  <a:srgbClr val="16324A"/>
                </a:solidFill>
                <a:latin typeface="Aptos"/>
                <a:ea typeface="Aptos"/>
                <a:cs typeface="Aptos"/>
              </a:defRPr>
            </a:pPr>
            <a:r>
              <a:rPr sz="1800" b="0">
                <a:solidFill>
                  <a:srgbClr val="16324A"/>
                </a:solidFill>
                <a:latin typeface="Aptos"/>
                <a:ea typeface="Aptos"/>
                <a:cs typeface="Aptos"/>
              </a:rPr>
              <a:t>File and batch metadata</a:t>
            </a:r>
          </a:p>
          <a:p>
            <a:pPr>
              <a:defRPr sz="1800" b="0">
                <a:solidFill>
                  <a:srgbClr val="16324A"/>
                </a:solidFill>
                <a:latin typeface="Aptos"/>
                <a:ea typeface="Aptos"/>
                <a:cs typeface="Aptos"/>
              </a:defRPr>
            </a:pPr>
            <a:r>
              <a:rPr sz="1800" b="0">
                <a:solidFill>
                  <a:srgbClr val="16324A"/>
                </a:solidFill>
                <a:latin typeface="Aptos"/>
                <a:ea typeface="Aptos"/>
                <a:cs typeface="Aptos"/>
              </a:rPr>
              <a:t>Original values retained</a:t>
            </a:r>
          </a:p>
        </p:txBody>
      </p:sp>
      <p:sp>
        <p:nvSpPr>
          <p:cNvPr id="8" name="Rectangle 7">
            <a:extLst>
              <a:ext uri="{FF2B5EF4-FFF2-40B4-BE49-F238E27FC236}">
                <a16:creationId xmlns:a16="http://schemas.microsoft.com/office/drawing/2014/main" id="{006233F7-E3CA-4805-9669-C8B5F3AFA264}"/>
              </a:ext>
            </a:extLst>
          </p:cNvPr>
          <p:cNvSpPr>
            <a:spLocks noGrp="1"/>
          </p:cNvSpPr>
          <p:nvPr/>
        </p:nvSpPr>
        <p:spPr>
          <a:xfrm>
            <a:off x="4419600" y="2143125"/>
            <a:ext cx="3333750" cy="85725"/>
          </a:xfrm>
          <a:prstGeom prst="rect">
            <a:avLst/>
          </a:prstGeom>
          <a:solidFill>
            <a:srgbClr val="7D94A5"/>
          </a:solidFill>
          <a:ln w="0">
            <a:noFill/>
          </a:ln>
        </p:spPr>
      </p:sp>
      <p:sp>
        <p:nvSpPr>
          <p:cNvPr id="9" name="Rectangle 8">
            <a:extLst>
              <a:ext uri="{FF2B5EF4-FFF2-40B4-BE49-F238E27FC236}">
                <a16:creationId xmlns:a16="http://schemas.microsoft.com/office/drawing/2014/main" id="{4AC7C946-D7E1-4D61-BDB1-BE3979F5728E}"/>
              </a:ext>
            </a:extLst>
          </p:cNvPr>
          <p:cNvSpPr>
            <a:spLocks noGrp="1"/>
          </p:cNvSpPr>
          <p:nvPr/>
        </p:nvSpPr>
        <p:spPr>
          <a:xfrm>
            <a:off x="4419600" y="2428875"/>
            <a:ext cx="3333750" cy="523875"/>
          </a:xfrm>
          <a:prstGeom prst="rect">
            <a:avLst/>
          </a:prstGeom>
          <a:noFill/>
          <a:ln w="0">
            <a:noFill/>
          </a:ln>
        </p:spPr>
        <p:txBody>
          <a:bodyPr>
            <a:noAutofit/>
          </a:bodyPr>
          <a:lstStyle/>
          <a:p>
            <a:pPr>
              <a:defRPr sz="2625" b="1">
                <a:solidFill>
                  <a:srgbClr val="7D94A5"/>
                </a:solidFill>
                <a:latin typeface="Aptos"/>
                <a:ea typeface="Aptos"/>
                <a:cs typeface="Aptos"/>
              </a:defRPr>
            </a:pPr>
            <a:r>
              <a:rPr sz="2625" b="1">
                <a:solidFill>
                  <a:srgbClr val="7D94A5"/>
                </a:solidFill>
                <a:latin typeface="Aptos"/>
                <a:ea typeface="Aptos"/>
                <a:cs typeface="Aptos"/>
              </a:rPr>
              <a:t>Silver</a:t>
            </a:r>
          </a:p>
        </p:txBody>
      </p:sp>
      <p:sp>
        <p:nvSpPr>
          <p:cNvPr id="10" name="Rectangle 9">
            <a:extLst>
              <a:ext uri="{FF2B5EF4-FFF2-40B4-BE49-F238E27FC236}">
                <a16:creationId xmlns:a16="http://schemas.microsoft.com/office/drawing/2014/main" id="{B310F53A-1B60-4760-9CF0-5EF29F7BDBB9}"/>
              </a:ext>
            </a:extLst>
          </p:cNvPr>
          <p:cNvSpPr>
            <a:spLocks noGrp="1"/>
          </p:cNvSpPr>
          <p:nvPr/>
        </p:nvSpPr>
        <p:spPr>
          <a:xfrm>
            <a:off x="4419600" y="3067050"/>
            <a:ext cx="3333750" cy="619125"/>
          </a:xfrm>
          <a:prstGeom prst="rect">
            <a:avLst/>
          </a:prstGeom>
          <a:noFill/>
          <a:ln w="0">
            <a:noFill/>
          </a:ln>
        </p:spPr>
        <p:txBody>
          <a:bodyPr>
            <a:noAutofit/>
          </a:bodyPr>
          <a:lstStyle/>
          <a:p>
            <a:pPr>
              <a:defRPr sz="1875" b="1">
                <a:solidFill>
                  <a:srgbClr val="10283F"/>
                </a:solidFill>
                <a:latin typeface="Aptos"/>
                <a:ea typeface="Aptos"/>
                <a:cs typeface="Aptos"/>
              </a:defRPr>
            </a:pPr>
            <a:r>
              <a:rPr sz="1875" b="1">
                <a:solidFill>
                  <a:srgbClr val="10283F"/>
                </a:solidFill>
                <a:latin typeface="Aptos"/>
                <a:ea typeface="Aptos"/>
                <a:cs typeface="Aptos"/>
              </a:rPr>
              <a:t>Resolve data quality</a:t>
            </a:r>
          </a:p>
        </p:txBody>
      </p:sp>
      <p:sp>
        <p:nvSpPr>
          <p:cNvPr id="11" name="Rectangle 10">
            <a:extLst>
              <a:ext uri="{FF2B5EF4-FFF2-40B4-BE49-F238E27FC236}">
                <a16:creationId xmlns:a16="http://schemas.microsoft.com/office/drawing/2014/main" id="{EDFB12D2-F3E5-4550-8716-6E56AA284392}"/>
              </a:ext>
            </a:extLst>
          </p:cNvPr>
          <p:cNvSpPr>
            <a:spLocks noGrp="1"/>
          </p:cNvSpPr>
          <p:nvPr/>
        </p:nvSpPr>
        <p:spPr>
          <a:xfrm>
            <a:off x="4419600" y="3886200"/>
            <a:ext cx="3333750" cy="1571625"/>
          </a:xfrm>
          <a:prstGeom prst="rect">
            <a:avLst/>
          </a:prstGeom>
          <a:noFill/>
          <a:ln w="0">
            <a:noFill/>
          </a:ln>
        </p:spPr>
        <p:txBody>
          <a:bodyPr>
            <a:noAutofit/>
          </a:bodyPr>
          <a:lstStyle/>
          <a:p>
            <a:pPr>
              <a:defRPr sz="1800" b="0">
                <a:solidFill>
                  <a:srgbClr val="16324A"/>
                </a:solidFill>
                <a:latin typeface="Aptos"/>
                <a:ea typeface="Aptos"/>
                <a:cs typeface="Aptos"/>
              </a:defRPr>
            </a:pPr>
            <a:r>
              <a:rPr sz="1800" b="0">
                <a:solidFill>
                  <a:srgbClr val="16324A"/>
                </a:solidFill>
                <a:latin typeface="Aptos"/>
                <a:ea typeface="Aptos"/>
                <a:cs typeface="Aptos"/>
              </a:rPr>
              <a:t>Normalize kg and cm</a:t>
            </a:r>
          </a:p>
          <a:p>
            <a:pPr>
              <a:defRPr sz="1800" b="0">
                <a:solidFill>
                  <a:srgbClr val="16324A"/>
                </a:solidFill>
                <a:latin typeface="Aptos"/>
                <a:ea typeface="Aptos"/>
                <a:cs typeface="Aptos"/>
              </a:defRPr>
            </a:pPr>
            <a:r>
              <a:rPr sz="1800" b="0">
                <a:solidFill>
                  <a:srgbClr val="16324A"/>
                </a:solidFill>
                <a:latin typeface="Aptos"/>
                <a:ea typeface="Aptos"/>
                <a:cs typeface="Aptos"/>
              </a:rPr>
              <a:t>Deduplicate record IDs</a:t>
            </a:r>
          </a:p>
          <a:p>
            <a:pPr>
              <a:defRPr sz="1800" b="0">
                <a:solidFill>
                  <a:srgbClr val="16324A"/>
                </a:solidFill>
                <a:latin typeface="Aptos"/>
                <a:ea typeface="Aptos"/>
                <a:cs typeface="Aptos"/>
              </a:defRPr>
            </a:pPr>
            <a:r>
              <a:rPr sz="1800" b="0">
                <a:solidFill>
                  <a:srgbClr val="16324A"/>
                </a:solidFill>
                <a:latin typeface="Aptos"/>
                <a:ea typeface="Aptos"/>
                <a:cs typeface="Aptos"/>
              </a:rPr>
              <a:t>Validate dates and members</a:t>
            </a:r>
          </a:p>
        </p:txBody>
      </p:sp>
      <p:sp>
        <p:nvSpPr>
          <p:cNvPr id="12" name="Rectangle 11">
            <a:extLst>
              <a:ext uri="{FF2B5EF4-FFF2-40B4-BE49-F238E27FC236}">
                <a16:creationId xmlns:a16="http://schemas.microsoft.com/office/drawing/2014/main" id="{D0BF7A13-4CDD-4EB9-9A83-90C1EFFBDD14}"/>
              </a:ext>
            </a:extLst>
          </p:cNvPr>
          <p:cNvSpPr>
            <a:spLocks noGrp="1"/>
          </p:cNvSpPr>
          <p:nvPr/>
        </p:nvSpPr>
        <p:spPr>
          <a:xfrm>
            <a:off x="8229600" y="2143125"/>
            <a:ext cx="3333750" cy="85725"/>
          </a:xfrm>
          <a:prstGeom prst="rect">
            <a:avLst/>
          </a:prstGeom>
          <a:solidFill>
            <a:srgbClr val="C39035"/>
          </a:solidFill>
          <a:ln w="0">
            <a:noFill/>
          </a:ln>
        </p:spPr>
      </p:sp>
      <p:sp>
        <p:nvSpPr>
          <p:cNvPr id="13" name="Rectangle 12">
            <a:extLst>
              <a:ext uri="{FF2B5EF4-FFF2-40B4-BE49-F238E27FC236}">
                <a16:creationId xmlns:a16="http://schemas.microsoft.com/office/drawing/2014/main" id="{C8A4CAC9-3A01-42B1-B3AE-D56201A9C86D}"/>
              </a:ext>
            </a:extLst>
          </p:cNvPr>
          <p:cNvSpPr>
            <a:spLocks noGrp="1"/>
          </p:cNvSpPr>
          <p:nvPr/>
        </p:nvSpPr>
        <p:spPr>
          <a:xfrm>
            <a:off x="8229600" y="2428875"/>
            <a:ext cx="3333750" cy="523875"/>
          </a:xfrm>
          <a:prstGeom prst="rect">
            <a:avLst/>
          </a:prstGeom>
          <a:noFill/>
          <a:ln w="0">
            <a:noFill/>
          </a:ln>
        </p:spPr>
        <p:txBody>
          <a:bodyPr>
            <a:noAutofit/>
          </a:bodyPr>
          <a:lstStyle/>
          <a:p>
            <a:pPr>
              <a:defRPr sz="2625" b="1">
                <a:solidFill>
                  <a:srgbClr val="C39035"/>
                </a:solidFill>
                <a:latin typeface="Aptos"/>
                <a:ea typeface="Aptos"/>
                <a:cs typeface="Aptos"/>
              </a:defRPr>
            </a:pPr>
            <a:r>
              <a:rPr sz="2625" b="1">
                <a:solidFill>
                  <a:srgbClr val="C39035"/>
                </a:solidFill>
                <a:latin typeface="Aptos"/>
                <a:ea typeface="Aptos"/>
                <a:cs typeface="Aptos"/>
              </a:rPr>
              <a:t>Gold</a:t>
            </a:r>
          </a:p>
        </p:txBody>
      </p:sp>
      <p:sp>
        <p:nvSpPr>
          <p:cNvPr id="14" name="Rectangle 13">
            <a:extLst>
              <a:ext uri="{FF2B5EF4-FFF2-40B4-BE49-F238E27FC236}">
                <a16:creationId xmlns:a16="http://schemas.microsoft.com/office/drawing/2014/main" id="{45C0A323-431A-478C-92A4-B07F5CA2901D}"/>
              </a:ext>
            </a:extLst>
          </p:cNvPr>
          <p:cNvSpPr>
            <a:spLocks noGrp="1"/>
          </p:cNvSpPr>
          <p:nvPr/>
        </p:nvSpPr>
        <p:spPr>
          <a:xfrm>
            <a:off x="8229600" y="3067050"/>
            <a:ext cx="3333750" cy="619125"/>
          </a:xfrm>
          <a:prstGeom prst="rect">
            <a:avLst/>
          </a:prstGeom>
          <a:noFill/>
          <a:ln w="0">
            <a:noFill/>
          </a:ln>
        </p:spPr>
        <p:txBody>
          <a:bodyPr>
            <a:noAutofit/>
          </a:bodyPr>
          <a:lstStyle/>
          <a:p>
            <a:pPr>
              <a:defRPr sz="1875" b="1">
                <a:solidFill>
                  <a:srgbClr val="10283F"/>
                </a:solidFill>
                <a:latin typeface="Aptos"/>
                <a:ea typeface="Aptos"/>
                <a:cs typeface="Aptos"/>
              </a:defRPr>
            </a:pPr>
            <a:r>
              <a:rPr sz="1875" b="1">
                <a:solidFill>
                  <a:srgbClr val="10283F"/>
                </a:solidFill>
                <a:latin typeface="Aptos"/>
                <a:ea typeface="Aptos"/>
                <a:cs typeface="Aptos"/>
              </a:rPr>
              <a:t>Support member reviews</a:t>
            </a:r>
          </a:p>
        </p:txBody>
      </p:sp>
      <p:sp>
        <p:nvSpPr>
          <p:cNvPr id="15" name="Rectangle 14">
            <a:extLst>
              <a:ext uri="{FF2B5EF4-FFF2-40B4-BE49-F238E27FC236}">
                <a16:creationId xmlns:a16="http://schemas.microsoft.com/office/drawing/2014/main" id="{2BBA5DEB-96AC-4CF3-BE20-950C4D466D2A}"/>
              </a:ext>
            </a:extLst>
          </p:cNvPr>
          <p:cNvSpPr>
            <a:spLocks noGrp="1"/>
          </p:cNvSpPr>
          <p:nvPr/>
        </p:nvSpPr>
        <p:spPr>
          <a:xfrm>
            <a:off x="8229600" y="3886200"/>
            <a:ext cx="3333750" cy="1571625"/>
          </a:xfrm>
          <a:prstGeom prst="rect">
            <a:avLst/>
          </a:prstGeom>
          <a:noFill/>
          <a:ln w="0">
            <a:noFill/>
          </a:ln>
        </p:spPr>
        <p:txBody>
          <a:bodyPr>
            <a:noAutofit/>
          </a:bodyPr>
          <a:lstStyle/>
          <a:p>
            <a:pPr>
              <a:defRPr sz="1800" b="0">
                <a:solidFill>
                  <a:srgbClr val="16324A"/>
                </a:solidFill>
                <a:latin typeface="Aptos"/>
                <a:ea typeface="Aptos"/>
                <a:cs typeface="Aptos"/>
              </a:defRPr>
            </a:pPr>
            <a:r>
              <a:rPr sz="1800" b="0">
                <a:solidFill>
                  <a:srgbClr val="16324A"/>
                </a:solidFill>
                <a:latin typeface="Aptos"/>
                <a:ea typeface="Aptos"/>
                <a:cs typeface="Aptos"/>
              </a:rPr>
              <a:t>Measurements and sessions</a:t>
            </a:r>
          </a:p>
          <a:p>
            <a:pPr>
              <a:defRPr sz="1800" b="0">
                <a:solidFill>
                  <a:srgbClr val="16324A"/>
                </a:solidFill>
                <a:latin typeface="Aptos"/>
                <a:ea typeface="Aptos"/>
                <a:cs typeface="Aptos"/>
              </a:defRPr>
            </a:pPr>
            <a:r>
              <a:rPr sz="1800" b="0">
                <a:solidFill>
                  <a:srgbClr val="16324A"/>
                </a:solidFill>
                <a:latin typeface="Aptos"/>
                <a:ea typeface="Aptos"/>
                <a:cs typeface="Aptos"/>
              </a:rPr>
              <a:t>Member and date dimensions</a:t>
            </a:r>
          </a:p>
          <a:p>
            <a:pPr>
              <a:defRPr sz="1800" b="0">
                <a:solidFill>
                  <a:srgbClr val="16324A"/>
                </a:solidFill>
                <a:latin typeface="Aptos"/>
                <a:ea typeface="Aptos"/>
                <a:cs typeface="Aptos"/>
              </a:defRPr>
            </a:pPr>
            <a:r>
              <a:rPr sz="1800" b="0">
                <a:solidFill>
                  <a:srgbClr val="16324A"/>
                </a:solidFill>
                <a:latin typeface="Aptos"/>
                <a:ea typeface="Aptos"/>
                <a:cs typeface="Aptos"/>
              </a:rPr>
              <a:t>Attendance and goal metrics</a:t>
            </a:r>
          </a:p>
        </p:txBody>
      </p:sp>
    </p:spTree>
    <p:extLst>
      <p:ext uri="{BB962C8B-B14F-4D97-AF65-F5344CB8AC3E}">
        <p14:creationId xmlns:p14="http://schemas.microsoft.com/office/powerpoint/2010/main" val="355266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4939649D-B0EF-49C4-A77D-70204F380C90}"/>
              </a:ext>
            </a:extLst>
          </p:cNvPr>
          <p:cNvSpPr>
            <a:spLocks noGrp="1"/>
          </p:cNvSpPr>
          <p:nvPr/>
        </p:nvSpPr>
        <p:spPr>
          <a:xfrm>
            <a:off x="609600" y="457200"/>
            <a:ext cx="10972800" cy="666750"/>
          </a:xfrm>
          <a:prstGeom prst="rect">
            <a:avLst/>
          </a:prstGeom>
          <a:noFill/>
          <a:ln w="0">
            <a:noFill/>
          </a:ln>
        </p:spPr>
        <p:txBody>
          <a:bodyPr>
            <a:noAutofit/>
          </a:bodyPr>
          <a:lstStyle/>
          <a:p>
            <a:pPr>
              <a:defRPr sz="3150" b="1">
                <a:solidFill>
                  <a:srgbClr val="10283F"/>
                </a:solidFill>
                <a:latin typeface="Aptos"/>
                <a:ea typeface="Aptos"/>
                <a:cs typeface="Aptos"/>
              </a:defRPr>
            </a:pPr>
            <a:r>
              <a:rPr sz="3150" b="1">
                <a:solidFill>
                  <a:srgbClr val="10283F"/>
                </a:solidFill>
                <a:latin typeface="Aptos"/>
                <a:ea typeface="Aptos"/>
                <a:cs typeface="Aptos"/>
              </a:rPr>
              <a:t>Databricks Jobs &amp; Orchestration</a:t>
            </a:r>
          </a:p>
        </p:txBody>
      </p:sp>
      <p:sp>
        <p:nvSpPr>
          <p:cNvPr id="2" name="Rectangle 1">
            <a:extLst>
              <a:ext uri="{FF2B5EF4-FFF2-40B4-BE49-F238E27FC236}">
                <a16:creationId xmlns:a16="http://schemas.microsoft.com/office/drawing/2014/main" id="{46FD5CD8-9459-4B46-8751-946AF0245221}"/>
              </a:ext>
            </a:extLst>
          </p:cNvPr>
          <p:cNvSpPr>
            <a:spLocks noGrp="1"/>
          </p:cNvSpPr>
          <p:nvPr/>
        </p:nvSpPr>
        <p:spPr>
          <a:xfrm>
            <a:off x="609600" y="1219200"/>
            <a:ext cx="10972800" cy="590550"/>
          </a:xfrm>
          <a:prstGeom prst="rect">
            <a:avLst/>
          </a:prstGeom>
          <a:noFill/>
          <a:ln w="0">
            <a:noFill/>
          </a:ln>
        </p:spPr>
        <p:txBody>
          <a:bodyPr>
            <a:noAutofit/>
          </a:bodyPr>
          <a:lstStyle/>
          <a:p>
            <a:pPr>
              <a:defRPr sz="1725" b="0">
                <a:solidFill>
                  <a:srgbClr val="526778"/>
                </a:solidFill>
                <a:latin typeface="Aptos"/>
                <a:ea typeface="Aptos"/>
                <a:cs typeface="Aptos"/>
              </a:defRPr>
            </a:pPr>
            <a:r>
              <a:rPr sz="1725" b="0">
                <a:solidFill>
                  <a:srgbClr val="526778"/>
                </a:solidFill>
                <a:latin typeface="Aptos"/>
                <a:ea typeface="Aptos"/>
                <a:cs typeface="Aptos"/>
              </a:rPr>
              <a:t>Dependent tasks coordinate the daily processing cycle</a:t>
            </a:r>
          </a:p>
        </p:txBody>
      </p:sp>
      <p:sp>
        <p:nvSpPr>
          <p:cNvPr id="3" name="Rectangle 2">
            <a:extLst>
              <a:ext uri="{FF2B5EF4-FFF2-40B4-BE49-F238E27FC236}">
                <a16:creationId xmlns:a16="http://schemas.microsoft.com/office/drawing/2014/main" id="{08F505C3-9D17-4BD0-A649-2E23996B3A62}"/>
              </a:ext>
            </a:extLst>
          </p:cNvPr>
          <p:cNvSpPr>
            <a:spLocks noGrp="1"/>
          </p:cNvSpPr>
          <p:nvPr/>
        </p:nvSpPr>
        <p:spPr>
          <a:xfrm>
            <a:off x="11049000" y="6410325"/>
            <a:ext cx="523875" cy="238125"/>
          </a:xfrm>
          <a:prstGeom prst="rect">
            <a:avLst/>
          </a:prstGeom>
          <a:noFill/>
          <a:ln w="0">
            <a:noFill/>
          </a:ln>
        </p:spPr>
        <p:txBody>
          <a:bodyPr>
            <a:noAutofit/>
          </a:bodyPr>
          <a:lstStyle/>
          <a:p>
            <a:pPr>
              <a:defRPr sz="1125" b="0">
                <a:solidFill>
                  <a:srgbClr val="526778"/>
                </a:solidFill>
                <a:latin typeface="Aptos"/>
                <a:ea typeface="Aptos"/>
                <a:cs typeface="Aptos"/>
              </a:defRPr>
            </a:pPr>
            <a:r>
              <a:rPr sz="1125" b="0">
                <a:solidFill>
                  <a:srgbClr val="526778"/>
                </a:solidFill>
                <a:latin typeface="Aptos"/>
                <a:ea typeface="Aptos"/>
                <a:cs typeface="Aptos"/>
              </a:rPr>
              <a:t>08</a:t>
            </a:r>
          </a:p>
        </p:txBody>
      </p:sp>
      <p:sp>
        <p:nvSpPr>
          <p:cNvPr id="4" name="Rectangle 3">
            <a:extLst>
              <a:ext uri="{FF2B5EF4-FFF2-40B4-BE49-F238E27FC236}">
                <a16:creationId xmlns:a16="http://schemas.microsoft.com/office/drawing/2014/main" id="{51AE36F6-D730-40A9-AAE6-20C8A6E7627E}"/>
              </a:ext>
            </a:extLst>
          </p:cNvPr>
          <p:cNvSpPr>
            <a:spLocks noGrp="1"/>
          </p:cNvSpPr>
          <p:nvPr/>
        </p:nvSpPr>
        <p:spPr>
          <a:xfrm>
            <a:off x="609600" y="2476500"/>
            <a:ext cx="1952625" cy="1171575"/>
          </a:xfrm>
          <a:prstGeom prst="rect">
            <a:avLst/>
          </a:prstGeom>
          <a:solidFill>
            <a:srgbClr val="EDF3F6"/>
          </a:solidFill>
          <a:ln w="0">
            <a:noFill/>
          </a:ln>
        </p:spPr>
      </p:sp>
      <p:sp>
        <p:nvSpPr>
          <p:cNvPr id="5" name="Rectangle 4">
            <a:extLst>
              <a:ext uri="{FF2B5EF4-FFF2-40B4-BE49-F238E27FC236}">
                <a16:creationId xmlns:a16="http://schemas.microsoft.com/office/drawing/2014/main" id="{081EC2F4-ACF4-490F-B0D4-E60D717E83F5}"/>
              </a:ext>
            </a:extLst>
          </p:cNvPr>
          <p:cNvSpPr>
            <a:spLocks noGrp="1"/>
          </p:cNvSpPr>
          <p:nvPr/>
        </p:nvSpPr>
        <p:spPr>
          <a:xfrm>
            <a:off x="609600" y="2476500"/>
            <a:ext cx="47625" cy="1171575"/>
          </a:xfrm>
          <a:prstGeom prst="rect">
            <a:avLst/>
          </a:prstGeom>
          <a:solidFill>
            <a:srgbClr val="087F8C"/>
          </a:solidFill>
          <a:ln w="0">
            <a:noFill/>
          </a:ln>
        </p:spPr>
      </p:sp>
      <p:sp>
        <p:nvSpPr>
          <p:cNvPr id="6" name="Rectangle 5">
            <a:extLst>
              <a:ext uri="{FF2B5EF4-FFF2-40B4-BE49-F238E27FC236}">
                <a16:creationId xmlns:a16="http://schemas.microsoft.com/office/drawing/2014/main" id="{7DCEDFB5-466D-4301-8E55-F025ACB2451A}"/>
              </a:ext>
            </a:extLst>
          </p:cNvPr>
          <p:cNvSpPr>
            <a:spLocks noGrp="1"/>
          </p:cNvSpPr>
          <p:nvPr/>
        </p:nvSpPr>
        <p:spPr>
          <a:xfrm>
            <a:off x="781050" y="2609850"/>
            <a:ext cx="1647825" cy="4191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Ingest</a:t>
            </a:r>
          </a:p>
        </p:txBody>
      </p:sp>
      <p:sp>
        <p:nvSpPr>
          <p:cNvPr id="7" name="Rectangle 6">
            <a:extLst>
              <a:ext uri="{FF2B5EF4-FFF2-40B4-BE49-F238E27FC236}">
                <a16:creationId xmlns:a16="http://schemas.microsoft.com/office/drawing/2014/main" id="{14FA05BD-6185-471A-B00C-F25C352ED18F}"/>
              </a:ext>
            </a:extLst>
          </p:cNvPr>
          <p:cNvSpPr>
            <a:spLocks noGrp="1"/>
          </p:cNvSpPr>
          <p:nvPr/>
        </p:nvSpPr>
        <p:spPr>
          <a:xfrm>
            <a:off x="781050" y="3038475"/>
            <a:ext cx="1647825" cy="552450"/>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Register batch</a:t>
            </a:r>
          </a:p>
        </p:txBody>
      </p:sp>
      <p:sp>
        <p:nvSpPr>
          <p:cNvPr id="8" name="Arrow: Right 7">
            <a:extLst>
              <a:ext uri="{FF2B5EF4-FFF2-40B4-BE49-F238E27FC236}">
                <a16:creationId xmlns:a16="http://schemas.microsoft.com/office/drawing/2014/main" id="{B9C0877D-3F58-4DE8-B724-0BCE9FBA1284}"/>
              </a:ext>
            </a:extLst>
          </p:cNvPr>
          <p:cNvSpPr>
            <a:spLocks noGrp="1"/>
          </p:cNvSpPr>
          <p:nvPr/>
        </p:nvSpPr>
        <p:spPr>
          <a:xfrm>
            <a:off x="2609850" y="2952750"/>
            <a:ext cx="228600" cy="190500"/>
          </a:xfrm>
          <a:prstGeom prst="rightArrow">
            <a:avLst/>
          </a:prstGeom>
          <a:solidFill>
            <a:srgbClr val="087F8C"/>
          </a:solidFill>
          <a:ln w="0">
            <a:noFill/>
          </a:ln>
        </p:spPr>
      </p:sp>
      <p:sp>
        <p:nvSpPr>
          <p:cNvPr id="9" name="Rectangle 8">
            <a:extLst>
              <a:ext uri="{FF2B5EF4-FFF2-40B4-BE49-F238E27FC236}">
                <a16:creationId xmlns:a16="http://schemas.microsoft.com/office/drawing/2014/main" id="{51B4B1C8-31F7-40AF-874F-62656E566975}"/>
              </a:ext>
            </a:extLst>
          </p:cNvPr>
          <p:cNvSpPr>
            <a:spLocks noGrp="1"/>
          </p:cNvSpPr>
          <p:nvPr/>
        </p:nvSpPr>
        <p:spPr>
          <a:xfrm>
            <a:off x="2857500" y="2476500"/>
            <a:ext cx="1952625" cy="1171575"/>
          </a:xfrm>
          <a:prstGeom prst="rect">
            <a:avLst/>
          </a:prstGeom>
          <a:solidFill>
            <a:srgbClr val="EDF3F6"/>
          </a:solidFill>
          <a:ln w="0">
            <a:noFill/>
          </a:ln>
        </p:spPr>
      </p:sp>
      <p:sp>
        <p:nvSpPr>
          <p:cNvPr id="10" name="Rectangle 9">
            <a:extLst>
              <a:ext uri="{FF2B5EF4-FFF2-40B4-BE49-F238E27FC236}">
                <a16:creationId xmlns:a16="http://schemas.microsoft.com/office/drawing/2014/main" id="{E00D4759-32E2-436B-A050-34CE15155723}"/>
              </a:ext>
            </a:extLst>
          </p:cNvPr>
          <p:cNvSpPr>
            <a:spLocks noGrp="1"/>
          </p:cNvSpPr>
          <p:nvPr/>
        </p:nvSpPr>
        <p:spPr>
          <a:xfrm>
            <a:off x="2857500" y="2476500"/>
            <a:ext cx="47625" cy="1171575"/>
          </a:xfrm>
          <a:prstGeom prst="rect">
            <a:avLst/>
          </a:prstGeom>
          <a:solidFill>
            <a:srgbClr val="087F8C"/>
          </a:solidFill>
          <a:ln w="0">
            <a:noFill/>
          </a:ln>
        </p:spPr>
      </p:sp>
      <p:sp>
        <p:nvSpPr>
          <p:cNvPr id="11" name="Rectangle 10">
            <a:extLst>
              <a:ext uri="{FF2B5EF4-FFF2-40B4-BE49-F238E27FC236}">
                <a16:creationId xmlns:a16="http://schemas.microsoft.com/office/drawing/2014/main" id="{B927332C-4DE1-4A0A-A35E-FDA0FED49884}"/>
              </a:ext>
            </a:extLst>
          </p:cNvPr>
          <p:cNvSpPr>
            <a:spLocks noGrp="1"/>
          </p:cNvSpPr>
          <p:nvPr/>
        </p:nvSpPr>
        <p:spPr>
          <a:xfrm>
            <a:off x="3028950" y="2609850"/>
            <a:ext cx="1647825" cy="4191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Bronze</a:t>
            </a:r>
          </a:p>
        </p:txBody>
      </p:sp>
      <p:sp>
        <p:nvSpPr>
          <p:cNvPr id="12" name="Rectangle 11">
            <a:extLst>
              <a:ext uri="{FF2B5EF4-FFF2-40B4-BE49-F238E27FC236}">
                <a16:creationId xmlns:a16="http://schemas.microsoft.com/office/drawing/2014/main" id="{B916998A-D8FB-41D5-9FCB-ED5993964AAE}"/>
              </a:ext>
            </a:extLst>
          </p:cNvPr>
          <p:cNvSpPr>
            <a:spLocks noGrp="1"/>
          </p:cNvSpPr>
          <p:nvPr/>
        </p:nvSpPr>
        <p:spPr>
          <a:xfrm>
            <a:off x="3028950" y="3038475"/>
            <a:ext cx="1647825" cy="552450"/>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Persist raw</a:t>
            </a:r>
          </a:p>
        </p:txBody>
      </p:sp>
      <p:sp>
        <p:nvSpPr>
          <p:cNvPr id="13" name="Arrow: Right 12">
            <a:extLst>
              <a:ext uri="{FF2B5EF4-FFF2-40B4-BE49-F238E27FC236}">
                <a16:creationId xmlns:a16="http://schemas.microsoft.com/office/drawing/2014/main" id="{1752F4FD-26BF-490F-8C32-D071DA71D5A8}"/>
              </a:ext>
            </a:extLst>
          </p:cNvPr>
          <p:cNvSpPr>
            <a:spLocks noGrp="1"/>
          </p:cNvSpPr>
          <p:nvPr/>
        </p:nvSpPr>
        <p:spPr>
          <a:xfrm>
            <a:off x="4857750" y="2952750"/>
            <a:ext cx="228600" cy="190500"/>
          </a:xfrm>
          <a:prstGeom prst="rightArrow">
            <a:avLst/>
          </a:prstGeom>
          <a:solidFill>
            <a:srgbClr val="087F8C"/>
          </a:solidFill>
          <a:ln w="0">
            <a:noFill/>
          </a:ln>
        </p:spPr>
      </p:sp>
      <p:sp>
        <p:nvSpPr>
          <p:cNvPr id="14" name="Rectangle 13">
            <a:extLst>
              <a:ext uri="{FF2B5EF4-FFF2-40B4-BE49-F238E27FC236}">
                <a16:creationId xmlns:a16="http://schemas.microsoft.com/office/drawing/2014/main" id="{BFEECDC2-A1DE-4FC4-9E15-895C651FDBF5}"/>
              </a:ext>
            </a:extLst>
          </p:cNvPr>
          <p:cNvSpPr>
            <a:spLocks noGrp="1"/>
          </p:cNvSpPr>
          <p:nvPr/>
        </p:nvSpPr>
        <p:spPr>
          <a:xfrm>
            <a:off x="5105400" y="2476500"/>
            <a:ext cx="1952625" cy="1171575"/>
          </a:xfrm>
          <a:prstGeom prst="rect">
            <a:avLst/>
          </a:prstGeom>
          <a:solidFill>
            <a:srgbClr val="EDF3F6"/>
          </a:solidFill>
          <a:ln w="0">
            <a:noFill/>
          </a:ln>
        </p:spPr>
      </p:sp>
      <p:sp>
        <p:nvSpPr>
          <p:cNvPr id="15" name="Rectangle 14">
            <a:extLst>
              <a:ext uri="{FF2B5EF4-FFF2-40B4-BE49-F238E27FC236}">
                <a16:creationId xmlns:a16="http://schemas.microsoft.com/office/drawing/2014/main" id="{1E6AC36E-3221-4E6F-990C-6A40BA84B71F}"/>
              </a:ext>
            </a:extLst>
          </p:cNvPr>
          <p:cNvSpPr>
            <a:spLocks noGrp="1"/>
          </p:cNvSpPr>
          <p:nvPr/>
        </p:nvSpPr>
        <p:spPr>
          <a:xfrm>
            <a:off x="5105400" y="2476500"/>
            <a:ext cx="47625" cy="1171575"/>
          </a:xfrm>
          <a:prstGeom prst="rect">
            <a:avLst/>
          </a:prstGeom>
          <a:solidFill>
            <a:srgbClr val="087F8C"/>
          </a:solidFill>
          <a:ln w="0">
            <a:noFill/>
          </a:ln>
        </p:spPr>
      </p:sp>
      <p:sp>
        <p:nvSpPr>
          <p:cNvPr id="16" name="Rectangle 15">
            <a:extLst>
              <a:ext uri="{FF2B5EF4-FFF2-40B4-BE49-F238E27FC236}">
                <a16:creationId xmlns:a16="http://schemas.microsoft.com/office/drawing/2014/main" id="{F8014B55-47A7-43F1-AB96-A815E8FA873C}"/>
              </a:ext>
            </a:extLst>
          </p:cNvPr>
          <p:cNvSpPr>
            <a:spLocks noGrp="1"/>
          </p:cNvSpPr>
          <p:nvPr/>
        </p:nvSpPr>
        <p:spPr>
          <a:xfrm>
            <a:off x="5276850" y="2609850"/>
            <a:ext cx="1647825" cy="4191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Silver</a:t>
            </a:r>
          </a:p>
        </p:txBody>
      </p:sp>
      <p:sp>
        <p:nvSpPr>
          <p:cNvPr id="17" name="Rectangle 16">
            <a:extLst>
              <a:ext uri="{FF2B5EF4-FFF2-40B4-BE49-F238E27FC236}">
                <a16:creationId xmlns:a16="http://schemas.microsoft.com/office/drawing/2014/main" id="{51A0159C-88FF-4ED7-8EF0-14F3C6BC03D6}"/>
              </a:ext>
            </a:extLst>
          </p:cNvPr>
          <p:cNvSpPr>
            <a:spLocks noGrp="1"/>
          </p:cNvSpPr>
          <p:nvPr/>
        </p:nvSpPr>
        <p:spPr>
          <a:xfrm>
            <a:off x="5276850" y="3038475"/>
            <a:ext cx="1647825" cy="552450"/>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Validate / clean</a:t>
            </a:r>
          </a:p>
        </p:txBody>
      </p:sp>
      <p:sp>
        <p:nvSpPr>
          <p:cNvPr id="18" name="Arrow: Right 17">
            <a:extLst>
              <a:ext uri="{FF2B5EF4-FFF2-40B4-BE49-F238E27FC236}">
                <a16:creationId xmlns:a16="http://schemas.microsoft.com/office/drawing/2014/main" id="{96C0CF3B-C2FE-42F4-A3A5-32B875DC9E8D}"/>
              </a:ext>
            </a:extLst>
          </p:cNvPr>
          <p:cNvSpPr>
            <a:spLocks noGrp="1"/>
          </p:cNvSpPr>
          <p:nvPr/>
        </p:nvSpPr>
        <p:spPr>
          <a:xfrm>
            <a:off x="7105650" y="2952750"/>
            <a:ext cx="228600" cy="190500"/>
          </a:xfrm>
          <a:prstGeom prst="rightArrow">
            <a:avLst/>
          </a:prstGeom>
          <a:solidFill>
            <a:srgbClr val="087F8C"/>
          </a:solidFill>
          <a:ln w="0">
            <a:noFill/>
          </a:ln>
        </p:spPr>
      </p:sp>
      <p:sp>
        <p:nvSpPr>
          <p:cNvPr id="19" name="Rectangle 18">
            <a:extLst>
              <a:ext uri="{FF2B5EF4-FFF2-40B4-BE49-F238E27FC236}">
                <a16:creationId xmlns:a16="http://schemas.microsoft.com/office/drawing/2014/main" id="{EA811705-1492-4D7A-9DC7-ABC15F6501A2}"/>
              </a:ext>
            </a:extLst>
          </p:cNvPr>
          <p:cNvSpPr>
            <a:spLocks noGrp="1"/>
          </p:cNvSpPr>
          <p:nvPr/>
        </p:nvSpPr>
        <p:spPr>
          <a:xfrm>
            <a:off x="7353300" y="2476500"/>
            <a:ext cx="1952625" cy="1171575"/>
          </a:xfrm>
          <a:prstGeom prst="rect">
            <a:avLst/>
          </a:prstGeom>
          <a:solidFill>
            <a:srgbClr val="EDF3F6"/>
          </a:solidFill>
          <a:ln w="0">
            <a:noFill/>
          </a:ln>
        </p:spPr>
      </p:sp>
      <p:sp>
        <p:nvSpPr>
          <p:cNvPr id="20" name="Rectangle 19">
            <a:extLst>
              <a:ext uri="{FF2B5EF4-FFF2-40B4-BE49-F238E27FC236}">
                <a16:creationId xmlns:a16="http://schemas.microsoft.com/office/drawing/2014/main" id="{70255172-EF7B-47A0-B9F1-08C7534702C5}"/>
              </a:ext>
            </a:extLst>
          </p:cNvPr>
          <p:cNvSpPr>
            <a:spLocks noGrp="1"/>
          </p:cNvSpPr>
          <p:nvPr/>
        </p:nvSpPr>
        <p:spPr>
          <a:xfrm>
            <a:off x="7353300" y="2476500"/>
            <a:ext cx="47625" cy="1171575"/>
          </a:xfrm>
          <a:prstGeom prst="rect">
            <a:avLst/>
          </a:prstGeom>
          <a:solidFill>
            <a:srgbClr val="087F8C"/>
          </a:solidFill>
          <a:ln w="0">
            <a:noFill/>
          </a:ln>
        </p:spPr>
      </p:sp>
      <p:sp>
        <p:nvSpPr>
          <p:cNvPr id="21" name="Rectangle 20">
            <a:extLst>
              <a:ext uri="{FF2B5EF4-FFF2-40B4-BE49-F238E27FC236}">
                <a16:creationId xmlns:a16="http://schemas.microsoft.com/office/drawing/2014/main" id="{D0C5893F-D81B-47A9-B914-53CE27A994B1}"/>
              </a:ext>
            </a:extLst>
          </p:cNvPr>
          <p:cNvSpPr>
            <a:spLocks noGrp="1"/>
          </p:cNvSpPr>
          <p:nvPr/>
        </p:nvSpPr>
        <p:spPr>
          <a:xfrm>
            <a:off x="7524750" y="2609850"/>
            <a:ext cx="1647825" cy="4191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Gold</a:t>
            </a:r>
          </a:p>
        </p:txBody>
      </p:sp>
      <p:sp>
        <p:nvSpPr>
          <p:cNvPr id="22" name="Rectangle 21">
            <a:extLst>
              <a:ext uri="{FF2B5EF4-FFF2-40B4-BE49-F238E27FC236}">
                <a16:creationId xmlns:a16="http://schemas.microsoft.com/office/drawing/2014/main" id="{79F1FF11-2547-4F46-AB93-D306D94EAE3F}"/>
              </a:ext>
            </a:extLst>
          </p:cNvPr>
          <p:cNvSpPr>
            <a:spLocks noGrp="1"/>
          </p:cNvSpPr>
          <p:nvPr/>
        </p:nvSpPr>
        <p:spPr>
          <a:xfrm>
            <a:off x="7524750" y="3038475"/>
            <a:ext cx="1647825" cy="552450"/>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Build model</a:t>
            </a:r>
          </a:p>
        </p:txBody>
      </p:sp>
      <p:sp>
        <p:nvSpPr>
          <p:cNvPr id="23" name="Arrow: Right 22">
            <a:extLst>
              <a:ext uri="{FF2B5EF4-FFF2-40B4-BE49-F238E27FC236}">
                <a16:creationId xmlns:a16="http://schemas.microsoft.com/office/drawing/2014/main" id="{3B3A20EA-4E5F-49F5-97CF-D1908C5EFFBB}"/>
              </a:ext>
            </a:extLst>
          </p:cNvPr>
          <p:cNvSpPr>
            <a:spLocks noGrp="1"/>
          </p:cNvSpPr>
          <p:nvPr/>
        </p:nvSpPr>
        <p:spPr>
          <a:xfrm>
            <a:off x="9353550" y="2952750"/>
            <a:ext cx="228600" cy="190500"/>
          </a:xfrm>
          <a:prstGeom prst="rightArrow">
            <a:avLst/>
          </a:prstGeom>
          <a:solidFill>
            <a:srgbClr val="087F8C"/>
          </a:solidFill>
          <a:ln w="0">
            <a:noFill/>
          </a:ln>
        </p:spPr>
      </p:sp>
      <p:sp>
        <p:nvSpPr>
          <p:cNvPr id="24" name="Rectangle 23">
            <a:extLst>
              <a:ext uri="{FF2B5EF4-FFF2-40B4-BE49-F238E27FC236}">
                <a16:creationId xmlns:a16="http://schemas.microsoft.com/office/drawing/2014/main" id="{B9161DBE-431C-4C4F-869F-79F0178A140E}"/>
              </a:ext>
            </a:extLst>
          </p:cNvPr>
          <p:cNvSpPr>
            <a:spLocks noGrp="1"/>
          </p:cNvSpPr>
          <p:nvPr/>
        </p:nvSpPr>
        <p:spPr>
          <a:xfrm>
            <a:off x="9601200" y="2476500"/>
            <a:ext cx="1952625" cy="1171575"/>
          </a:xfrm>
          <a:prstGeom prst="rect">
            <a:avLst/>
          </a:prstGeom>
          <a:solidFill>
            <a:srgbClr val="EDF3F6"/>
          </a:solidFill>
          <a:ln w="0">
            <a:noFill/>
          </a:ln>
        </p:spPr>
      </p:sp>
      <p:sp>
        <p:nvSpPr>
          <p:cNvPr id="25" name="Rectangle 24">
            <a:extLst>
              <a:ext uri="{FF2B5EF4-FFF2-40B4-BE49-F238E27FC236}">
                <a16:creationId xmlns:a16="http://schemas.microsoft.com/office/drawing/2014/main" id="{EADB6ACC-7DAF-4A87-8759-6EF034AE97D8}"/>
              </a:ext>
            </a:extLst>
          </p:cNvPr>
          <p:cNvSpPr>
            <a:spLocks noGrp="1"/>
          </p:cNvSpPr>
          <p:nvPr/>
        </p:nvSpPr>
        <p:spPr>
          <a:xfrm>
            <a:off x="9601200" y="2476500"/>
            <a:ext cx="47625" cy="1171575"/>
          </a:xfrm>
          <a:prstGeom prst="rect">
            <a:avLst/>
          </a:prstGeom>
          <a:solidFill>
            <a:srgbClr val="087F8C"/>
          </a:solidFill>
          <a:ln w="0">
            <a:noFill/>
          </a:ln>
        </p:spPr>
      </p:sp>
      <p:sp>
        <p:nvSpPr>
          <p:cNvPr id="26" name="Rectangle 25">
            <a:extLst>
              <a:ext uri="{FF2B5EF4-FFF2-40B4-BE49-F238E27FC236}">
                <a16:creationId xmlns:a16="http://schemas.microsoft.com/office/drawing/2014/main" id="{DF15E098-1977-491A-9C06-48956073AA99}"/>
              </a:ext>
            </a:extLst>
          </p:cNvPr>
          <p:cNvSpPr>
            <a:spLocks noGrp="1"/>
          </p:cNvSpPr>
          <p:nvPr/>
        </p:nvSpPr>
        <p:spPr>
          <a:xfrm>
            <a:off x="9772650" y="2609850"/>
            <a:ext cx="1647825" cy="4191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Publish</a:t>
            </a:r>
          </a:p>
        </p:txBody>
      </p:sp>
      <p:sp>
        <p:nvSpPr>
          <p:cNvPr id="27" name="Rectangle 26">
            <a:extLst>
              <a:ext uri="{FF2B5EF4-FFF2-40B4-BE49-F238E27FC236}">
                <a16:creationId xmlns:a16="http://schemas.microsoft.com/office/drawing/2014/main" id="{00E0F22C-0A81-4DC7-8280-603D0CEF907B}"/>
              </a:ext>
            </a:extLst>
          </p:cNvPr>
          <p:cNvSpPr>
            <a:spLocks noGrp="1"/>
          </p:cNvSpPr>
          <p:nvPr/>
        </p:nvSpPr>
        <p:spPr>
          <a:xfrm>
            <a:off x="9772650" y="3038475"/>
            <a:ext cx="1647825" cy="552450"/>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Ready signal</a:t>
            </a:r>
          </a:p>
        </p:txBody>
      </p:sp>
      <p:sp>
        <p:nvSpPr>
          <p:cNvPr id="28" name="Rectangle 27">
            <a:extLst>
              <a:ext uri="{FF2B5EF4-FFF2-40B4-BE49-F238E27FC236}">
                <a16:creationId xmlns:a16="http://schemas.microsoft.com/office/drawing/2014/main" id="{8C344432-1F3F-49C7-BF9E-C3915C8353BD}"/>
              </a:ext>
            </a:extLst>
          </p:cNvPr>
          <p:cNvSpPr>
            <a:spLocks noGrp="1"/>
          </p:cNvSpPr>
          <p:nvPr/>
        </p:nvSpPr>
        <p:spPr>
          <a:xfrm>
            <a:off x="609600" y="4248150"/>
            <a:ext cx="33337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Run control</a:t>
            </a:r>
          </a:p>
        </p:txBody>
      </p:sp>
      <p:sp>
        <p:nvSpPr>
          <p:cNvPr id="29" name="Rectangle 28">
            <a:extLst>
              <a:ext uri="{FF2B5EF4-FFF2-40B4-BE49-F238E27FC236}">
                <a16:creationId xmlns:a16="http://schemas.microsoft.com/office/drawing/2014/main" id="{305E9A6A-938A-4EC6-8C16-E4D38334BF2F}"/>
              </a:ext>
            </a:extLst>
          </p:cNvPr>
          <p:cNvSpPr>
            <a:spLocks noGrp="1"/>
          </p:cNvSpPr>
          <p:nvPr/>
        </p:nvSpPr>
        <p:spPr>
          <a:xfrm>
            <a:off x="609600" y="4933950"/>
            <a:ext cx="3333750" cy="2381250"/>
          </a:xfrm>
          <a:prstGeom prst="rect">
            <a:avLst/>
          </a:prstGeom>
          <a:noFill/>
          <a:ln w="0">
            <a:noFill/>
          </a:ln>
        </p:spPr>
        <p:txBody>
          <a:bodyPr>
            <a:noAutofit/>
          </a:bodyPr>
          <a:lstStyle/>
          <a:p>
            <a:pPr>
              <a:defRPr sz="1950" b="0">
                <a:solidFill>
                  <a:srgbClr val="16324A"/>
                </a:solidFill>
                <a:latin typeface="Aptos"/>
                <a:ea typeface="Aptos"/>
                <a:cs typeface="Aptos"/>
              </a:defRPr>
            </a:pPr>
            <a:r>
              <a:rPr sz="1950" b="0">
                <a:solidFill>
                  <a:srgbClr val="16324A"/>
                </a:solidFill>
                <a:latin typeface="Aptos"/>
                <a:ea typeface="Aptos"/>
                <a:cs typeface="Aptos"/>
              </a:rPr>
              <a:t>Schedules and parameters</a:t>
            </a:r>
          </a:p>
          <a:p>
            <a:pPr>
              <a:defRPr sz="1950" b="0">
                <a:solidFill>
                  <a:srgbClr val="16324A"/>
                </a:solidFill>
                <a:latin typeface="Aptos"/>
                <a:ea typeface="Aptos"/>
                <a:cs typeface="Aptos"/>
              </a:defRPr>
            </a:pPr>
            <a:r>
              <a:rPr sz="1950" b="0">
                <a:solidFill>
                  <a:srgbClr val="16324A"/>
                </a:solidFill>
                <a:latin typeface="Aptos"/>
                <a:ea typeface="Aptos"/>
                <a:cs typeface="Aptos"/>
              </a:rPr>
              <a:t>Task dependencies</a:t>
            </a:r>
          </a:p>
        </p:txBody>
      </p:sp>
      <p:sp>
        <p:nvSpPr>
          <p:cNvPr id="30" name="Rectangle 29">
            <a:extLst>
              <a:ext uri="{FF2B5EF4-FFF2-40B4-BE49-F238E27FC236}">
                <a16:creationId xmlns:a16="http://schemas.microsoft.com/office/drawing/2014/main" id="{222266F0-27B5-410B-BC7E-33A7E4930C1B}"/>
              </a:ext>
            </a:extLst>
          </p:cNvPr>
          <p:cNvSpPr>
            <a:spLocks noGrp="1"/>
          </p:cNvSpPr>
          <p:nvPr/>
        </p:nvSpPr>
        <p:spPr>
          <a:xfrm>
            <a:off x="4419600" y="4248150"/>
            <a:ext cx="33337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Failure handling</a:t>
            </a:r>
          </a:p>
        </p:txBody>
      </p:sp>
      <p:sp>
        <p:nvSpPr>
          <p:cNvPr id="31" name="Rectangle 30">
            <a:extLst>
              <a:ext uri="{FF2B5EF4-FFF2-40B4-BE49-F238E27FC236}">
                <a16:creationId xmlns:a16="http://schemas.microsoft.com/office/drawing/2014/main" id="{F696F1BB-735D-4DF5-BF81-F8C66A1B935D}"/>
              </a:ext>
            </a:extLst>
          </p:cNvPr>
          <p:cNvSpPr>
            <a:spLocks noGrp="1"/>
          </p:cNvSpPr>
          <p:nvPr/>
        </p:nvSpPr>
        <p:spPr>
          <a:xfrm>
            <a:off x="4419600" y="4933950"/>
            <a:ext cx="3333750" cy="2381250"/>
          </a:xfrm>
          <a:prstGeom prst="rect">
            <a:avLst/>
          </a:prstGeom>
          <a:noFill/>
          <a:ln w="0">
            <a:noFill/>
          </a:ln>
        </p:spPr>
        <p:txBody>
          <a:bodyPr>
            <a:noAutofit/>
          </a:bodyPr>
          <a:lstStyle/>
          <a:p>
            <a:pPr>
              <a:defRPr sz="1950" b="0">
                <a:solidFill>
                  <a:srgbClr val="16324A"/>
                </a:solidFill>
                <a:latin typeface="Aptos"/>
                <a:ea typeface="Aptos"/>
                <a:cs typeface="Aptos"/>
              </a:defRPr>
            </a:pPr>
            <a:r>
              <a:rPr sz="1950" b="0">
                <a:solidFill>
                  <a:srgbClr val="16324A"/>
                </a:solidFill>
                <a:latin typeface="Aptos"/>
                <a:ea typeface="Aptos"/>
                <a:cs typeface="Aptos"/>
              </a:rPr>
              <a:t>Retries and alerts</a:t>
            </a:r>
          </a:p>
          <a:p>
            <a:pPr>
              <a:defRPr sz="1950" b="0">
                <a:solidFill>
                  <a:srgbClr val="16324A"/>
                </a:solidFill>
                <a:latin typeface="Aptos"/>
                <a:ea typeface="Aptos"/>
                <a:cs typeface="Aptos"/>
              </a:defRPr>
            </a:pPr>
            <a:r>
              <a:rPr sz="1950" b="0">
                <a:solidFill>
                  <a:srgbClr val="16324A"/>
                </a:solidFill>
                <a:latin typeface="Aptos"/>
                <a:ea typeface="Aptos"/>
                <a:cs typeface="Aptos"/>
              </a:rPr>
              <a:t>Traceable exceptions</a:t>
            </a:r>
          </a:p>
        </p:txBody>
      </p:sp>
      <p:sp>
        <p:nvSpPr>
          <p:cNvPr id="32" name="Rectangle 31">
            <a:extLst>
              <a:ext uri="{FF2B5EF4-FFF2-40B4-BE49-F238E27FC236}">
                <a16:creationId xmlns:a16="http://schemas.microsoft.com/office/drawing/2014/main" id="{C2FEE970-F53E-4120-A248-A2A04909A18B}"/>
              </a:ext>
            </a:extLst>
          </p:cNvPr>
          <p:cNvSpPr>
            <a:spLocks noGrp="1"/>
          </p:cNvSpPr>
          <p:nvPr/>
        </p:nvSpPr>
        <p:spPr>
          <a:xfrm>
            <a:off x="8229600" y="4248150"/>
            <a:ext cx="33337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Recovery</a:t>
            </a:r>
          </a:p>
        </p:txBody>
      </p:sp>
      <p:sp>
        <p:nvSpPr>
          <p:cNvPr id="33" name="Rectangle 32">
            <a:extLst>
              <a:ext uri="{FF2B5EF4-FFF2-40B4-BE49-F238E27FC236}">
                <a16:creationId xmlns:a16="http://schemas.microsoft.com/office/drawing/2014/main" id="{FC63C93B-F1A8-4D1C-980C-904AA4617480}"/>
              </a:ext>
            </a:extLst>
          </p:cNvPr>
          <p:cNvSpPr>
            <a:spLocks noGrp="1"/>
          </p:cNvSpPr>
          <p:nvPr/>
        </p:nvSpPr>
        <p:spPr>
          <a:xfrm>
            <a:off x="8229600" y="4933950"/>
            <a:ext cx="3333750" cy="2381250"/>
          </a:xfrm>
          <a:prstGeom prst="rect">
            <a:avLst/>
          </a:prstGeom>
          <a:noFill/>
          <a:ln w="0">
            <a:noFill/>
          </a:ln>
        </p:spPr>
        <p:txBody>
          <a:bodyPr>
            <a:noAutofit/>
          </a:bodyPr>
          <a:lstStyle/>
          <a:p>
            <a:pPr>
              <a:defRPr sz="1950" b="0">
                <a:solidFill>
                  <a:srgbClr val="16324A"/>
                </a:solidFill>
                <a:latin typeface="Aptos"/>
                <a:ea typeface="Aptos"/>
                <a:cs typeface="Aptos"/>
              </a:defRPr>
            </a:pPr>
            <a:r>
              <a:rPr sz="1950" b="0">
                <a:solidFill>
                  <a:srgbClr val="16324A"/>
                </a:solidFill>
                <a:latin typeface="Aptos"/>
                <a:ea typeface="Aptos"/>
                <a:cs typeface="Aptos"/>
              </a:rPr>
              <a:t>Safe reruns by batch</a:t>
            </a:r>
          </a:p>
          <a:p>
            <a:pPr>
              <a:defRPr sz="1950" b="0">
                <a:solidFill>
                  <a:srgbClr val="16324A"/>
                </a:solidFill>
                <a:latin typeface="Aptos"/>
                <a:ea typeface="Aptos"/>
                <a:cs typeface="Aptos"/>
              </a:defRPr>
            </a:pPr>
            <a:r>
              <a:rPr sz="1950" b="0">
                <a:solidFill>
                  <a:srgbClr val="16324A"/>
                </a:solidFill>
                <a:latin typeface="Aptos"/>
                <a:ea typeface="Aptos"/>
                <a:cs typeface="Aptos"/>
              </a:rPr>
              <a:t>Recorded run status</a:t>
            </a:r>
          </a:p>
        </p:txBody>
      </p:sp>
    </p:spTree>
    <p:extLst>
      <p:ext uri="{BB962C8B-B14F-4D97-AF65-F5344CB8AC3E}">
        <p14:creationId xmlns:p14="http://schemas.microsoft.com/office/powerpoint/2010/main" val="1866580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087F095-63E2-4EE1-BD5F-EDD4E44CC550}"/>
              </a:ext>
            </a:extLst>
          </p:cNvPr>
          <p:cNvSpPr>
            <a:spLocks noGrp="1"/>
          </p:cNvSpPr>
          <p:nvPr/>
        </p:nvSpPr>
        <p:spPr>
          <a:xfrm>
            <a:off x="609600" y="457200"/>
            <a:ext cx="10972800" cy="666750"/>
          </a:xfrm>
          <a:prstGeom prst="rect">
            <a:avLst/>
          </a:prstGeom>
          <a:noFill/>
          <a:ln w="0">
            <a:noFill/>
          </a:ln>
        </p:spPr>
        <p:txBody>
          <a:bodyPr>
            <a:noAutofit/>
          </a:bodyPr>
          <a:lstStyle/>
          <a:p>
            <a:pPr>
              <a:defRPr sz="3150" b="1">
                <a:solidFill>
                  <a:srgbClr val="10283F"/>
                </a:solidFill>
                <a:latin typeface="Aptos"/>
                <a:ea typeface="Aptos"/>
                <a:cs typeface="Aptos"/>
              </a:defRPr>
            </a:pPr>
            <a:r>
              <a:rPr sz="3150" b="1">
                <a:solidFill>
                  <a:srgbClr val="10283F"/>
                </a:solidFill>
                <a:latin typeface="Aptos"/>
                <a:ea typeface="Aptos"/>
                <a:cs typeface="Aptos"/>
              </a:rPr>
              <a:t>Gold Data Model</a:t>
            </a:r>
          </a:p>
        </p:txBody>
      </p:sp>
      <p:sp>
        <p:nvSpPr>
          <p:cNvPr id="2" name="Rectangle 1">
            <a:extLst>
              <a:ext uri="{FF2B5EF4-FFF2-40B4-BE49-F238E27FC236}">
                <a16:creationId xmlns:a16="http://schemas.microsoft.com/office/drawing/2014/main" id="{0C897C27-3DCE-4543-AE15-3739F6AEC4EB}"/>
              </a:ext>
            </a:extLst>
          </p:cNvPr>
          <p:cNvSpPr>
            <a:spLocks noGrp="1"/>
          </p:cNvSpPr>
          <p:nvPr/>
        </p:nvSpPr>
        <p:spPr>
          <a:xfrm>
            <a:off x="609600" y="1219200"/>
            <a:ext cx="10972800" cy="590550"/>
          </a:xfrm>
          <a:prstGeom prst="rect">
            <a:avLst/>
          </a:prstGeom>
          <a:noFill/>
          <a:ln w="0">
            <a:noFill/>
          </a:ln>
        </p:spPr>
        <p:txBody>
          <a:bodyPr>
            <a:noAutofit/>
          </a:bodyPr>
          <a:lstStyle/>
          <a:p>
            <a:pPr>
              <a:defRPr sz="1725" b="0">
                <a:solidFill>
                  <a:srgbClr val="526778"/>
                </a:solidFill>
                <a:latin typeface="Aptos"/>
                <a:ea typeface="Aptos"/>
                <a:cs typeface="Aptos"/>
              </a:defRPr>
            </a:pPr>
            <a:r>
              <a:rPr sz="1725" b="0">
                <a:solidFill>
                  <a:srgbClr val="526778"/>
                </a:solidFill>
                <a:latin typeface="Aptos"/>
                <a:ea typeface="Aptos"/>
                <a:cs typeface="Aptos"/>
              </a:rPr>
              <a:t>Shared dimensions connect facts at their natural level of detail</a:t>
            </a:r>
          </a:p>
        </p:txBody>
      </p:sp>
      <p:sp>
        <p:nvSpPr>
          <p:cNvPr id="3" name="Rectangle 2">
            <a:extLst>
              <a:ext uri="{FF2B5EF4-FFF2-40B4-BE49-F238E27FC236}">
                <a16:creationId xmlns:a16="http://schemas.microsoft.com/office/drawing/2014/main" id="{6C51AB9D-62C2-404A-8223-99E20879B91F}"/>
              </a:ext>
            </a:extLst>
          </p:cNvPr>
          <p:cNvSpPr>
            <a:spLocks noGrp="1"/>
          </p:cNvSpPr>
          <p:nvPr/>
        </p:nvSpPr>
        <p:spPr>
          <a:xfrm>
            <a:off x="11049000" y="6410325"/>
            <a:ext cx="523875" cy="238125"/>
          </a:xfrm>
          <a:prstGeom prst="rect">
            <a:avLst/>
          </a:prstGeom>
          <a:noFill/>
          <a:ln w="0">
            <a:noFill/>
          </a:ln>
        </p:spPr>
        <p:txBody>
          <a:bodyPr>
            <a:noAutofit/>
          </a:bodyPr>
          <a:lstStyle/>
          <a:p>
            <a:pPr>
              <a:defRPr sz="1125" b="0">
                <a:solidFill>
                  <a:srgbClr val="526778"/>
                </a:solidFill>
                <a:latin typeface="Aptos"/>
                <a:ea typeface="Aptos"/>
                <a:cs typeface="Aptos"/>
              </a:defRPr>
            </a:pPr>
            <a:r>
              <a:rPr sz="1125" b="0">
                <a:solidFill>
                  <a:srgbClr val="526778"/>
                </a:solidFill>
                <a:latin typeface="Aptos"/>
                <a:ea typeface="Aptos"/>
                <a:cs typeface="Aptos"/>
              </a:rPr>
              <a:t>09</a:t>
            </a:r>
          </a:p>
        </p:txBody>
      </p:sp>
      <p:sp>
        <p:nvSpPr>
          <p:cNvPr id="4" name="Rectangle 3">
            <a:extLst>
              <a:ext uri="{FF2B5EF4-FFF2-40B4-BE49-F238E27FC236}">
                <a16:creationId xmlns:a16="http://schemas.microsoft.com/office/drawing/2014/main" id="{ADD3C1F3-C926-4059-B1F8-B7D067BAEC27}"/>
              </a:ext>
            </a:extLst>
          </p:cNvPr>
          <p:cNvSpPr>
            <a:spLocks noGrp="1"/>
          </p:cNvSpPr>
          <p:nvPr/>
        </p:nvSpPr>
        <p:spPr>
          <a:xfrm>
            <a:off x="609600" y="2076450"/>
            <a:ext cx="3381375" cy="1238250"/>
          </a:xfrm>
          <a:prstGeom prst="rect">
            <a:avLst/>
          </a:prstGeom>
          <a:solidFill>
            <a:srgbClr val="EDF3F6"/>
          </a:solidFill>
          <a:ln w="0">
            <a:noFill/>
          </a:ln>
        </p:spPr>
      </p:sp>
      <p:sp>
        <p:nvSpPr>
          <p:cNvPr id="5" name="Rectangle 4">
            <a:extLst>
              <a:ext uri="{FF2B5EF4-FFF2-40B4-BE49-F238E27FC236}">
                <a16:creationId xmlns:a16="http://schemas.microsoft.com/office/drawing/2014/main" id="{D9CA564A-761A-4EE6-BCA1-B39D9CF9E4C9}"/>
              </a:ext>
            </a:extLst>
          </p:cNvPr>
          <p:cNvSpPr>
            <a:spLocks noGrp="1"/>
          </p:cNvSpPr>
          <p:nvPr/>
        </p:nvSpPr>
        <p:spPr>
          <a:xfrm>
            <a:off x="609600" y="2076450"/>
            <a:ext cx="47625" cy="1238250"/>
          </a:xfrm>
          <a:prstGeom prst="rect">
            <a:avLst/>
          </a:prstGeom>
          <a:solidFill>
            <a:srgbClr val="087F8C"/>
          </a:solidFill>
          <a:ln w="0">
            <a:noFill/>
          </a:ln>
        </p:spPr>
      </p:sp>
      <p:sp>
        <p:nvSpPr>
          <p:cNvPr id="6" name="Rectangle 5">
            <a:extLst>
              <a:ext uri="{FF2B5EF4-FFF2-40B4-BE49-F238E27FC236}">
                <a16:creationId xmlns:a16="http://schemas.microsoft.com/office/drawing/2014/main" id="{8CD64B9C-1342-4A25-92CB-AA57D1947D9C}"/>
              </a:ext>
            </a:extLst>
          </p:cNvPr>
          <p:cNvSpPr>
            <a:spLocks noGrp="1"/>
          </p:cNvSpPr>
          <p:nvPr/>
        </p:nvSpPr>
        <p:spPr>
          <a:xfrm>
            <a:off x="781050" y="2209800"/>
            <a:ext cx="3076575" cy="4191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DimMember</a:t>
            </a:r>
          </a:p>
        </p:txBody>
      </p:sp>
      <p:sp>
        <p:nvSpPr>
          <p:cNvPr id="7" name="Rectangle 6">
            <a:extLst>
              <a:ext uri="{FF2B5EF4-FFF2-40B4-BE49-F238E27FC236}">
                <a16:creationId xmlns:a16="http://schemas.microsoft.com/office/drawing/2014/main" id="{B3EF87D7-DEEB-495D-B3DB-70918AD3F1BA}"/>
              </a:ext>
            </a:extLst>
          </p:cNvPr>
          <p:cNvSpPr>
            <a:spLocks noGrp="1"/>
          </p:cNvSpPr>
          <p:nvPr/>
        </p:nvSpPr>
        <p:spPr>
          <a:xfrm>
            <a:off x="781050" y="2638425"/>
            <a:ext cx="3076575" cy="619125"/>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MemberKey / MemberID</a:t>
            </a:r>
          </a:p>
          <a:p>
            <a:pPr>
              <a:defRPr sz="1500" b="0">
                <a:solidFill>
                  <a:srgbClr val="16324A"/>
                </a:solidFill>
                <a:latin typeface="Aptos"/>
                <a:ea typeface="Aptos"/>
                <a:cs typeface="Aptos"/>
              </a:defRPr>
            </a:pPr>
            <a:r>
              <a:rPr sz="1500" b="0">
                <a:solidFill>
                  <a:srgbClr val="16324A"/>
                </a:solidFill>
                <a:latin typeface="Aptos"/>
                <a:ea typeface="Aptos"/>
                <a:cs typeface="Aptos"/>
              </a:rPr>
              <a:t>Name / CoachID</a:t>
            </a:r>
          </a:p>
        </p:txBody>
      </p:sp>
      <p:sp>
        <p:nvSpPr>
          <p:cNvPr id="8" name="Rectangle 7">
            <a:extLst>
              <a:ext uri="{FF2B5EF4-FFF2-40B4-BE49-F238E27FC236}">
                <a16:creationId xmlns:a16="http://schemas.microsoft.com/office/drawing/2014/main" id="{AD1C9C8E-5BEC-4D25-8705-1A398B0B14DA}"/>
              </a:ext>
            </a:extLst>
          </p:cNvPr>
          <p:cNvSpPr>
            <a:spLocks noGrp="1"/>
          </p:cNvSpPr>
          <p:nvPr/>
        </p:nvSpPr>
        <p:spPr>
          <a:xfrm>
            <a:off x="8201025" y="2076450"/>
            <a:ext cx="3381375" cy="1238250"/>
          </a:xfrm>
          <a:prstGeom prst="rect">
            <a:avLst/>
          </a:prstGeom>
          <a:solidFill>
            <a:srgbClr val="EDF3F6"/>
          </a:solidFill>
          <a:ln w="0">
            <a:noFill/>
          </a:ln>
        </p:spPr>
      </p:sp>
      <p:sp>
        <p:nvSpPr>
          <p:cNvPr id="9" name="Rectangle 8">
            <a:extLst>
              <a:ext uri="{FF2B5EF4-FFF2-40B4-BE49-F238E27FC236}">
                <a16:creationId xmlns:a16="http://schemas.microsoft.com/office/drawing/2014/main" id="{8C45B0B0-5B32-4FCE-8053-DAEEA7743FEC}"/>
              </a:ext>
            </a:extLst>
          </p:cNvPr>
          <p:cNvSpPr>
            <a:spLocks noGrp="1"/>
          </p:cNvSpPr>
          <p:nvPr/>
        </p:nvSpPr>
        <p:spPr>
          <a:xfrm>
            <a:off x="8201025" y="2076450"/>
            <a:ext cx="47625" cy="1238250"/>
          </a:xfrm>
          <a:prstGeom prst="rect">
            <a:avLst/>
          </a:prstGeom>
          <a:solidFill>
            <a:srgbClr val="087F8C"/>
          </a:solidFill>
          <a:ln w="0">
            <a:noFill/>
          </a:ln>
        </p:spPr>
      </p:sp>
      <p:sp>
        <p:nvSpPr>
          <p:cNvPr id="10" name="Rectangle 9">
            <a:extLst>
              <a:ext uri="{FF2B5EF4-FFF2-40B4-BE49-F238E27FC236}">
                <a16:creationId xmlns:a16="http://schemas.microsoft.com/office/drawing/2014/main" id="{21220359-9F2E-4E58-9AEF-35B50FE37F1B}"/>
              </a:ext>
            </a:extLst>
          </p:cNvPr>
          <p:cNvSpPr>
            <a:spLocks noGrp="1"/>
          </p:cNvSpPr>
          <p:nvPr/>
        </p:nvSpPr>
        <p:spPr>
          <a:xfrm>
            <a:off x="8372475" y="2209800"/>
            <a:ext cx="3076575" cy="4191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DimDate</a:t>
            </a:r>
          </a:p>
        </p:txBody>
      </p:sp>
      <p:sp>
        <p:nvSpPr>
          <p:cNvPr id="11" name="Rectangle 10">
            <a:extLst>
              <a:ext uri="{FF2B5EF4-FFF2-40B4-BE49-F238E27FC236}">
                <a16:creationId xmlns:a16="http://schemas.microsoft.com/office/drawing/2014/main" id="{558CDE42-20A4-447B-85AB-B31EFB5E4507}"/>
              </a:ext>
            </a:extLst>
          </p:cNvPr>
          <p:cNvSpPr>
            <a:spLocks noGrp="1"/>
          </p:cNvSpPr>
          <p:nvPr/>
        </p:nvSpPr>
        <p:spPr>
          <a:xfrm>
            <a:off x="8372475" y="2638425"/>
            <a:ext cx="3076575" cy="619125"/>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DateKey / Date</a:t>
            </a:r>
          </a:p>
          <a:p>
            <a:pPr>
              <a:defRPr sz="1500" b="0">
                <a:solidFill>
                  <a:srgbClr val="16324A"/>
                </a:solidFill>
                <a:latin typeface="Aptos"/>
                <a:ea typeface="Aptos"/>
                <a:cs typeface="Aptos"/>
              </a:defRPr>
            </a:pPr>
            <a:r>
              <a:rPr sz="1500" b="0">
                <a:solidFill>
                  <a:srgbClr val="16324A"/>
                </a:solidFill>
                <a:latin typeface="Aptos"/>
                <a:ea typeface="Aptos"/>
                <a:cs typeface="Aptos"/>
              </a:rPr>
              <a:t>Week / Month / Year</a:t>
            </a:r>
          </a:p>
        </p:txBody>
      </p:sp>
      <p:sp>
        <p:nvSpPr>
          <p:cNvPr id="12" name="Arrow: Down 11">
            <a:extLst>
              <a:ext uri="{FF2B5EF4-FFF2-40B4-BE49-F238E27FC236}">
                <a16:creationId xmlns:a16="http://schemas.microsoft.com/office/drawing/2014/main" id="{1F10C5AD-CEEA-41D7-8871-172BC7645629}"/>
              </a:ext>
            </a:extLst>
          </p:cNvPr>
          <p:cNvSpPr>
            <a:spLocks noGrp="1"/>
          </p:cNvSpPr>
          <p:nvPr/>
        </p:nvSpPr>
        <p:spPr>
          <a:xfrm>
            <a:off x="2286000" y="3409950"/>
            <a:ext cx="171450" cy="561975"/>
          </a:xfrm>
          <a:prstGeom prst="downArrow">
            <a:avLst/>
          </a:prstGeom>
          <a:solidFill>
            <a:srgbClr val="087F8C"/>
          </a:solidFill>
          <a:ln w="0">
            <a:noFill/>
          </a:ln>
        </p:spPr>
      </p:sp>
      <p:sp>
        <p:nvSpPr>
          <p:cNvPr id="13" name="Arrow: Down 12">
            <a:extLst>
              <a:ext uri="{FF2B5EF4-FFF2-40B4-BE49-F238E27FC236}">
                <a16:creationId xmlns:a16="http://schemas.microsoft.com/office/drawing/2014/main" id="{F2FF1E10-7FA7-4D6F-A7C5-CF3591C7E793}"/>
              </a:ext>
            </a:extLst>
          </p:cNvPr>
          <p:cNvSpPr>
            <a:spLocks noGrp="1"/>
          </p:cNvSpPr>
          <p:nvPr/>
        </p:nvSpPr>
        <p:spPr>
          <a:xfrm>
            <a:off x="9829800" y="3409950"/>
            <a:ext cx="171450" cy="561975"/>
          </a:xfrm>
          <a:prstGeom prst="downArrow">
            <a:avLst/>
          </a:prstGeom>
          <a:solidFill>
            <a:srgbClr val="087F8C"/>
          </a:solidFill>
          <a:ln w="0">
            <a:noFill/>
          </a:ln>
        </p:spPr>
      </p:sp>
      <p:sp>
        <p:nvSpPr>
          <p:cNvPr id="14" name="Rectangle 13">
            <a:extLst>
              <a:ext uri="{FF2B5EF4-FFF2-40B4-BE49-F238E27FC236}">
                <a16:creationId xmlns:a16="http://schemas.microsoft.com/office/drawing/2014/main" id="{94435632-0CE9-4D84-B042-7BB4C5C0DB3A}"/>
              </a:ext>
            </a:extLst>
          </p:cNvPr>
          <p:cNvSpPr>
            <a:spLocks noGrp="1"/>
          </p:cNvSpPr>
          <p:nvPr/>
        </p:nvSpPr>
        <p:spPr>
          <a:xfrm>
            <a:off x="2676525" y="3457575"/>
            <a:ext cx="6819900" cy="523875"/>
          </a:xfrm>
          <a:prstGeom prst="rect">
            <a:avLst/>
          </a:prstGeom>
          <a:noFill/>
          <a:ln w="0">
            <a:noFill/>
          </a:ln>
        </p:spPr>
        <p:txBody>
          <a:bodyPr>
            <a:noAutofit/>
          </a:bodyPr>
          <a:lstStyle/>
          <a:p>
            <a:pPr>
              <a:defRPr sz="1650" b="0">
                <a:solidFill>
                  <a:srgbClr val="526778"/>
                </a:solidFill>
                <a:latin typeface="Aptos"/>
                <a:ea typeface="Aptos"/>
                <a:cs typeface="Aptos"/>
              </a:defRPr>
            </a:pPr>
            <a:r>
              <a:rPr sz="1650" b="0">
                <a:solidFill>
                  <a:srgbClr val="526778"/>
                </a:solidFill>
                <a:latin typeface="Aptos"/>
                <a:ea typeface="Aptos"/>
                <a:cs typeface="Aptos"/>
              </a:rPr>
              <a:t>Each dimension filters the fact tables through 1-to-many relationships</a:t>
            </a:r>
          </a:p>
        </p:txBody>
      </p:sp>
      <p:sp>
        <p:nvSpPr>
          <p:cNvPr id="15" name="Rectangle 14">
            <a:extLst>
              <a:ext uri="{FF2B5EF4-FFF2-40B4-BE49-F238E27FC236}">
                <a16:creationId xmlns:a16="http://schemas.microsoft.com/office/drawing/2014/main" id="{650C25FC-7D66-42C0-A045-ACC278FCF0C2}"/>
              </a:ext>
            </a:extLst>
          </p:cNvPr>
          <p:cNvSpPr>
            <a:spLocks noGrp="1"/>
          </p:cNvSpPr>
          <p:nvPr/>
        </p:nvSpPr>
        <p:spPr>
          <a:xfrm>
            <a:off x="609600" y="4143375"/>
            <a:ext cx="3333750" cy="1866900"/>
          </a:xfrm>
          <a:prstGeom prst="rect">
            <a:avLst/>
          </a:prstGeom>
          <a:solidFill>
            <a:srgbClr val="EDF3F6"/>
          </a:solidFill>
          <a:ln w="0">
            <a:noFill/>
          </a:ln>
        </p:spPr>
      </p:sp>
      <p:sp>
        <p:nvSpPr>
          <p:cNvPr id="16" name="Rectangle 15">
            <a:extLst>
              <a:ext uri="{FF2B5EF4-FFF2-40B4-BE49-F238E27FC236}">
                <a16:creationId xmlns:a16="http://schemas.microsoft.com/office/drawing/2014/main" id="{DAA5DF10-CB5D-4B32-B4F6-DE6876B2641D}"/>
              </a:ext>
            </a:extLst>
          </p:cNvPr>
          <p:cNvSpPr>
            <a:spLocks noGrp="1"/>
          </p:cNvSpPr>
          <p:nvPr/>
        </p:nvSpPr>
        <p:spPr>
          <a:xfrm>
            <a:off x="609600" y="4143375"/>
            <a:ext cx="47625" cy="1866900"/>
          </a:xfrm>
          <a:prstGeom prst="rect">
            <a:avLst/>
          </a:prstGeom>
          <a:solidFill>
            <a:srgbClr val="C39035"/>
          </a:solidFill>
          <a:ln w="0">
            <a:noFill/>
          </a:ln>
        </p:spPr>
      </p:sp>
      <p:sp>
        <p:nvSpPr>
          <p:cNvPr id="17" name="Rectangle 16">
            <a:extLst>
              <a:ext uri="{FF2B5EF4-FFF2-40B4-BE49-F238E27FC236}">
                <a16:creationId xmlns:a16="http://schemas.microsoft.com/office/drawing/2014/main" id="{E9ABCB98-4BA7-4E3D-B5B6-B50125E1B7B3}"/>
              </a:ext>
            </a:extLst>
          </p:cNvPr>
          <p:cNvSpPr>
            <a:spLocks noGrp="1"/>
          </p:cNvSpPr>
          <p:nvPr/>
        </p:nvSpPr>
        <p:spPr>
          <a:xfrm>
            <a:off x="781050" y="4276725"/>
            <a:ext cx="3028950" cy="419100"/>
          </a:xfrm>
          <a:prstGeom prst="rect">
            <a:avLst/>
          </a:prstGeom>
          <a:noFill/>
          <a:ln w="0">
            <a:noFill/>
          </a:ln>
        </p:spPr>
        <p:txBody>
          <a:bodyPr>
            <a:noAutofit/>
          </a:bodyPr>
          <a:lstStyle/>
          <a:p>
            <a:pPr>
              <a:defRPr sz="1875" b="1">
                <a:solidFill>
                  <a:srgbClr val="C39035"/>
                </a:solidFill>
                <a:latin typeface="Aptos"/>
                <a:ea typeface="Aptos"/>
                <a:cs typeface="Aptos"/>
              </a:defRPr>
            </a:pPr>
            <a:r>
              <a:rPr sz="1875" b="1">
                <a:solidFill>
                  <a:srgbClr val="C39035"/>
                </a:solidFill>
                <a:latin typeface="Aptos"/>
                <a:ea typeface="Aptos"/>
                <a:cs typeface="Aptos"/>
              </a:rPr>
              <a:t>FactMeasurement</a:t>
            </a:r>
          </a:p>
        </p:txBody>
      </p:sp>
      <p:sp>
        <p:nvSpPr>
          <p:cNvPr id="18" name="Rectangle 17">
            <a:extLst>
              <a:ext uri="{FF2B5EF4-FFF2-40B4-BE49-F238E27FC236}">
                <a16:creationId xmlns:a16="http://schemas.microsoft.com/office/drawing/2014/main" id="{552AEB79-E793-4959-89F2-48B7328C36CB}"/>
              </a:ext>
            </a:extLst>
          </p:cNvPr>
          <p:cNvSpPr>
            <a:spLocks noGrp="1"/>
          </p:cNvSpPr>
          <p:nvPr/>
        </p:nvSpPr>
        <p:spPr>
          <a:xfrm>
            <a:off x="781050" y="4705350"/>
            <a:ext cx="3028950" cy="1247775"/>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One row per measurement</a:t>
            </a:r>
          </a:p>
          <a:p>
            <a:pPr>
              <a:defRPr sz="1500" b="0">
                <a:solidFill>
                  <a:srgbClr val="16324A"/>
                </a:solidFill>
                <a:latin typeface="Aptos"/>
                <a:ea typeface="Aptos"/>
                <a:cs typeface="Aptos"/>
              </a:defRPr>
            </a:pPr>
            <a:r>
              <a:rPr sz="1500" b="0">
                <a:solidFill>
                  <a:srgbClr val="16324A"/>
                </a:solidFill>
                <a:latin typeface="Aptos"/>
                <a:ea typeface="Aptos"/>
                <a:cs typeface="Aptos"/>
              </a:rPr>
              <a:t>MemberKey / DateKey</a:t>
            </a:r>
          </a:p>
          <a:p>
            <a:pPr>
              <a:defRPr sz="1500" b="0">
                <a:solidFill>
                  <a:srgbClr val="16324A"/>
                </a:solidFill>
                <a:latin typeface="Aptos"/>
                <a:ea typeface="Aptos"/>
                <a:cs typeface="Aptos"/>
              </a:defRPr>
            </a:pPr>
            <a:r>
              <a:rPr sz="1500" b="0">
                <a:solidFill>
                  <a:srgbClr val="16324A"/>
                </a:solidFill>
                <a:latin typeface="Aptos"/>
                <a:ea typeface="Aptos"/>
                <a:cs typeface="Aptos"/>
              </a:rPr>
              <a:t>MeasuredAt / WeightKg</a:t>
            </a:r>
          </a:p>
          <a:p>
            <a:pPr>
              <a:defRPr sz="1500" b="0">
                <a:solidFill>
                  <a:srgbClr val="16324A"/>
                </a:solidFill>
                <a:latin typeface="Aptos"/>
                <a:ea typeface="Aptos"/>
                <a:cs typeface="Aptos"/>
              </a:defRPr>
            </a:pPr>
            <a:r>
              <a:rPr sz="1500" b="0">
                <a:solidFill>
                  <a:srgbClr val="16324A"/>
                </a:solidFill>
                <a:latin typeface="Aptos"/>
                <a:ea typeface="Aptos"/>
                <a:cs typeface="Aptos"/>
              </a:rPr>
              <a:t>HeightCm</a:t>
            </a:r>
          </a:p>
        </p:txBody>
      </p:sp>
      <p:sp>
        <p:nvSpPr>
          <p:cNvPr id="19" name="Rectangle 18">
            <a:extLst>
              <a:ext uri="{FF2B5EF4-FFF2-40B4-BE49-F238E27FC236}">
                <a16:creationId xmlns:a16="http://schemas.microsoft.com/office/drawing/2014/main" id="{66D9C16F-425F-466A-82B4-2CFFF1DF4F2E}"/>
              </a:ext>
            </a:extLst>
          </p:cNvPr>
          <p:cNvSpPr>
            <a:spLocks noGrp="1"/>
          </p:cNvSpPr>
          <p:nvPr/>
        </p:nvSpPr>
        <p:spPr>
          <a:xfrm>
            <a:off x="4419600" y="4143375"/>
            <a:ext cx="3333750" cy="1866900"/>
          </a:xfrm>
          <a:prstGeom prst="rect">
            <a:avLst/>
          </a:prstGeom>
          <a:solidFill>
            <a:srgbClr val="EDF3F6"/>
          </a:solidFill>
          <a:ln w="0">
            <a:noFill/>
          </a:ln>
        </p:spPr>
      </p:sp>
      <p:sp>
        <p:nvSpPr>
          <p:cNvPr id="20" name="Rectangle 19">
            <a:extLst>
              <a:ext uri="{FF2B5EF4-FFF2-40B4-BE49-F238E27FC236}">
                <a16:creationId xmlns:a16="http://schemas.microsoft.com/office/drawing/2014/main" id="{7049AACF-D766-420E-8393-303984C400A2}"/>
              </a:ext>
            </a:extLst>
          </p:cNvPr>
          <p:cNvSpPr>
            <a:spLocks noGrp="1"/>
          </p:cNvSpPr>
          <p:nvPr/>
        </p:nvSpPr>
        <p:spPr>
          <a:xfrm>
            <a:off x="4419600" y="4143375"/>
            <a:ext cx="47625" cy="1866900"/>
          </a:xfrm>
          <a:prstGeom prst="rect">
            <a:avLst/>
          </a:prstGeom>
          <a:solidFill>
            <a:srgbClr val="087F8C"/>
          </a:solidFill>
          <a:ln w="0">
            <a:noFill/>
          </a:ln>
        </p:spPr>
      </p:sp>
      <p:sp>
        <p:nvSpPr>
          <p:cNvPr id="21" name="Rectangle 20">
            <a:extLst>
              <a:ext uri="{FF2B5EF4-FFF2-40B4-BE49-F238E27FC236}">
                <a16:creationId xmlns:a16="http://schemas.microsoft.com/office/drawing/2014/main" id="{180AAAD5-2C25-4CC6-8B68-E423BF73166F}"/>
              </a:ext>
            </a:extLst>
          </p:cNvPr>
          <p:cNvSpPr>
            <a:spLocks noGrp="1"/>
          </p:cNvSpPr>
          <p:nvPr/>
        </p:nvSpPr>
        <p:spPr>
          <a:xfrm>
            <a:off x="4591050" y="4276725"/>
            <a:ext cx="3028950" cy="4191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FactSession</a:t>
            </a:r>
          </a:p>
        </p:txBody>
      </p:sp>
      <p:sp>
        <p:nvSpPr>
          <p:cNvPr id="22" name="Rectangle 21">
            <a:extLst>
              <a:ext uri="{FF2B5EF4-FFF2-40B4-BE49-F238E27FC236}">
                <a16:creationId xmlns:a16="http://schemas.microsoft.com/office/drawing/2014/main" id="{482984FE-B94F-4B69-A30B-9BC341360600}"/>
              </a:ext>
            </a:extLst>
          </p:cNvPr>
          <p:cNvSpPr>
            <a:spLocks noGrp="1"/>
          </p:cNvSpPr>
          <p:nvPr/>
        </p:nvSpPr>
        <p:spPr>
          <a:xfrm>
            <a:off x="4591050" y="4705350"/>
            <a:ext cx="3028950" cy="1247775"/>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One row per member-session</a:t>
            </a:r>
          </a:p>
          <a:p>
            <a:pPr>
              <a:defRPr sz="1500" b="0">
                <a:solidFill>
                  <a:srgbClr val="16324A"/>
                </a:solidFill>
                <a:latin typeface="Aptos"/>
                <a:ea typeface="Aptos"/>
                <a:cs typeface="Aptos"/>
              </a:defRPr>
            </a:pPr>
            <a:r>
              <a:rPr sz="1500" b="0">
                <a:solidFill>
                  <a:srgbClr val="16324A"/>
                </a:solidFill>
                <a:latin typeface="Aptos"/>
                <a:ea typeface="Aptos"/>
                <a:cs typeface="Aptos"/>
              </a:rPr>
              <a:t>MemberKey / DateKey</a:t>
            </a:r>
          </a:p>
          <a:p>
            <a:pPr>
              <a:defRPr sz="1500" b="0">
                <a:solidFill>
                  <a:srgbClr val="16324A"/>
                </a:solidFill>
                <a:latin typeface="Aptos"/>
                <a:ea typeface="Aptos"/>
                <a:cs typeface="Aptos"/>
              </a:defRPr>
            </a:pPr>
            <a:r>
              <a:rPr sz="1500" b="0">
                <a:solidFill>
                  <a:srgbClr val="16324A"/>
                </a:solidFill>
                <a:latin typeface="Aptos"/>
                <a:ea typeface="Aptos"/>
                <a:cs typeface="Aptos"/>
              </a:rPr>
              <a:t>ActivityType / Status</a:t>
            </a:r>
          </a:p>
          <a:p>
            <a:pPr>
              <a:defRPr sz="1500" b="0">
                <a:solidFill>
                  <a:srgbClr val="16324A"/>
                </a:solidFill>
                <a:latin typeface="Aptos"/>
                <a:ea typeface="Aptos"/>
                <a:cs typeface="Aptos"/>
              </a:defRPr>
            </a:pPr>
            <a:r>
              <a:rPr sz="1500" b="0">
                <a:solidFill>
                  <a:srgbClr val="16324A"/>
                </a:solidFill>
                <a:latin typeface="Aptos"/>
                <a:ea typeface="Aptos"/>
                <a:cs typeface="Aptos"/>
              </a:rPr>
              <a:t>DurationMinutes</a:t>
            </a:r>
          </a:p>
        </p:txBody>
      </p:sp>
      <p:sp>
        <p:nvSpPr>
          <p:cNvPr id="23" name="Rectangle 22">
            <a:extLst>
              <a:ext uri="{FF2B5EF4-FFF2-40B4-BE49-F238E27FC236}">
                <a16:creationId xmlns:a16="http://schemas.microsoft.com/office/drawing/2014/main" id="{4BA7EE49-7BBB-4718-89A6-784D5EB6BB3A}"/>
              </a:ext>
            </a:extLst>
          </p:cNvPr>
          <p:cNvSpPr>
            <a:spLocks noGrp="1"/>
          </p:cNvSpPr>
          <p:nvPr/>
        </p:nvSpPr>
        <p:spPr>
          <a:xfrm>
            <a:off x="8229600" y="4143375"/>
            <a:ext cx="3333750" cy="1866900"/>
          </a:xfrm>
          <a:prstGeom prst="rect">
            <a:avLst/>
          </a:prstGeom>
          <a:solidFill>
            <a:srgbClr val="EDF3F6"/>
          </a:solidFill>
          <a:ln w="0">
            <a:noFill/>
          </a:ln>
        </p:spPr>
      </p:sp>
      <p:sp>
        <p:nvSpPr>
          <p:cNvPr id="24" name="Rectangle 23">
            <a:extLst>
              <a:ext uri="{FF2B5EF4-FFF2-40B4-BE49-F238E27FC236}">
                <a16:creationId xmlns:a16="http://schemas.microsoft.com/office/drawing/2014/main" id="{CB2AE9D7-4F5D-44A4-A650-3EC5D4CDF6AE}"/>
              </a:ext>
            </a:extLst>
          </p:cNvPr>
          <p:cNvSpPr>
            <a:spLocks noGrp="1"/>
          </p:cNvSpPr>
          <p:nvPr/>
        </p:nvSpPr>
        <p:spPr>
          <a:xfrm>
            <a:off x="8229600" y="4143375"/>
            <a:ext cx="47625" cy="1866900"/>
          </a:xfrm>
          <a:prstGeom prst="rect">
            <a:avLst/>
          </a:prstGeom>
          <a:solidFill>
            <a:srgbClr val="087F8C"/>
          </a:solidFill>
          <a:ln w="0">
            <a:noFill/>
          </a:ln>
        </p:spPr>
      </p:sp>
      <p:sp>
        <p:nvSpPr>
          <p:cNvPr id="25" name="Rectangle 24">
            <a:extLst>
              <a:ext uri="{FF2B5EF4-FFF2-40B4-BE49-F238E27FC236}">
                <a16:creationId xmlns:a16="http://schemas.microsoft.com/office/drawing/2014/main" id="{4D432EC8-9B4D-4614-9DE6-E2ED1FDA7703}"/>
              </a:ext>
            </a:extLst>
          </p:cNvPr>
          <p:cNvSpPr>
            <a:spLocks noGrp="1"/>
          </p:cNvSpPr>
          <p:nvPr/>
        </p:nvSpPr>
        <p:spPr>
          <a:xfrm>
            <a:off x="8401050" y="4276725"/>
            <a:ext cx="3028950" cy="4191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FactGoal</a:t>
            </a:r>
          </a:p>
        </p:txBody>
      </p:sp>
      <p:sp>
        <p:nvSpPr>
          <p:cNvPr id="26" name="Rectangle 25">
            <a:extLst>
              <a:ext uri="{FF2B5EF4-FFF2-40B4-BE49-F238E27FC236}">
                <a16:creationId xmlns:a16="http://schemas.microsoft.com/office/drawing/2014/main" id="{7F4C1FAB-584A-4E10-9EB3-D9C2804C0A5A}"/>
              </a:ext>
            </a:extLst>
          </p:cNvPr>
          <p:cNvSpPr>
            <a:spLocks noGrp="1"/>
          </p:cNvSpPr>
          <p:nvPr/>
        </p:nvSpPr>
        <p:spPr>
          <a:xfrm>
            <a:off x="8401050" y="4705350"/>
            <a:ext cx="3028950" cy="1247775"/>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One row per member-goal</a:t>
            </a:r>
          </a:p>
          <a:p>
            <a:pPr>
              <a:defRPr sz="1500" b="0">
                <a:solidFill>
                  <a:srgbClr val="16324A"/>
                </a:solidFill>
                <a:latin typeface="Aptos"/>
                <a:ea typeface="Aptos"/>
                <a:cs typeface="Aptos"/>
              </a:defRPr>
            </a:pPr>
            <a:r>
              <a:rPr sz="1500" b="0">
                <a:solidFill>
                  <a:srgbClr val="16324A"/>
                </a:solidFill>
                <a:latin typeface="Aptos"/>
                <a:ea typeface="Aptos"/>
                <a:cs typeface="Aptos"/>
              </a:rPr>
              <a:t>MemberKey / TargetDateKey</a:t>
            </a:r>
          </a:p>
          <a:p>
            <a:pPr>
              <a:defRPr sz="1500" b="0">
                <a:solidFill>
                  <a:srgbClr val="16324A"/>
                </a:solidFill>
                <a:latin typeface="Aptos"/>
                <a:ea typeface="Aptos"/>
                <a:cs typeface="Aptos"/>
              </a:defRPr>
            </a:pPr>
            <a:r>
              <a:rPr sz="1500" b="0">
                <a:solidFill>
                  <a:srgbClr val="16324A"/>
                </a:solidFill>
                <a:latin typeface="Aptos"/>
                <a:ea typeface="Aptos"/>
                <a:cs typeface="Aptos"/>
              </a:rPr>
              <a:t>Metric / TargetValue / Unit</a:t>
            </a:r>
          </a:p>
          <a:p>
            <a:pPr>
              <a:defRPr sz="1500" b="0">
                <a:solidFill>
                  <a:srgbClr val="16324A"/>
                </a:solidFill>
                <a:latin typeface="Aptos"/>
                <a:ea typeface="Aptos"/>
                <a:cs typeface="Aptos"/>
              </a:defRPr>
            </a:pPr>
            <a:r>
              <a:rPr sz="1500" b="0">
                <a:solidFill>
                  <a:srgbClr val="16324A"/>
                </a:solidFill>
                <a:latin typeface="Aptos"/>
                <a:ea typeface="Aptos"/>
                <a:cs typeface="Aptos"/>
              </a:rPr>
              <a:t>StartDate / TargetDate</a:t>
            </a:r>
          </a:p>
        </p:txBody>
      </p:sp>
    </p:spTree>
    <p:extLst>
      <p:ext uri="{BB962C8B-B14F-4D97-AF65-F5344CB8AC3E}">
        <p14:creationId xmlns:p14="http://schemas.microsoft.com/office/powerpoint/2010/main" val="934336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D93C637-8A0C-48E3-B834-DCEB10A83C93}"/>
              </a:ext>
            </a:extLst>
          </p:cNvPr>
          <p:cNvSpPr>
            <a:spLocks noGrp="1"/>
          </p:cNvSpPr>
          <p:nvPr/>
        </p:nvSpPr>
        <p:spPr>
          <a:xfrm>
            <a:off x="609600" y="457200"/>
            <a:ext cx="10972800" cy="666750"/>
          </a:xfrm>
          <a:prstGeom prst="rect">
            <a:avLst/>
          </a:prstGeom>
          <a:noFill/>
          <a:ln w="0">
            <a:noFill/>
          </a:ln>
        </p:spPr>
        <p:txBody>
          <a:bodyPr>
            <a:noAutofit/>
          </a:bodyPr>
          <a:lstStyle/>
          <a:p>
            <a:pPr>
              <a:defRPr sz="3150" b="1">
                <a:solidFill>
                  <a:srgbClr val="10283F"/>
                </a:solidFill>
                <a:latin typeface="Aptos"/>
                <a:ea typeface="Aptos"/>
                <a:cs typeface="Aptos"/>
              </a:defRPr>
            </a:pPr>
            <a:r>
              <a:rPr sz="3150" b="1">
                <a:solidFill>
                  <a:srgbClr val="10283F"/>
                </a:solidFill>
                <a:latin typeface="Aptos"/>
                <a:ea typeface="Aptos"/>
                <a:cs typeface="Aptos"/>
              </a:rPr>
              <a:t>Power BI Semantic Model</a:t>
            </a:r>
          </a:p>
        </p:txBody>
      </p:sp>
      <p:sp>
        <p:nvSpPr>
          <p:cNvPr id="2" name="Rectangle 1">
            <a:extLst>
              <a:ext uri="{FF2B5EF4-FFF2-40B4-BE49-F238E27FC236}">
                <a16:creationId xmlns:a16="http://schemas.microsoft.com/office/drawing/2014/main" id="{C2D60593-E1BE-4650-A867-46DCA61F3586}"/>
              </a:ext>
            </a:extLst>
          </p:cNvPr>
          <p:cNvSpPr>
            <a:spLocks noGrp="1"/>
          </p:cNvSpPr>
          <p:nvPr/>
        </p:nvSpPr>
        <p:spPr>
          <a:xfrm>
            <a:off x="609600" y="1219200"/>
            <a:ext cx="10972800" cy="590550"/>
          </a:xfrm>
          <a:prstGeom prst="rect">
            <a:avLst/>
          </a:prstGeom>
          <a:noFill/>
          <a:ln w="0">
            <a:noFill/>
          </a:ln>
        </p:spPr>
        <p:txBody>
          <a:bodyPr>
            <a:noAutofit/>
          </a:bodyPr>
          <a:lstStyle/>
          <a:p>
            <a:pPr>
              <a:defRPr sz="1725" b="0">
                <a:solidFill>
                  <a:srgbClr val="526778"/>
                </a:solidFill>
                <a:latin typeface="Aptos"/>
                <a:ea typeface="Aptos"/>
                <a:cs typeface="Aptos"/>
              </a:defRPr>
            </a:pPr>
            <a:r>
              <a:rPr sz="1725" b="0">
                <a:solidFill>
                  <a:srgbClr val="526778"/>
                </a:solidFill>
                <a:latin typeface="Aptos"/>
                <a:ea typeface="Aptos"/>
                <a:cs typeface="Aptos"/>
              </a:rPr>
              <a:t>Measures distinguish latest readings from activity totals</a:t>
            </a:r>
          </a:p>
        </p:txBody>
      </p:sp>
      <p:sp>
        <p:nvSpPr>
          <p:cNvPr id="3" name="Rectangle 2">
            <a:extLst>
              <a:ext uri="{FF2B5EF4-FFF2-40B4-BE49-F238E27FC236}">
                <a16:creationId xmlns:a16="http://schemas.microsoft.com/office/drawing/2014/main" id="{CB8F9C07-39BE-49B1-BE9C-A64FF00B6DAD}"/>
              </a:ext>
            </a:extLst>
          </p:cNvPr>
          <p:cNvSpPr>
            <a:spLocks noGrp="1"/>
          </p:cNvSpPr>
          <p:nvPr/>
        </p:nvSpPr>
        <p:spPr>
          <a:xfrm>
            <a:off x="11049000" y="6410325"/>
            <a:ext cx="523875" cy="238125"/>
          </a:xfrm>
          <a:prstGeom prst="rect">
            <a:avLst/>
          </a:prstGeom>
          <a:noFill/>
          <a:ln w="0">
            <a:noFill/>
          </a:ln>
        </p:spPr>
        <p:txBody>
          <a:bodyPr>
            <a:noAutofit/>
          </a:bodyPr>
          <a:lstStyle/>
          <a:p>
            <a:pPr>
              <a:defRPr sz="1125" b="0">
                <a:solidFill>
                  <a:srgbClr val="526778"/>
                </a:solidFill>
                <a:latin typeface="Aptos"/>
                <a:ea typeface="Aptos"/>
                <a:cs typeface="Aptos"/>
              </a:defRPr>
            </a:pPr>
            <a:r>
              <a:rPr sz="1125" b="0">
                <a:solidFill>
                  <a:srgbClr val="526778"/>
                </a:solidFill>
                <a:latin typeface="Aptos"/>
                <a:ea typeface="Aptos"/>
                <a:cs typeface="Aptos"/>
              </a:rPr>
              <a:t>10</a:t>
            </a:r>
          </a:p>
        </p:txBody>
      </p:sp>
      <p:sp>
        <p:nvSpPr>
          <p:cNvPr id="4" name="Rectangle 3">
            <a:extLst>
              <a:ext uri="{FF2B5EF4-FFF2-40B4-BE49-F238E27FC236}">
                <a16:creationId xmlns:a16="http://schemas.microsoft.com/office/drawing/2014/main" id="{41050A53-5C57-4D49-B587-BCF5DFEC95EC}"/>
              </a:ext>
            </a:extLst>
          </p:cNvPr>
          <p:cNvSpPr>
            <a:spLocks noGrp="1"/>
          </p:cNvSpPr>
          <p:nvPr/>
        </p:nvSpPr>
        <p:spPr>
          <a:xfrm>
            <a:off x="609600" y="2095500"/>
            <a:ext cx="4953000" cy="428625"/>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Model rules</a:t>
            </a:r>
          </a:p>
        </p:txBody>
      </p:sp>
      <p:sp>
        <p:nvSpPr>
          <p:cNvPr id="5" name="Rectangle 4">
            <a:extLst>
              <a:ext uri="{FF2B5EF4-FFF2-40B4-BE49-F238E27FC236}">
                <a16:creationId xmlns:a16="http://schemas.microsoft.com/office/drawing/2014/main" id="{2CACA94A-63A3-4A02-998B-B41837A4C19A}"/>
              </a:ext>
            </a:extLst>
          </p:cNvPr>
          <p:cNvSpPr>
            <a:spLocks noGrp="1"/>
          </p:cNvSpPr>
          <p:nvPr/>
        </p:nvSpPr>
        <p:spPr>
          <a:xfrm>
            <a:off x="609600" y="2771775"/>
            <a:ext cx="5238750" cy="2857500"/>
          </a:xfrm>
          <a:prstGeom prst="rect">
            <a:avLst/>
          </a:prstGeom>
          <a:noFill/>
          <a:ln w="0">
            <a:noFill/>
          </a:ln>
        </p:spPr>
        <p:txBody>
          <a:bodyPr>
            <a:noAutofit/>
          </a:bodyPr>
          <a:lstStyle/>
          <a:p>
            <a:pPr>
              <a:defRPr sz="1875" b="0">
                <a:solidFill>
                  <a:srgbClr val="16324A"/>
                </a:solidFill>
                <a:latin typeface="Aptos"/>
                <a:ea typeface="Aptos"/>
                <a:cs typeface="Aptos"/>
              </a:defRPr>
            </a:pPr>
            <a:r>
              <a:rPr sz="1875" b="0">
                <a:solidFill>
                  <a:srgbClr val="16324A"/>
                </a:solidFill>
                <a:latin typeface="Aptos"/>
                <a:ea typeface="Aptos"/>
                <a:cs typeface="Aptos"/>
              </a:rPr>
              <a:t>Connect through SQL Warehouse</a:t>
            </a:r>
          </a:p>
          <a:p>
            <a:endParaRPr sz="1875" b="0">
              <a:solidFill>
                <a:srgbClr val="16324A"/>
              </a:solidFill>
              <a:latin typeface="Aptos"/>
              <a:ea typeface="Aptos"/>
              <a:cs typeface="Aptos"/>
            </a:endParaRPr>
          </a:p>
          <a:p>
            <a:pPr>
              <a:defRPr sz="1875" b="0">
                <a:solidFill>
                  <a:srgbClr val="16324A"/>
                </a:solidFill>
                <a:latin typeface="Aptos"/>
                <a:ea typeface="Aptos"/>
                <a:cs typeface="Aptos"/>
              </a:defRPr>
            </a:pPr>
            <a:r>
              <a:rPr sz="1875" b="0">
                <a:solidFill>
                  <a:srgbClr val="16324A"/>
                </a:solidFill>
                <a:latin typeface="Aptos"/>
                <a:ea typeface="Aptos"/>
                <a:cs typeface="Aptos"/>
              </a:rPr>
              <a:t>Use shared member and date filters</a:t>
            </a:r>
          </a:p>
          <a:p>
            <a:endParaRPr sz="1875" b="0">
              <a:solidFill>
                <a:srgbClr val="16324A"/>
              </a:solidFill>
              <a:latin typeface="Aptos"/>
              <a:ea typeface="Aptos"/>
              <a:cs typeface="Aptos"/>
            </a:endParaRPr>
          </a:p>
          <a:p>
            <a:pPr>
              <a:defRPr sz="1875" b="0">
                <a:solidFill>
                  <a:srgbClr val="16324A"/>
                </a:solidFill>
                <a:latin typeface="Aptos"/>
                <a:ea typeface="Aptos"/>
                <a:cs typeface="Aptos"/>
              </a:defRPr>
            </a:pPr>
            <a:r>
              <a:rPr sz="1875" b="0">
                <a:solidFill>
                  <a:srgbClr val="16324A"/>
                </a:solidFill>
                <a:latin typeface="Aptos"/>
                <a:ea typeface="Aptos"/>
                <a:cs typeface="Aptos"/>
              </a:rPr>
              <a:t>Keep measurements and sessions separate</a:t>
            </a:r>
          </a:p>
          <a:p>
            <a:endParaRPr sz="1875" b="0">
              <a:solidFill>
                <a:srgbClr val="16324A"/>
              </a:solidFill>
              <a:latin typeface="Aptos"/>
              <a:ea typeface="Aptos"/>
              <a:cs typeface="Aptos"/>
            </a:endParaRPr>
          </a:p>
          <a:p>
            <a:pPr>
              <a:defRPr sz="1875" b="0">
                <a:solidFill>
                  <a:srgbClr val="16324A"/>
                </a:solidFill>
                <a:latin typeface="Aptos"/>
                <a:ea typeface="Aptos"/>
                <a:cs typeface="Aptos"/>
              </a:defRPr>
            </a:pPr>
            <a:r>
              <a:rPr sz="1875" b="0">
                <a:solidFill>
                  <a:srgbClr val="16324A"/>
                </a:solidFill>
                <a:latin typeface="Aptos"/>
                <a:ea typeface="Aptos"/>
                <a:cs typeface="Aptos"/>
              </a:rPr>
              <a:t>Scope access to the signed-in user</a:t>
            </a:r>
          </a:p>
        </p:txBody>
      </p:sp>
      <p:sp>
        <p:nvSpPr>
          <p:cNvPr id="6" name="Rectangle 5">
            <a:extLst>
              <a:ext uri="{FF2B5EF4-FFF2-40B4-BE49-F238E27FC236}">
                <a16:creationId xmlns:a16="http://schemas.microsoft.com/office/drawing/2014/main" id="{4CF5B4AD-0CA6-49C7-A034-E301D4DEC547}"/>
              </a:ext>
            </a:extLst>
          </p:cNvPr>
          <p:cNvSpPr>
            <a:spLocks noGrp="1"/>
          </p:cNvSpPr>
          <p:nvPr/>
        </p:nvSpPr>
        <p:spPr>
          <a:xfrm>
            <a:off x="6724650" y="2095500"/>
            <a:ext cx="4657725" cy="428625"/>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Metric definitions</a:t>
            </a:r>
          </a:p>
        </p:txBody>
      </p:sp>
      <p:sp>
        <p:nvSpPr>
          <p:cNvPr id="7" name="Rectangle 6">
            <a:extLst>
              <a:ext uri="{FF2B5EF4-FFF2-40B4-BE49-F238E27FC236}">
                <a16:creationId xmlns:a16="http://schemas.microsoft.com/office/drawing/2014/main" id="{5CE02631-A409-4C78-A56C-F7BEA3E7103F}"/>
              </a:ext>
            </a:extLst>
          </p:cNvPr>
          <p:cNvSpPr>
            <a:spLocks noGrp="1"/>
          </p:cNvSpPr>
          <p:nvPr/>
        </p:nvSpPr>
        <p:spPr>
          <a:xfrm>
            <a:off x="6724650" y="2781300"/>
            <a:ext cx="4657725" cy="314325"/>
          </a:xfrm>
          <a:prstGeom prst="rect">
            <a:avLst/>
          </a:prstGeom>
          <a:noFill/>
          <a:ln w="0">
            <a:noFill/>
          </a:ln>
        </p:spPr>
        <p:txBody>
          <a:bodyPr>
            <a:noAutofit/>
          </a:bodyPr>
          <a:lstStyle/>
          <a:p>
            <a:pPr>
              <a:defRPr sz="1800" b="1">
                <a:solidFill>
                  <a:srgbClr val="10283F"/>
                </a:solidFill>
                <a:latin typeface="Aptos"/>
                <a:ea typeface="Aptos"/>
                <a:cs typeface="Aptos"/>
              </a:defRPr>
            </a:pPr>
            <a:r>
              <a:rPr sz="1800" b="1">
                <a:solidFill>
                  <a:srgbClr val="10283F"/>
                </a:solidFill>
                <a:latin typeface="Aptos"/>
                <a:ea typeface="Aptos"/>
                <a:cs typeface="Aptos"/>
              </a:rPr>
              <a:t>Latest weight / height</a:t>
            </a:r>
          </a:p>
        </p:txBody>
      </p:sp>
      <p:sp>
        <p:nvSpPr>
          <p:cNvPr id="8" name="Rectangle 7">
            <a:extLst>
              <a:ext uri="{FF2B5EF4-FFF2-40B4-BE49-F238E27FC236}">
                <a16:creationId xmlns:a16="http://schemas.microsoft.com/office/drawing/2014/main" id="{B31372A6-4186-4F8B-82E5-174BE70C3901}"/>
              </a:ext>
            </a:extLst>
          </p:cNvPr>
          <p:cNvSpPr>
            <a:spLocks noGrp="1"/>
          </p:cNvSpPr>
          <p:nvPr/>
        </p:nvSpPr>
        <p:spPr>
          <a:xfrm>
            <a:off x="6724650" y="3143250"/>
            <a:ext cx="4657725" cy="485775"/>
          </a:xfrm>
          <a:prstGeom prst="rect">
            <a:avLst/>
          </a:prstGeom>
          <a:noFill/>
          <a:ln w="0">
            <a:noFill/>
          </a:ln>
        </p:spPr>
        <p:txBody>
          <a:bodyPr>
            <a:noAutofit/>
          </a:bodyPr>
          <a:lstStyle/>
          <a:p>
            <a:pPr>
              <a:defRPr sz="1575" b="0">
                <a:solidFill>
                  <a:srgbClr val="526778"/>
                </a:solidFill>
                <a:latin typeface="Aptos"/>
                <a:ea typeface="Aptos"/>
                <a:cs typeface="Aptos"/>
              </a:defRPr>
            </a:pPr>
            <a:r>
              <a:rPr sz="1575" b="0">
                <a:solidFill>
                  <a:srgbClr val="526778"/>
                </a:solidFill>
                <a:latin typeface="Aptos"/>
                <a:ea typeface="Aptos"/>
                <a:cs typeface="Aptos"/>
              </a:rPr>
              <a:t>Last nonblank value as of the selected date</a:t>
            </a:r>
          </a:p>
        </p:txBody>
      </p:sp>
      <p:sp>
        <p:nvSpPr>
          <p:cNvPr id="9" name="Rectangle 8">
            <a:extLst>
              <a:ext uri="{FF2B5EF4-FFF2-40B4-BE49-F238E27FC236}">
                <a16:creationId xmlns:a16="http://schemas.microsoft.com/office/drawing/2014/main" id="{48037069-2096-401A-928E-0C9DE6454B0E}"/>
              </a:ext>
            </a:extLst>
          </p:cNvPr>
          <p:cNvSpPr>
            <a:spLocks noGrp="1"/>
          </p:cNvSpPr>
          <p:nvPr/>
        </p:nvSpPr>
        <p:spPr>
          <a:xfrm>
            <a:off x="6724650" y="3695700"/>
            <a:ext cx="4657725" cy="314325"/>
          </a:xfrm>
          <a:prstGeom prst="rect">
            <a:avLst/>
          </a:prstGeom>
          <a:noFill/>
          <a:ln w="0">
            <a:noFill/>
          </a:ln>
        </p:spPr>
        <p:txBody>
          <a:bodyPr>
            <a:noAutofit/>
          </a:bodyPr>
          <a:lstStyle/>
          <a:p>
            <a:pPr>
              <a:defRPr sz="1800" b="1">
                <a:solidFill>
                  <a:srgbClr val="10283F"/>
                </a:solidFill>
                <a:latin typeface="Aptos"/>
                <a:ea typeface="Aptos"/>
                <a:cs typeface="Aptos"/>
              </a:defRPr>
            </a:pPr>
            <a:r>
              <a:rPr sz="1800" b="1">
                <a:solidFill>
                  <a:srgbClr val="10283F"/>
                </a:solidFill>
                <a:latin typeface="Aptos"/>
                <a:ea typeface="Aptos"/>
                <a:cs typeface="Aptos"/>
              </a:rPr>
              <a:t>Attendance rate</a:t>
            </a:r>
          </a:p>
        </p:txBody>
      </p:sp>
      <p:sp>
        <p:nvSpPr>
          <p:cNvPr id="10" name="Rectangle 9">
            <a:extLst>
              <a:ext uri="{FF2B5EF4-FFF2-40B4-BE49-F238E27FC236}">
                <a16:creationId xmlns:a16="http://schemas.microsoft.com/office/drawing/2014/main" id="{59B742F3-D781-4A41-BC43-25EE1093D7AF}"/>
              </a:ext>
            </a:extLst>
          </p:cNvPr>
          <p:cNvSpPr>
            <a:spLocks noGrp="1"/>
          </p:cNvSpPr>
          <p:nvPr/>
        </p:nvSpPr>
        <p:spPr>
          <a:xfrm>
            <a:off x="6724650" y="4057650"/>
            <a:ext cx="4657725" cy="485775"/>
          </a:xfrm>
          <a:prstGeom prst="rect">
            <a:avLst/>
          </a:prstGeom>
          <a:noFill/>
          <a:ln w="0">
            <a:noFill/>
          </a:ln>
        </p:spPr>
        <p:txBody>
          <a:bodyPr>
            <a:noAutofit/>
          </a:bodyPr>
          <a:lstStyle/>
          <a:p>
            <a:pPr>
              <a:defRPr sz="1575" b="0">
                <a:solidFill>
                  <a:srgbClr val="526778"/>
                </a:solidFill>
                <a:latin typeface="Aptos"/>
                <a:ea typeface="Aptos"/>
                <a:cs typeface="Aptos"/>
              </a:defRPr>
            </a:pPr>
            <a:r>
              <a:rPr sz="1575" b="0">
                <a:solidFill>
                  <a:srgbClr val="526778"/>
                </a:solidFill>
                <a:latin typeface="Aptos"/>
                <a:ea typeface="Aptos"/>
                <a:cs typeface="Aptos"/>
              </a:rPr>
              <a:t>Attended / eligible planned sessions</a:t>
            </a:r>
          </a:p>
        </p:txBody>
      </p:sp>
      <p:sp>
        <p:nvSpPr>
          <p:cNvPr id="11" name="Rectangle 10">
            <a:extLst>
              <a:ext uri="{FF2B5EF4-FFF2-40B4-BE49-F238E27FC236}">
                <a16:creationId xmlns:a16="http://schemas.microsoft.com/office/drawing/2014/main" id="{9F3ED7BE-2335-4361-A028-C90F2DB1A138}"/>
              </a:ext>
            </a:extLst>
          </p:cNvPr>
          <p:cNvSpPr>
            <a:spLocks noGrp="1"/>
          </p:cNvSpPr>
          <p:nvPr/>
        </p:nvSpPr>
        <p:spPr>
          <a:xfrm>
            <a:off x="6724650" y="4610100"/>
            <a:ext cx="4657725" cy="314325"/>
          </a:xfrm>
          <a:prstGeom prst="rect">
            <a:avLst/>
          </a:prstGeom>
          <a:noFill/>
          <a:ln w="0">
            <a:noFill/>
          </a:ln>
        </p:spPr>
        <p:txBody>
          <a:bodyPr>
            <a:noAutofit/>
          </a:bodyPr>
          <a:lstStyle/>
          <a:p>
            <a:pPr>
              <a:defRPr sz="1800" b="1">
                <a:solidFill>
                  <a:srgbClr val="10283F"/>
                </a:solidFill>
                <a:latin typeface="Aptos"/>
                <a:ea typeface="Aptos"/>
                <a:cs typeface="Aptos"/>
              </a:defRPr>
            </a:pPr>
            <a:r>
              <a:rPr sz="1800" b="1">
                <a:solidFill>
                  <a:srgbClr val="10283F"/>
                </a:solidFill>
                <a:latin typeface="Aptos"/>
                <a:ea typeface="Aptos"/>
                <a:cs typeface="Aptos"/>
              </a:rPr>
              <a:t>Workout minutes</a:t>
            </a:r>
          </a:p>
        </p:txBody>
      </p:sp>
      <p:sp>
        <p:nvSpPr>
          <p:cNvPr id="12" name="Rectangle 11">
            <a:extLst>
              <a:ext uri="{FF2B5EF4-FFF2-40B4-BE49-F238E27FC236}">
                <a16:creationId xmlns:a16="http://schemas.microsoft.com/office/drawing/2014/main" id="{8CE8C6EE-D0DC-4C70-A681-F898AF8B7935}"/>
              </a:ext>
            </a:extLst>
          </p:cNvPr>
          <p:cNvSpPr>
            <a:spLocks noGrp="1"/>
          </p:cNvSpPr>
          <p:nvPr/>
        </p:nvSpPr>
        <p:spPr>
          <a:xfrm>
            <a:off x="6724650" y="4972050"/>
            <a:ext cx="4657725" cy="485775"/>
          </a:xfrm>
          <a:prstGeom prst="rect">
            <a:avLst/>
          </a:prstGeom>
          <a:noFill/>
          <a:ln w="0">
            <a:noFill/>
          </a:ln>
        </p:spPr>
        <p:txBody>
          <a:bodyPr>
            <a:noAutofit/>
          </a:bodyPr>
          <a:lstStyle/>
          <a:p>
            <a:pPr>
              <a:defRPr sz="1575" b="0">
                <a:solidFill>
                  <a:srgbClr val="526778"/>
                </a:solidFill>
                <a:latin typeface="Aptos"/>
                <a:ea typeface="Aptos"/>
                <a:cs typeface="Aptos"/>
              </a:defRPr>
            </a:pPr>
            <a:r>
              <a:rPr sz="1575" b="0">
                <a:solidFill>
                  <a:srgbClr val="526778"/>
                </a:solidFill>
                <a:latin typeface="Aptos"/>
                <a:ea typeface="Aptos"/>
                <a:cs typeface="Aptos"/>
              </a:rPr>
              <a:t>Sum of duration for attended sessions</a:t>
            </a:r>
          </a:p>
        </p:txBody>
      </p:sp>
      <p:sp>
        <p:nvSpPr>
          <p:cNvPr id="13" name="Rectangle 12">
            <a:extLst>
              <a:ext uri="{FF2B5EF4-FFF2-40B4-BE49-F238E27FC236}">
                <a16:creationId xmlns:a16="http://schemas.microsoft.com/office/drawing/2014/main" id="{0AA32E91-E25F-4C95-876A-2F696ADFE310}"/>
              </a:ext>
            </a:extLst>
          </p:cNvPr>
          <p:cNvSpPr>
            <a:spLocks noGrp="1"/>
          </p:cNvSpPr>
          <p:nvPr/>
        </p:nvSpPr>
        <p:spPr>
          <a:xfrm>
            <a:off x="609600" y="6000750"/>
            <a:ext cx="10953750" cy="381000"/>
          </a:xfrm>
          <a:prstGeom prst="rect">
            <a:avLst/>
          </a:prstGeom>
          <a:noFill/>
          <a:ln w="0">
            <a:noFill/>
          </a:ln>
        </p:spPr>
        <p:txBody>
          <a:bodyPr>
            <a:noAutofit/>
          </a:bodyPr>
          <a:lstStyle/>
          <a:p>
            <a:pPr>
              <a:defRPr sz="1725" b="1">
                <a:solidFill>
                  <a:srgbClr val="087F8C"/>
                </a:solidFill>
                <a:latin typeface="Aptos"/>
                <a:ea typeface="Aptos"/>
                <a:cs typeface="Aptos"/>
              </a:defRPr>
            </a:pPr>
            <a:r>
              <a:rPr sz="1725" b="1">
                <a:solidFill>
                  <a:srgbClr val="087F8C"/>
                </a:solidFill>
                <a:latin typeface="Aptos"/>
                <a:ea typeface="Aptos"/>
                <a:cs typeface="Aptos"/>
              </a:rPr>
              <a:t>Every measurement card shows its own recorded date</a:t>
            </a:r>
          </a:p>
        </p:txBody>
      </p:sp>
    </p:spTree>
    <p:extLst>
      <p:ext uri="{BB962C8B-B14F-4D97-AF65-F5344CB8AC3E}">
        <p14:creationId xmlns:p14="http://schemas.microsoft.com/office/powerpoint/2010/main" val="260778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933106B4-AB03-4899-9921-3705808C6943}"/>
              </a:ext>
            </a:extLst>
          </p:cNvPr>
          <p:cNvSpPr>
            <a:spLocks noGrp="1"/>
          </p:cNvSpPr>
          <p:nvPr/>
        </p:nvSpPr>
        <p:spPr>
          <a:xfrm>
            <a:off x="609600" y="457200"/>
            <a:ext cx="10972800" cy="666750"/>
          </a:xfrm>
          <a:prstGeom prst="rect">
            <a:avLst/>
          </a:prstGeom>
          <a:noFill/>
          <a:ln w="0">
            <a:noFill/>
          </a:ln>
        </p:spPr>
        <p:txBody>
          <a:bodyPr>
            <a:noAutofit/>
          </a:bodyPr>
          <a:lstStyle/>
          <a:p>
            <a:pPr>
              <a:defRPr sz="3150" b="1">
                <a:solidFill>
                  <a:srgbClr val="10283F"/>
                </a:solidFill>
                <a:latin typeface="Aptos"/>
                <a:ea typeface="Aptos"/>
                <a:cs typeface="Aptos"/>
              </a:defRPr>
            </a:pPr>
            <a:r>
              <a:rPr sz="3150" b="1">
                <a:solidFill>
                  <a:srgbClr val="10283F"/>
                </a:solidFill>
                <a:latin typeface="Aptos"/>
                <a:ea typeface="Aptos"/>
                <a:cs typeface="Aptos"/>
              </a:rPr>
              <a:t>Interactive Fitness Dashboard</a:t>
            </a:r>
          </a:p>
        </p:txBody>
      </p:sp>
      <p:sp>
        <p:nvSpPr>
          <p:cNvPr id="2" name="Rectangle 1">
            <a:extLst>
              <a:ext uri="{FF2B5EF4-FFF2-40B4-BE49-F238E27FC236}">
                <a16:creationId xmlns:a16="http://schemas.microsoft.com/office/drawing/2014/main" id="{DF15716F-D0DE-4781-B1C6-6B2FF158574F}"/>
              </a:ext>
            </a:extLst>
          </p:cNvPr>
          <p:cNvSpPr>
            <a:spLocks noGrp="1"/>
          </p:cNvSpPr>
          <p:nvPr/>
        </p:nvSpPr>
        <p:spPr>
          <a:xfrm>
            <a:off x="609600" y="1219200"/>
            <a:ext cx="10972800" cy="590550"/>
          </a:xfrm>
          <a:prstGeom prst="rect">
            <a:avLst/>
          </a:prstGeom>
          <a:noFill/>
          <a:ln w="0">
            <a:noFill/>
          </a:ln>
        </p:spPr>
        <p:txBody>
          <a:bodyPr>
            <a:noAutofit/>
          </a:bodyPr>
          <a:lstStyle/>
          <a:p>
            <a:pPr>
              <a:defRPr sz="1725" b="0">
                <a:solidFill>
                  <a:srgbClr val="526778"/>
                </a:solidFill>
                <a:latin typeface="Aptos"/>
                <a:ea typeface="Aptos"/>
                <a:cs typeface="Aptos"/>
              </a:defRPr>
            </a:pPr>
            <a:r>
              <a:rPr sz="1725" b="0">
                <a:solidFill>
                  <a:srgbClr val="526778"/>
                </a:solidFill>
                <a:latin typeface="Aptos"/>
                <a:ea typeface="Aptos"/>
                <a:cs typeface="Aptos"/>
              </a:rPr>
              <a:t>Proposed member view with illustrative data, not actual personal measurements</a:t>
            </a:r>
          </a:p>
        </p:txBody>
      </p:sp>
      <p:sp>
        <p:nvSpPr>
          <p:cNvPr id="3" name="Rectangle 2">
            <a:extLst>
              <a:ext uri="{FF2B5EF4-FFF2-40B4-BE49-F238E27FC236}">
                <a16:creationId xmlns:a16="http://schemas.microsoft.com/office/drawing/2014/main" id="{A093348C-DD5D-40CC-99ED-8A24919FE3EC}"/>
              </a:ext>
            </a:extLst>
          </p:cNvPr>
          <p:cNvSpPr>
            <a:spLocks noGrp="1"/>
          </p:cNvSpPr>
          <p:nvPr/>
        </p:nvSpPr>
        <p:spPr>
          <a:xfrm>
            <a:off x="11049000" y="6410325"/>
            <a:ext cx="523875" cy="238125"/>
          </a:xfrm>
          <a:prstGeom prst="rect">
            <a:avLst/>
          </a:prstGeom>
          <a:noFill/>
          <a:ln w="0">
            <a:noFill/>
          </a:ln>
        </p:spPr>
        <p:txBody>
          <a:bodyPr>
            <a:noAutofit/>
          </a:bodyPr>
          <a:lstStyle/>
          <a:p>
            <a:pPr>
              <a:defRPr sz="1125" b="0">
                <a:solidFill>
                  <a:srgbClr val="526778"/>
                </a:solidFill>
                <a:latin typeface="Aptos"/>
                <a:ea typeface="Aptos"/>
                <a:cs typeface="Aptos"/>
              </a:defRPr>
            </a:pPr>
            <a:r>
              <a:rPr sz="1125" b="0">
                <a:solidFill>
                  <a:srgbClr val="526778"/>
                </a:solidFill>
                <a:latin typeface="Aptos"/>
                <a:ea typeface="Aptos"/>
                <a:cs typeface="Aptos"/>
              </a:rPr>
              <a:t>11</a:t>
            </a:r>
          </a:p>
        </p:txBody>
      </p:sp>
      <p:sp>
        <p:nvSpPr>
          <p:cNvPr id="4" name="Rectangle 3">
            <a:extLst>
              <a:ext uri="{FF2B5EF4-FFF2-40B4-BE49-F238E27FC236}">
                <a16:creationId xmlns:a16="http://schemas.microsoft.com/office/drawing/2014/main" id="{09B3A272-B06D-4AF6-BCEF-C7CA11ABE478}"/>
              </a:ext>
            </a:extLst>
          </p:cNvPr>
          <p:cNvSpPr>
            <a:spLocks noGrp="1"/>
          </p:cNvSpPr>
          <p:nvPr/>
        </p:nvSpPr>
        <p:spPr>
          <a:xfrm>
            <a:off x="609600" y="1933575"/>
            <a:ext cx="10953750" cy="3933825"/>
          </a:xfrm>
          <a:prstGeom prst="rect">
            <a:avLst/>
          </a:prstGeom>
          <a:solidFill>
            <a:srgbClr val="EDF3F6"/>
          </a:solidFill>
          <a:ln w="0">
            <a:noFill/>
          </a:ln>
        </p:spPr>
      </p:sp>
      <p:sp>
        <p:nvSpPr>
          <p:cNvPr id="5" name="Rectangle 4">
            <a:extLst>
              <a:ext uri="{FF2B5EF4-FFF2-40B4-BE49-F238E27FC236}">
                <a16:creationId xmlns:a16="http://schemas.microsoft.com/office/drawing/2014/main" id="{A2103D73-F27C-4BBF-9A93-EF73A31EC6D4}"/>
              </a:ext>
            </a:extLst>
          </p:cNvPr>
          <p:cNvSpPr>
            <a:spLocks noGrp="1"/>
          </p:cNvSpPr>
          <p:nvPr/>
        </p:nvSpPr>
        <p:spPr>
          <a:xfrm>
            <a:off x="828675" y="2095500"/>
            <a:ext cx="3286125" cy="400050"/>
          </a:xfrm>
          <a:prstGeom prst="rect">
            <a:avLst/>
          </a:prstGeom>
          <a:solidFill>
            <a:srgbClr val="FFFFFF"/>
          </a:solidFill>
          <a:ln w="0">
            <a:noFill/>
          </a:ln>
        </p:spPr>
      </p:sp>
      <p:sp>
        <p:nvSpPr>
          <p:cNvPr id="6" name="Rectangle 5">
            <a:extLst>
              <a:ext uri="{FF2B5EF4-FFF2-40B4-BE49-F238E27FC236}">
                <a16:creationId xmlns:a16="http://schemas.microsoft.com/office/drawing/2014/main" id="{80A11907-FFE5-4867-925A-5F787D7E91E4}"/>
              </a:ext>
            </a:extLst>
          </p:cNvPr>
          <p:cNvSpPr>
            <a:spLocks noGrp="1"/>
          </p:cNvSpPr>
          <p:nvPr/>
        </p:nvSpPr>
        <p:spPr>
          <a:xfrm>
            <a:off x="942975" y="2143125"/>
            <a:ext cx="3048000" cy="285750"/>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Member: Demo 001</a:t>
            </a:r>
          </a:p>
        </p:txBody>
      </p:sp>
      <p:sp>
        <p:nvSpPr>
          <p:cNvPr id="7" name="Rectangle 6">
            <a:extLst>
              <a:ext uri="{FF2B5EF4-FFF2-40B4-BE49-F238E27FC236}">
                <a16:creationId xmlns:a16="http://schemas.microsoft.com/office/drawing/2014/main" id="{F1F19F16-1704-4AB3-9A9D-8312F2114799}"/>
              </a:ext>
            </a:extLst>
          </p:cNvPr>
          <p:cNvSpPr>
            <a:spLocks noGrp="1"/>
          </p:cNvSpPr>
          <p:nvPr/>
        </p:nvSpPr>
        <p:spPr>
          <a:xfrm>
            <a:off x="4391025" y="2095500"/>
            <a:ext cx="3286125" cy="400050"/>
          </a:xfrm>
          <a:prstGeom prst="rect">
            <a:avLst/>
          </a:prstGeom>
          <a:solidFill>
            <a:srgbClr val="FFFFFF"/>
          </a:solidFill>
          <a:ln w="0">
            <a:noFill/>
          </a:ln>
        </p:spPr>
      </p:sp>
      <p:sp>
        <p:nvSpPr>
          <p:cNvPr id="8" name="Rectangle 7">
            <a:extLst>
              <a:ext uri="{FF2B5EF4-FFF2-40B4-BE49-F238E27FC236}">
                <a16:creationId xmlns:a16="http://schemas.microsoft.com/office/drawing/2014/main" id="{8099DDC2-AE94-4CE0-BC31-42513C4DACF4}"/>
              </a:ext>
            </a:extLst>
          </p:cNvPr>
          <p:cNvSpPr>
            <a:spLocks noGrp="1"/>
          </p:cNvSpPr>
          <p:nvPr/>
        </p:nvSpPr>
        <p:spPr>
          <a:xfrm>
            <a:off x="4505325" y="2143125"/>
            <a:ext cx="3048000" cy="285750"/>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Period: Sep 2026</a:t>
            </a:r>
          </a:p>
        </p:txBody>
      </p:sp>
      <p:sp>
        <p:nvSpPr>
          <p:cNvPr id="9" name="Rectangle 8">
            <a:extLst>
              <a:ext uri="{FF2B5EF4-FFF2-40B4-BE49-F238E27FC236}">
                <a16:creationId xmlns:a16="http://schemas.microsoft.com/office/drawing/2014/main" id="{59EDF8F5-D59F-4AA6-AC69-0FDCD11490C3}"/>
              </a:ext>
            </a:extLst>
          </p:cNvPr>
          <p:cNvSpPr>
            <a:spLocks noGrp="1"/>
          </p:cNvSpPr>
          <p:nvPr/>
        </p:nvSpPr>
        <p:spPr>
          <a:xfrm>
            <a:off x="7953375" y="2095500"/>
            <a:ext cx="3286125" cy="400050"/>
          </a:xfrm>
          <a:prstGeom prst="rect">
            <a:avLst/>
          </a:prstGeom>
          <a:solidFill>
            <a:srgbClr val="FFFFFF"/>
          </a:solidFill>
          <a:ln w="0">
            <a:noFill/>
          </a:ln>
        </p:spPr>
      </p:sp>
      <p:sp>
        <p:nvSpPr>
          <p:cNvPr id="10" name="Rectangle 9">
            <a:extLst>
              <a:ext uri="{FF2B5EF4-FFF2-40B4-BE49-F238E27FC236}">
                <a16:creationId xmlns:a16="http://schemas.microsoft.com/office/drawing/2014/main" id="{3D6A8493-20E2-4EA2-9C79-18E20C895300}"/>
              </a:ext>
            </a:extLst>
          </p:cNvPr>
          <p:cNvSpPr>
            <a:spLocks noGrp="1"/>
          </p:cNvSpPr>
          <p:nvPr/>
        </p:nvSpPr>
        <p:spPr>
          <a:xfrm>
            <a:off x="8067675" y="2143125"/>
            <a:ext cx="3048000" cy="285750"/>
          </a:xfrm>
          <a:prstGeom prst="rect">
            <a:avLst/>
          </a:prstGeom>
          <a:noFill/>
          <a:ln w="0">
            <a:noFill/>
          </a:ln>
        </p:spPr>
        <p:txBody>
          <a:bodyPr>
            <a:noAutofit/>
          </a:bodyPr>
          <a:lstStyle/>
          <a:p>
            <a:pPr>
              <a:defRPr sz="1500" b="0">
                <a:solidFill>
                  <a:srgbClr val="16324A"/>
                </a:solidFill>
                <a:latin typeface="Aptos"/>
                <a:ea typeface="Aptos"/>
                <a:cs typeface="Aptos"/>
              </a:defRPr>
            </a:pPr>
            <a:r>
              <a:rPr sz="1500" b="0">
                <a:solidFill>
                  <a:srgbClr val="16324A"/>
                </a:solidFill>
                <a:latin typeface="Aptos"/>
                <a:ea typeface="Aptos"/>
                <a:cs typeface="Aptos"/>
              </a:rPr>
              <a:t>Activity: All</a:t>
            </a:r>
          </a:p>
        </p:txBody>
      </p:sp>
      <p:sp>
        <p:nvSpPr>
          <p:cNvPr id="11" name="Rectangle 10">
            <a:extLst>
              <a:ext uri="{FF2B5EF4-FFF2-40B4-BE49-F238E27FC236}">
                <a16:creationId xmlns:a16="http://schemas.microsoft.com/office/drawing/2014/main" id="{3D38A19D-6834-4A1F-A24B-1E2E0739BF60}"/>
              </a:ext>
            </a:extLst>
          </p:cNvPr>
          <p:cNvSpPr>
            <a:spLocks noGrp="1"/>
          </p:cNvSpPr>
          <p:nvPr/>
        </p:nvSpPr>
        <p:spPr>
          <a:xfrm>
            <a:off x="847725" y="2667000"/>
            <a:ext cx="2381250" cy="276225"/>
          </a:xfrm>
          <a:prstGeom prst="rect">
            <a:avLst/>
          </a:prstGeom>
          <a:noFill/>
          <a:ln w="0">
            <a:noFill/>
          </a:ln>
        </p:spPr>
        <p:txBody>
          <a:bodyPr>
            <a:noAutofit/>
          </a:bodyPr>
          <a:lstStyle/>
          <a:p>
            <a:pPr>
              <a:defRPr sz="1425" b="0">
                <a:solidFill>
                  <a:srgbClr val="526778"/>
                </a:solidFill>
                <a:latin typeface="Aptos"/>
                <a:ea typeface="Aptos"/>
                <a:cs typeface="Aptos"/>
              </a:defRPr>
            </a:pPr>
            <a:r>
              <a:rPr sz="1425" b="0">
                <a:solidFill>
                  <a:srgbClr val="526778"/>
                </a:solidFill>
                <a:latin typeface="Aptos"/>
                <a:ea typeface="Aptos"/>
                <a:cs typeface="Aptos"/>
              </a:rPr>
              <a:t>Latest weight</a:t>
            </a:r>
          </a:p>
        </p:txBody>
      </p:sp>
      <p:sp>
        <p:nvSpPr>
          <p:cNvPr id="12" name="Rectangle 11">
            <a:extLst>
              <a:ext uri="{FF2B5EF4-FFF2-40B4-BE49-F238E27FC236}">
                <a16:creationId xmlns:a16="http://schemas.microsoft.com/office/drawing/2014/main" id="{629B3856-96D6-43C2-8654-364DC7CC4C46}"/>
              </a:ext>
            </a:extLst>
          </p:cNvPr>
          <p:cNvSpPr>
            <a:spLocks noGrp="1"/>
          </p:cNvSpPr>
          <p:nvPr/>
        </p:nvSpPr>
        <p:spPr>
          <a:xfrm>
            <a:off x="847725" y="2990850"/>
            <a:ext cx="2381250" cy="428625"/>
          </a:xfrm>
          <a:prstGeom prst="rect">
            <a:avLst/>
          </a:prstGeom>
          <a:noFill/>
          <a:ln w="0">
            <a:noFill/>
          </a:ln>
        </p:spPr>
        <p:txBody>
          <a:bodyPr>
            <a:noAutofit/>
          </a:bodyPr>
          <a:lstStyle/>
          <a:p>
            <a:pPr>
              <a:defRPr sz="2475" b="1">
                <a:solidFill>
                  <a:srgbClr val="10283F"/>
                </a:solidFill>
                <a:latin typeface="Aptos"/>
                <a:ea typeface="Aptos"/>
                <a:cs typeface="Aptos"/>
              </a:defRPr>
            </a:pPr>
            <a:r>
              <a:rPr sz="2475" b="1">
                <a:solidFill>
                  <a:srgbClr val="10283F"/>
                </a:solidFill>
                <a:latin typeface="Aptos"/>
                <a:ea typeface="Aptos"/>
                <a:cs typeface="Aptos"/>
              </a:rPr>
              <a:t>74.2 kg</a:t>
            </a:r>
          </a:p>
        </p:txBody>
      </p:sp>
      <p:sp>
        <p:nvSpPr>
          <p:cNvPr id="13" name="Rectangle 12">
            <a:extLst>
              <a:ext uri="{FF2B5EF4-FFF2-40B4-BE49-F238E27FC236}">
                <a16:creationId xmlns:a16="http://schemas.microsoft.com/office/drawing/2014/main" id="{A2555B71-E6E4-4407-A64D-D9290F59F626}"/>
              </a:ext>
            </a:extLst>
          </p:cNvPr>
          <p:cNvSpPr>
            <a:spLocks noGrp="1"/>
          </p:cNvSpPr>
          <p:nvPr/>
        </p:nvSpPr>
        <p:spPr>
          <a:xfrm>
            <a:off x="847725" y="3476625"/>
            <a:ext cx="2381250" cy="266700"/>
          </a:xfrm>
          <a:prstGeom prst="rect">
            <a:avLst/>
          </a:prstGeom>
          <a:noFill/>
          <a:ln w="0">
            <a:noFill/>
          </a:ln>
        </p:spPr>
        <p:txBody>
          <a:bodyPr>
            <a:noAutofit/>
          </a:bodyPr>
          <a:lstStyle/>
          <a:p>
            <a:pPr>
              <a:defRPr sz="1275" b="0">
                <a:solidFill>
                  <a:srgbClr val="526778"/>
                </a:solidFill>
                <a:latin typeface="Aptos"/>
                <a:ea typeface="Aptos"/>
                <a:cs typeface="Aptos"/>
              </a:defRPr>
            </a:pPr>
            <a:r>
              <a:rPr sz="1275" b="0">
                <a:solidFill>
                  <a:srgbClr val="526778"/>
                </a:solidFill>
                <a:latin typeface="Aptos"/>
                <a:ea typeface="Aptos"/>
                <a:cs typeface="Aptos"/>
              </a:rPr>
              <a:t>Recorded 28 Sep</a:t>
            </a:r>
          </a:p>
        </p:txBody>
      </p:sp>
      <p:sp>
        <p:nvSpPr>
          <p:cNvPr id="14" name="Rectangle 13">
            <a:extLst>
              <a:ext uri="{FF2B5EF4-FFF2-40B4-BE49-F238E27FC236}">
                <a16:creationId xmlns:a16="http://schemas.microsoft.com/office/drawing/2014/main" id="{FD2F2D88-15B8-4513-AFDE-5F6B28DE9085}"/>
              </a:ext>
            </a:extLst>
          </p:cNvPr>
          <p:cNvSpPr>
            <a:spLocks noGrp="1"/>
          </p:cNvSpPr>
          <p:nvPr/>
        </p:nvSpPr>
        <p:spPr>
          <a:xfrm>
            <a:off x="3514725" y="2667000"/>
            <a:ext cx="2381250" cy="276225"/>
          </a:xfrm>
          <a:prstGeom prst="rect">
            <a:avLst/>
          </a:prstGeom>
          <a:noFill/>
          <a:ln w="0">
            <a:noFill/>
          </a:ln>
        </p:spPr>
        <p:txBody>
          <a:bodyPr>
            <a:noAutofit/>
          </a:bodyPr>
          <a:lstStyle/>
          <a:p>
            <a:pPr>
              <a:defRPr sz="1425" b="0">
                <a:solidFill>
                  <a:srgbClr val="526778"/>
                </a:solidFill>
                <a:latin typeface="Aptos"/>
                <a:ea typeface="Aptos"/>
                <a:cs typeface="Aptos"/>
              </a:defRPr>
            </a:pPr>
            <a:r>
              <a:rPr sz="1425" b="0">
                <a:solidFill>
                  <a:srgbClr val="526778"/>
                </a:solidFill>
                <a:latin typeface="Aptos"/>
                <a:ea typeface="Aptos"/>
                <a:cs typeface="Aptos"/>
              </a:rPr>
              <a:t>Latest height</a:t>
            </a:r>
          </a:p>
        </p:txBody>
      </p:sp>
      <p:sp>
        <p:nvSpPr>
          <p:cNvPr id="15" name="Rectangle 14">
            <a:extLst>
              <a:ext uri="{FF2B5EF4-FFF2-40B4-BE49-F238E27FC236}">
                <a16:creationId xmlns:a16="http://schemas.microsoft.com/office/drawing/2014/main" id="{E3F61020-6DF9-42FB-B5D7-11413390540D}"/>
              </a:ext>
            </a:extLst>
          </p:cNvPr>
          <p:cNvSpPr>
            <a:spLocks noGrp="1"/>
          </p:cNvSpPr>
          <p:nvPr/>
        </p:nvSpPr>
        <p:spPr>
          <a:xfrm>
            <a:off x="3514725" y="2990850"/>
            <a:ext cx="2381250" cy="428625"/>
          </a:xfrm>
          <a:prstGeom prst="rect">
            <a:avLst/>
          </a:prstGeom>
          <a:noFill/>
          <a:ln w="0">
            <a:noFill/>
          </a:ln>
        </p:spPr>
        <p:txBody>
          <a:bodyPr>
            <a:noAutofit/>
          </a:bodyPr>
          <a:lstStyle/>
          <a:p>
            <a:pPr>
              <a:defRPr sz="2475" b="1">
                <a:solidFill>
                  <a:srgbClr val="10283F"/>
                </a:solidFill>
                <a:latin typeface="Aptos"/>
                <a:ea typeface="Aptos"/>
                <a:cs typeface="Aptos"/>
              </a:defRPr>
            </a:pPr>
            <a:r>
              <a:rPr sz="2475" b="1">
                <a:solidFill>
                  <a:srgbClr val="10283F"/>
                </a:solidFill>
                <a:latin typeface="Aptos"/>
                <a:ea typeface="Aptos"/>
                <a:cs typeface="Aptos"/>
              </a:rPr>
              <a:t>175 cm</a:t>
            </a:r>
          </a:p>
        </p:txBody>
      </p:sp>
      <p:sp>
        <p:nvSpPr>
          <p:cNvPr id="16" name="Rectangle 15">
            <a:extLst>
              <a:ext uri="{FF2B5EF4-FFF2-40B4-BE49-F238E27FC236}">
                <a16:creationId xmlns:a16="http://schemas.microsoft.com/office/drawing/2014/main" id="{870FDADF-F4DF-4626-9630-E66C5D7E50B7}"/>
              </a:ext>
            </a:extLst>
          </p:cNvPr>
          <p:cNvSpPr>
            <a:spLocks noGrp="1"/>
          </p:cNvSpPr>
          <p:nvPr/>
        </p:nvSpPr>
        <p:spPr>
          <a:xfrm>
            <a:off x="3514725" y="3476625"/>
            <a:ext cx="2381250" cy="266700"/>
          </a:xfrm>
          <a:prstGeom prst="rect">
            <a:avLst/>
          </a:prstGeom>
          <a:noFill/>
          <a:ln w="0">
            <a:noFill/>
          </a:ln>
        </p:spPr>
        <p:txBody>
          <a:bodyPr>
            <a:noAutofit/>
          </a:bodyPr>
          <a:lstStyle/>
          <a:p>
            <a:pPr>
              <a:defRPr sz="1275" b="0">
                <a:solidFill>
                  <a:srgbClr val="526778"/>
                </a:solidFill>
                <a:latin typeface="Aptos"/>
                <a:ea typeface="Aptos"/>
                <a:cs typeface="Aptos"/>
              </a:defRPr>
            </a:pPr>
            <a:r>
              <a:rPr sz="1275" b="0">
                <a:solidFill>
                  <a:srgbClr val="526778"/>
                </a:solidFill>
                <a:latin typeface="Aptos"/>
                <a:ea typeface="Aptos"/>
                <a:cs typeface="Aptos"/>
              </a:rPr>
              <a:t>Recorded 01 Sep</a:t>
            </a:r>
          </a:p>
        </p:txBody>
      </p:sp>
      <p:sp>
        <p:nvSpPr>
          <p:cNvPr id="17" name="Rectangle 16">
            <a:extLst>
              <a:ext uri="{FF2B5EF4-FFF2-40B4-BE49-F238E27FC236}">
                <a16:creationId xmlns:a16="http://schemas.microsoft.com/office/drawing/2014/main" id="{5764D6FF-C7B8-4859-BFF7-D16ADAA1E3DD}"/>
              </a:ext>
            </a:extLst>
          </p:cNvPr>
          <p:cNvSpPr>
            <a:spLocks noGrp="1"/>
          </p:cNvSpPr>
          <p:nvPr/>
        </p:nvSpPr>
        <p:spPr>
          <a:xfrm>
            <a:off x="6181725" y="2667000"/>
            <a:ext cx="2381250" cy="276225"/>
          </a:xfrm>
          <a:prstGeom prst="rect">
            <a:avLst/>
          </a:prstGeom>
          <a:noFill/>
          <a:ln w="0">
            <a:noFill/>
          </a:ln>
        </p:spPr>
        <p:txBody>
          <a:bodyPr>
            <a:noAutofit/>
          </a:bodyPr>
          <a:lstStyle/>
          <a:p>
            <a:pPr>
              <a:defRPr sz="1425" b="0">
                <a:solidFill>
                  <a:srgbClr val="526778"/>
                </a:solidFill>
                <a:latin typeface="Aptos"/>
                <a:ea typeface="Aptos"/>
                <a:cs typeface="Aptos"/>
              </a:defRPr>
            </a:pPr>
            <a:r>
              <a:rPr sz="1425" b="0">
                <a:solidFill>
                  <a:srgbClr val="526778"/>
                </a:solidFill>
                <a:latin typeface="Aptos"/>
                <a:ea typeface="Aptos"/>
                <a:cs typeface="Aptos"/>
              </a:rPr>
              <a:t>Attendance</a:t>
            </a:r>
          </a:p>
        </p:txBody>
      </p:sp>
      <p:sp>
        <p:nvSpPr>
          <p:cNvPr id="18" name="Rectangle 17">
            <a:extLst>
              <a:ext uri="{FF2B5EF4-FFF2-40B4-BE49-F238E27FC236}">
                <a16:creationId xmlns:a16="http://schemas.microsoft.com/office/drawing/2014/main" id="{CCEA9BF7-D820-48C6-8336-FF20783CC4D6}"/>
              </a:ext>
            </a:extLst>
          </p:cNvPr>
          <p:cNvSpPr>
            <a:spLocks noGrp="1"/>
          </p:cNvSpPr>
          <p:nvPr/>
        </p:nvSpPr>
        <p:spPr>
          <a:xfrm>
            <a:off x="6181725" y="2990850"/>
            <a:ext cx="2381250" cy="428625"/>
          </a:xfrm>
          <a:prstGeom prst="rect">
            <a:avLst/>
          </a:prstGeom>
          <a:noFill/>
          <a:ln w="0">
            <a:noFill/>
          </a:ln>
        </p:spPr>
        <p:txBody>
          <a:bodyPr>
            <a:noAutofit/>
          </a:bodyPr>
          <a:lstStyle/>
          <a:p>
            <a:pPr>
              <a:defRPr sz="2475" b="1">
                <a:solidFill>
                  <a:srgbClr val="10283F"/>
                </a:solidFill>
                <a:latin typeface="Aptos"/>
                <a:ea typeface="Aptos"/>
                <a:cs typeface="Aptos"/>
              </a:defRPr>
            </a:pPr>
            <a:r>
              <a:rPr sz="2475" b="1">
                <a:solidFill>
                  <a:srgbClr val="10283F"/>
                </a:solidFill>
                <a:latin typeface="Aptos"/>
                <a:ea typeface="Aptos"/>
                <a:cs typeface="Aptos"/>
              </a:rPr>
              <a:t>83%</a:t>
            </a:r>
          </a:p>
        </p:txBody>
      </p:sp>
      <p:sp>
        <p:nvSpPr>
          <p:cNvPr id="19" name="Rectangle 18">
            <a:extLst>
              <a:ext uri="{FF2B5EF4-FFF2-40B4-BE49-F238E27FC236}">
                <a16:creationId xmlns:a16="http://schemas.microsoft.com/office/drawing/2014/main" id="{86B7FA9F-C225-48AF-BA1B-AA9DDE5F7AB7}"/>
              </a:ext>
            </a:extLst>
          </p:cNvPr>
          <p:cNvSpPr>
            <a:spLocks noGrp="1"/>
          </p:cNvSpPr>
          <p:nvPr/>
        </p:nvSpPr>
        <p:spPr>
          <a:xfrm>
            <a:off x="6181725" y="3476625"/>
            <a:ext cx="2381250" cy="266700"/>
          </a:xfrm>
          <a:prstGeom prst="rect">
            <a:avLst/>
          </a:prstGeom>
          <a:noFill/>
          <a:ln w="0">
            <a:noFill/>
          </a:ln>
        </p:spPr>
        <p:txBody>
          <a:bodyPr>
            <a:noAutofit/>
          </a:bodyPr>
          <a:lstStyle/>
          <a:p>
            <a:pPr>
              <a:defRPr sz="1275" b="0">
                <a:solidFill>
                  <a:srgbClr val="526778"/>
                </a:solidFill>
                <a:latin typeface="Aptos"/>
                <a:ea typeface="Aptos"/>
                <a:cs typeface="Aptos"/>
              </a:defRPr>
            </a:pPr>
            <a:r>
              <a:rPr sz="1275" b="0">
                <a:solidFill>
                  <a:srgbClr val="526778"/>
                </a:solidFill>
                <a:latin typeface="Aptos"/>
                <a:ea typeface="Aptos"/>
                <a:cs typeface="Aptos"/>
              </a:rPr>
              <a:t>10 of 12 planned</a:t>
            </a:r>
          </a:p>
        </p:txBody>
      </p:sp>
      <p:sp>
        <p:nvSpPr>
          <p:cNvPr id="20" name="Rectangle 19">
            <a:extLst>
              <a:ext uri="{FF2B5EF4-FFF2-40B4-BE49-F238E27FC236}">
                <a16:creationId xmlns:a16="http://schemas.microsoft.com/office/drawing/2014/main" id="{B215F69F-B604-49AB-BDC9-E05F37B3DFBD}"/>
              </a:ext>
            </a:extLst>
          </p:cNvPr>
          <p:cNvSpPr>
            <a:spLocks noGrp="1"/>
          </p:cNvSpPr>
          <p:nvPr/>
        </p:nvSpPr>
        <p:spPr>
          <a:xfrm>
            <a:off x="8848725" y="2667000"/>
            <a:ext cx="2381250" cy="276225"/>
          </a:xfrm>
          <a:prstGeom prst="rect">
            <a:avLst/>
          </a:prstGeom>
          <a:noFill/>
          <a:ln w="0">
            <a:noFill/>
          </a:ln>
        </p:spPr>
        <p:txBody>
          <a:bodyPr>
            <a:noAutofit/>
          </a:bodyPr>
          <a:lstStyle/>
          <a:p>
            <a:pPr>
              <a:defRPr sz="1425" b="0">
                <a:solidFill>
                  <a:srgbClr val="526778"/>
                </a:solidFill>
                <a:latin typeface="Aptos"/>
                <a:ea typeface="Aptos"/>
                <a:cs typeface="Aptos"/>
              </a:defRPr>
            </a:pPr>
            <a:r>
              <a:rPr sz="1425" b="0">
                <a:solidFill>
                  <a:srgbClr val="526778"/>
                </a:solidFill>
                <a:latin typeface="Aptos"/>
                <a:ea typeface="Aptos"/>
                <a:cs typeface="Aptos"/>
              </a:rPr>
              <a:t>Workout minutes</a:t>
            </a:r>
          </a:p>
        </p:txBody>
      </p:sp>
      <p:sp>
        <p:nvSpPr>
          <p:cNvPr id="21" name="Rectangle 20">
            <a:extLst>
              <a:ext uri="{FF2B5EF4-FFF2-40B4-BE49-F238E27FC236}">
                <a16:creationId xmlns:a16="http://schemas.microsoft.com/office/drawing/2014/main" id="{125F3D17-C11A-465B-98F2-09BB79E5426A}"/>
              </a:ext>
            </a:extLst>
          </p:cNvPr>
          <p:cNvSpPr>
            <a:spLocks noGrp="1"/>
          </p:cNvSpPr>
          <p:nvPr/>
        </p:nvSpPr>
        <p:spPr>
          <a:xfrm>
            <a:off x="8848725" y="2990850"/>
            <a:ext cx="2381250" cy="428625"/>
          </a:xfrm>
          <a:prstGeom prst="rect">
            <a:avLst/>
          </a:prstGeom>
          <a:noFill/>
          <a:ln w="0">
            <a:noFill/>
          </a:ln>
        </p:spPr>
        <p:txBody>
          <a:bodyPr>
            <a:noAutofit/>
          </a:bodyPr>
          <a:lstStyle/>
          <a:p>
            <a:pPr>
              <a:defRPr sz="2475" b="1">
                <a:solidFill>
                  <a:srgbClr val="10283F"/>
                </a:solidFill>
                <a:latin typeface="Aptos"/>
                <a:ea typeface="Aptos"/>
                <a:cs typeface="Aptos"/>
              </a:defRPr>
            </a:pPr>
            <a:r>
              <a:rPr sz="2475" b="1">
                <a:solidFill>
                  <a:srgbClr val="10283F"/>
                </a:solidFill>
                <a:latin typeface="Aptos"/>
                <a:ea typeface="Aptos"/>
                <a:cs typeface="Aptos"/>
              </a:rPr>
              <a:t>420 min</a:t>
            </a:r>
          </a:p>
        </p:txBody>
      </p:sp>
      <p:sp>
        <p:nvSpPr>
          <p:cNvPr id="22" name="Rectangle 21">
            <a:extLst>
              <a:ext uri="{FF2B5EF4-FFF2-40B4-BE49-F238E27FC236}">
                <a16:creationId xmlns:a16="http://schemas.microsoft.com/office/drawing/2014/main" id="{8E1413A7-6FD1-49B5-8F95-95847041E471}"/>
              </a:ext>
            </a:extLst>
          </p:cNvPr>
          <p:cNvSpPr>
            <a:spLocks noGrp="1"/>
          </p:cNvSpPr>
          <p:nvPr/>
        </p:nvSpPr>
        <p:spPr>
          <a:xfrm>
            <a:off x="8848725" y="3476625"/>
            <a:ext cx="2381250" cy="266700"/>
          </a:xfrm>
          <a:prstGeom prst="rect">
            <a:avLst/>
          </a:prstGeom>
          <a:noFill/>
          <a:ln w="0">
            <a:noFill/>
          </a:ln>
        </p:spPr>
        <p:txBody>
          <a:bodyPr>
            <a:noAutofit/>
          </a:bodyPr>
          <a:lstStyle/>
          <a:p>
            <a:pPr>
              <a:defRPr sz="1275" b="0">
                <a:solidFill>
                  <a:srgbClr val="526778"/>
                </a:solidFill>
                <a:latin typeface="Aptos"/>
                <a:ea typeface="Aptos"/>
                <a:cs typeface="Aptos"/>
              </a:defRPr>
            </a:pPr>
            <a:r>
              <a:rPr sz="1275" b="0">
                <a:solidFill>
                  <a:srgbClr val="526778"/>
                </a:solidFill>
                <a:latin typeface="Aptos"/>
                <a:ea typeface="Aptos"/>
                <a:cs typeface="Aptos"/>
              </a:rPr>
              <a:t>Attended sessions</a:t>
            </a:r>
          </a:p>
        </p:txBody>
      </p:sp>
      <p:sp>
        <p:nvSpPr>
          <p:cNvPr id="23" name="Rectangle 22">
            <a:extLst>
              <a:ext uri="{FF2B5EF4-FFF2-40B4-BE49-F238E27FC236}">
                <a16:creationId xmlns:a16="http://schemas.microsoft.com/office/drawing/2014/main" id="{68F5CBC5-4EAD-4E7C-B94A-2A3ADC05A438}"/>
              </a:ext>
            </a:extLst>
          </p:cNvPr>
          <p:cNvSpPr>
            <a:spLocks noGrp="1"/>
          </p:cNvSpPr>
          <p:nvPr/>
        </p:nvSpPr>
        <p:spPr>
          <a:xfrm>
            <a:off x="838200" y="3867150"/>
            <a:ext cx="4572000" cy="323850"/>
          </a:xfrm>
          <a:prstGeom prst="rect">
            <a:avLst/>
          </a:prstGeom>
          <a:noFill/>
          <a:ln w="0">
            <a:noFill/>
          </a:ln>
        </p:spPr>
        <p:txBody>
          <a:bodyPr>
            <a:noAutofit/>
          </a:bodyPr>
          <a:lstStyle/>
          <a:p>
            <a:pPr>
              <a:defRPr sz="1725" b="1">
                <a:solidFill>
                  <a:srgbClr val="10283F"/>
                </a:solidFill>
                <a:latin typeface="Aptos"/>
                <a:ea typeface="Aptos"/>
                <a:cs typeface="Aptos"/>
              </a:defRPr>
            </a:pPr>
            <a:r>
              <a:rPr sz="1725" b="1">
                <a:solidFill>
                  <a:srgbClr val="10283F"/>
                </a:solidFill>
                <a:latin typeface="Aptos"/>
                <a:ea typeface="Aptos"/>
                <a:cs typeface="Aptos"/>
              </a:rPr>
              <a:t>Weight history (kg)</a:t>
            </a:r>
          </a:p>
        </p:txBody>
      </p:sp>
      <p:sp>
        <p:nvSpPr>
          <p:cNvPr id="24" name="Rectangle 23">
            <a:extLst>
              <a:ext uri="{FF2B5EF4-FFF2-40B4-BE49-F238E27FC236}">
                <a16:creationId xmlns:a16="http://schemas.microsoft.com/office/drawing/2014/main" id="{2E9822C7-69B3-4668-99F3-4274E75879ED}"/>
              </a:ext>
            </a:extLst>
          </p:cNvPr>
          <p:cNvSpPr>
            <a:spLocks noGrp="1"/>
          </p:cNvSpPr>
          <p:nvPr/>
        </p:nvSpPr>
        <p:spPr>
          <a:xfrm>
            <a:off x="1000125" y="5257800"/>
            <a:ext cx="1000125" cy="266700"/>
          </a:xfrm>
          <a:prstGeom prst="rect">
            <a:avLst/>
          </a:prstGeom>
          <a:noFill/>
          <a:ln w="0">
            <a:noFill/>
          </a:ln>
        </p:spPr>
        <p:txBody>
          <a:bodyPr>
            <a:noAutofit/>
          </a:bodyPr>
          <a:lstStyle/>
          <a:p>
            <a:pPr>
              <a:defRPr sz="1275" b="0">
                <a:solidFill>
                  <a:srgbClr val="526778"/>
                </a:solidFill>
                <a:latin typeface="Aptos"/>
                <a:ea typeface="Aptos"/>
                <a:cs typeface="Aptos"/>
              </a:defRPr>
            </a:pPr>
            <a:r>
              <a:rPr sz="1275" b="0">
                <a:solidFill>
                  <a:srgbClr val="526778"/>
                </a:solidFill>
                <a:latin typeface="Aptos"/>
                <a:ea typeface="Aptos"/>
                <a:cs typeface="Aptos"/>
              </a:rPr>
              <a:t>07 Sep</a:t>
            </a:r>
          </a:p>
        </p:txBody>
      </p:sp>
      <p:sp>
        <p:nvSpPr>
          <p:cNvPr id="25" name="Rectangle 24">
            <a:extLst>
              <a:ext uri="{FF2B5EF4-FFF2-40B4-BE49-F238E27FC236}">
                <a16:creationId xmlns:a16="http://schemas.microsoft.com/office/drawing/2014/main" id="{EB8308A5-4DCE-406E-ACD9-B10ACA68E689}"/>
              </a:ext>
            </a:extLst>
          </p:cNvPr>
          <p:cNvSpPr>
            <a:spLocks noGrp="1"/>
          </p:cNvSpPr>
          <p:nvPr/>
        </p:nvSpPr>
        <p:spPr>
          <a:xfrm>
            <a:off x="1057275" y="4457700"/>
            <a:ext cx="838200" cy="685800"/>
          </a:xfrm>
          <a:prstGeom prst="rect">
            <a:avLst/>
          </a:prstGeom>
          <a:solidFill>
            <a:srgbClr val="FFFFFF"/>
          </a:solidFill>
          <a:ln w="0">
            <a:noFill/>
          </a:ln>
        </p:spPr>
      </p:sp>
      <p:sp>
        <p:nvSpPr>
          <p:cNvPr id="26" name="Rectangle 25">
            <a:extLst>
              <a:ext uri="{FF2B5EF4-FFF2-40B4-BE49-F238E27FC236}">
                <a16:creationId xmlns:a16="http://schemas.microsoft.com/office/drawing/2014/main" id="{B24D5D15-90D8-4539-81A5-5AB0D4F5B5D1}"/>
              </a:ext>
            </a:extLst>
          </p:cNvPr>
          <p:cNvSpPr>
            <a:spLocks noGrp="1"/>
          </p:cNvSpPr>
          <p:nvPr/>
        </p:nvSpPr>
        <p:spPr>
          <a:xfrm>
            <a:off x="1114425" y="4619625"/>
            <a:ext cx="752475" cy="342900"/>
          </a:xfrm>
          <a:prstGeom prst="rect">
            <a:avLst/>
          </a:prstGeom>
          <a:noFill/>
          <a:ln w="0">
            <a:noFill/>
          </a:ln>
        </p:spPr>
        <p:txBody>
          <a:bodyPr>
            <a:noAutofit/>
          </a:bodyPr>
          <a:lstStyle/>
          <a:p>
            <a:pPr>
              <a:defRPr sz="1950" b="1">
                <a:solidFill>
                  <a:srgbClr val="087F8C"/>
                </a:solidFill>
                <a:latin typeface="Aptos"/>
                <a:ea typeface="Aptos"/>
                <a:cs typeface="Aptos"/>
              </a:defRPr>
            </a:pPr>
            <a:r>
              <a:rPr sz="1950" b="1">
                <a:solidFill>
                  <a:srgbClr val="087F8C"/>
                </a:solidFill>
                <a:latin typeface="Aptos"/>
                <a:ea typeface="Aptos"/>
                <a:cs typeface="Aptos"/>
              </a:rPr>
              <a:t>75.0</a:t>
            </a:r>
          </a:p>
        </p:txBody>
      </p:sp>
      <p:sp>
        <p:nvSpPr>
          <p:cNvPr id="27" name="Rectangle 26">
            <a:extLst>
              <a:ext uri="{FF2B5EF4-FFF2-40B4-BE49-F238E27FC236}">
                <a16:creationId xmlns:a16="http://schemas.microsoft.com/office/drawing/2014/main" id="{CF36687E-D7C7-4CE9-BCCE-5A406CACDF7E}"/>
              </a:ext>
            </a:extLst>
          </p:cNvPr>
          <p:cNvSpPr>
            <a:spLocks noGrp="1"/>
          </p:cNvSpPr>
          <p:nvPr/>
        </p:nvSpPr>
        <p:spPr>
          <a:xfrm>
            <a:off x="2200275" y="5257800"/>
            <a:ext cx="1000125" cy="266700"/>
          </a:xfrm>
          <a:prstGeom prst="rect">
            <a:avLst/>
          </a:prstGeom>
          <a:noFill/>
          <a:ln w="0">
            <a:noFill/>
          </a:ln>
        </p:spPr>
        <p:txBody>
          <a:bodyPr>
            <a:noAutofit/>
          </a:bodyPr>
          <a:lstStyle/>
          <a:p>
            <a:pPr>
              <a:defRPr sz="1275" b="0">
                <a:solidFill>
                  <a:srgbClr val="526778"/>
                </a:solidFill>
                <a:latin typeface="Aptos"/>
                <a:ea typeface="Aptos"/>
                <a:cs typeface="Aptos"/>
              </a:defRPr>
            </a:pPr>
            <a:r>
              <a:rPr sz="1275" b="0">
                <a:solidFill>
                  <a:srgbClr val="526778"/>
                </a:solidFill>
                <a:latin typeface="Aptos"/>
                <a:ea typeface="Aptos"/>
                <a:cs typeface="Aptos"/>
              </a:rPr>
              <a:t>14 Sep</a:t>
            </a:r>
          </a:p>
        </p:txBody>
      </p:sp>
      <p:sp>
        <p:nvSpPr>
          <p:cNvPr id="28" name="Rectangle 27">
            <a:extLst>
              <a:ext uri="{FF2B5EF4-FFF2-40B4-BE49-F238E27FC236}">
                <a16:creationId xmlns:a16="http://schemas.microsoft.com/office/drawing/2014/main" id="{D51216B8-110A-4403-8D5A-EFFC62E87426}"/>
              </a:ext>
            </a:extLst>
          </p:cNvPr>
          <p:cNvSpPr>
            <a:spLocks noGrp="1"/>
          </p:cNvSpPr>
          <p:nvPr/>
        </p:nvSpPr>
        <p:spPr>
          <a:xfrm>
            <a:off x="2257425" y="4457700"/>
            <a:ext cx="838200" cy="685800"/>
          </a:xfrm>
          <a:prstGeom prst="rect">
            <a:avLst/>
          </a:prstGeom>
          <a:solidFill>
            <a:srgbClr val="FFFFFF"/>
          </a:solidFill>
          <a:ln w="0">
            <a:noFill/>
          </a:ln>
        </p:spPr>
      </p:sp>
      <p:sp>
        <p:nvSpPr>
          <p:cNvPr id="29" name="Rectangle 28">
            <a:extLst>
              <a:ext uri="{FF2B5EF4-FFF2-40B4-BE49-F238E27FC236}">
                <a16:creationId xmlns:a16="http://schemas.microsoft.com/office/drawing/2014/main" id="{FF9EB763-A134-4CEB-B34D-E8B2F5142DF9}"/>
              </a:ext>
            </a:extLst>
          </p:cNvPr>
          <p:cNvSpPr>
            <a:spLocks noGrp="1"/>
          </p:cNvSpPr>
          <p:nvPr/>
        </p:nvSpPr>
        <p:spPr>
          <a:xfrm>
            <a:off x="2314575" y="4619625"/>
            <a:ext cx="752475" cy="342900"/>
          </a:xfrm>
          <a:prstGeom prst="rect">
            <a:avLst/>
          </a:prstGeom>
          <a:noFill/>
          <a:ln w="0">
            <a:noFill/>
          </a:ln>
        </p:spPr>
        <p:txBody>
          <a:bodyPr>
            <a:noAutofit/>
          </a:bodyPr>
          <a:lstStyle/>
          <a:p>
            <a:pPr>
              <a:defRPr sz="1950" b="1">
                <a:solidFill>
                  <a:srgbClr val="087F8C"/>
                </a:solidFill>
                <a:latin typeface="Aptos"/>
                <a:ea typeface="Aptos"/>
                <a:cs typeface="Aptos"/>
              </a:defRPr>
            </a:pPr>
            <a:r>
              <a:rPr sz="1950" b="1">
                <a:solidFill>
                  <a:srgbClr val="087F8C"/>
                </a:solidFill>
                <a:latin typeface="Aptos"/>
                <a:ea typeface="Aptos"/>
                <a:cs typeface="Aptos"/>
              </a:rPr>
              <a:t>74.8</a:t>
            </a:r>
          </a:p>
        </p:txBody>
      </p:sp>
      <p:sp>
        <p:nvSpPr>
          <p:cNvPr id="30" name="Rectangle 29">
            <a:extLst>
              <a:ext uri="{FF2B5EF4-FFF2-40B4-BE49-F238E27FC236}">
                <a16:creationId xmlns:a16="http://schemas.microsoft.com/office/drawing/2014/main" id="{0432C119-B8C9-4634-9C5D-88EA0E4AA5FD}"/>
              </a:ext>
            </a:extLst>
          </p:cNvPr>
          <p:cNvSpPr>
            <a:spLocks noGrp="1"/>
          </p:cNvSpPr>
          <p:nvPr/>
        </p:nvSpPr>
        <p:spPr>
          <a:xfrm>
            <a:off x="3400425" y="5257800"/>
            <a:ext cx="1000125" cy="266700"/>
          </a:xfrm>
          <a:prstGeom prst="rect">
            <a:avLst/>
          </a:prstGeom>
          <a:noFill/>
          <a:ln w="0">
            <a:noFill/>
          </a:ln>
        </p:spPr>
        <p:txBody>
          <a:bodyPr>
            <a:noAutofit/>
          </a:bodyPr>
          <a:lstStyle/>
          <a:p>
            <a:pPr>
              <a:defRPr sz="1275" b="0">
                <a:solidFill>
                  <a:srgbClr val="526778"/>
                </a:solidFill>
                <a:latin typeface="Aptos"/>
                <a:ea typeface="Aptos"/>
                <a:cs typeface="Aptos"/>
              </a:defRPr>
            </a:pPr>
            <a:r>
              <a:rPr sz="1275" b="0">
                <a:solidFill>
                  <a:srgbClr val="526778"/>
                </a:solidFill>
                <a:latin typeface="Aptos"/>
                <a:ea typeface="Aptos"/>
                <a:cs typeface="Aptos"/>
              </a:rPr>
              <a:t>21 Sep</a:t>
            </a:r>
          </a:p>
        </p:txBody>
      </p:sp>
      <p:sp>
        <p:nvSpPr>
          <p:cNvPr id="31" name="Rectangle 30">
            <a:extLst>
              <a:ext uri="{FF2B5EF4-FFF2-40B4-BE49-F238E27FC236}">
                <a16:creationId xmlns:a16="http://schemas.microsoft.com/office/drawing/2014/main" id="{40864AC6-54D1-466F-8D39-4FA34031C640}"/>
              </a:ext>
            </a:extLst>
          </p:cNvPr>
          <p:cNvSpPr>
            <a:spLocks noGrp="1"/>
          </p:cNvSpPr>
          <p:nvPr/>
        </p:nvSpPr>
        <p:spPr>
          <a:xfrm>
            <a:off x="3457575" y="4457700"/>
            <a:ext cx="838200" cy="685800"/>
          </a:xfrm>
          <a:prstGeom prst="rect">
            <a:avLst/>
          </a:prstGeom>
          <a:solidFill>
            <a:srgbClr val="FFFFFF"/>
          </a:solidFill>
          <a:ln w="0">
            <a:noFill/>
          </a:ln>
        </p:spPr>
      </p:sp>
      <p:sp>
        <p:nvSpPr>
          <p:cNvPr id="32" name="Rectangle 31">
            <a:extLst>
              <a:ext uri="{FF2B5EF4-FFF2-40B4-BE49-F238E27FC236}">
                <a16:creationId xmlns:a16="http://schemas.microsoft.com/office/drawing/2014/main" id="{54038F00-08E1-416E-BFE2-414C6FEE9CA8}"/>
              </a:ext>
            </a:extLst>
          </p:cNvPr>
          <p:cNvSpPr>
            <a:spLocks noGrp="1"/>
          </p:cNvSpPr>
          <p:nvPr/>
        </p:nvSpPr>
        <p:spPr>
          <a:xfrm>
            <a:off x="3514725" y="4619625"/>
            <a:ext cx="752475" cy="342900"/>
          </a:xfrm>
          <a:prstGeom prst="rect">
            <a:avLst/>
          </a:prstGeom>
          <a:noFill/>
          <a:ln w="0">
            <a:noFill/>
          </a:ln>
        </p:spPr>
        <p:txBody>
          <a:bodyPr>
            <a:noAutofit/>
          </a:bodyPr>
          <a:lstStyle/>
          <a:p>
            <a:pPr>
              <a:defRPr sz="1950" b="1">
                <a:solidFill>
                  <a:srgbClr val="087F8C"/>
                </a:solidFill>
                <a:latin typeface="Aptos"/>
                <a:ea typeface="Aptos"/>
                <a:cs typeface="Aptos"/>
              </a:defRPr>
            </a:pPr>
            <a:r>
              <a:rPr sz="1950" b="1">
                <a:solidFill>
                  <a:srgbClr val="087F8C"/>
                </a:solidFill>
                <a:latin typeface="Aptos"/>
                <a:ea typeface="Aptos"/>
                <a:cs typeface="Aptos"/>
              </a:rPr>
              <a:t>74.6</a:t>
            </a:r>
          </a:p>
        </p:txBody>
      </p:sp>
      <p:sp>
        <p:nvSpPr>
          <p:cNvPr id="33" name="Rectangle 32">
            <a:extLst>
              <a:ext uri="{FF2B5EF4-FFF2-40B4-BE49-F238E27FC236}">
                <a16:creationId xmlns:a16="http://schemas.microsoft.com/office/drawing/2014/main" id="{AE41A65E-FABE-4FB7-8ED9-53598D91BDEF}"/>
              </a:ext>
            </a:extLst>
          </p:cNvPr>
          <p:cNvSpPr>
            <a:spLocks noGrp="1"/>
          </p:cNvSpPr>
          <p:nvPr/>
        </p:nvSpPr>
        <p:spPr>
          <a:xfrm>
            <a:off x="4600575" y="5257800"/>
            <a:ext cx="1000125" cy="266700"/>
          </a:xfrm>
          <a:prstGeom prst="rect">
            <a:avLst/>
          </a:prstGeom>
          <a:noFill/>
          <a:ln w="0">
            <a:noFill/>
          </a:ln>
        </p:spPr>
        <p:txBody>
          <a:bodyPr>
            <a:noAutofit/>
          </a:bodyPr>
          <a:lstStyle/>
          <a:p>
            <a:pPr>
              <a:defRPr sz="1275" b="0">
                <a:solidFill>
                  <a:srgbClr val="526778"/>
                </a:solidFill>
                <a:latin typeface="Aptos"/>
                <a:ea typeface="Aptos"/>
                <a:cs typeface="Aptos"/>
              </a:defRPr>
            </a:pPr>
            <a:r>
              <a:rPr sz="1275" b="0">
                <a:solidFill>
                  <a:srgbClr val="526778"/>
                </a:solidFill>
                <a:latin typeface="Aptos"/>
                <a:ea typeface="Aptos"/>
                <a:cs typeface="Aptos"/>
              </a:rPr>
              <a:t>28 Sep</a:t>
            </a:r>
          </a:p>
        </p:txBody>
      </p:sp>
      <p:sp>
        <p:nvSpPr>
          <p:cNvPr id="34" name="Rectangle 33">
            <a:extLst>
              <a:ext uri="{FF2B5EF4-FFF2-40B4-BE49-F238E27FC236}">
                <a16:creationId xmlns:a16="http://schemas.microsoft.com/office/drawing/2014/main" id="{8AB4A09C-BC83-4A52-A664-30EFC970E804}"/>
              </a:ext>
            </a:extLst>
          </p:cNvPr>
          <p:cNvSpPr>
            <a:spLocks noGrp="1"/>
          </p:cNvSpPr>
          <p:nvPr/>
        </p:nvSpPr>
        <p:spPr>
          <a:xfrm>
            <a:off x="4657725" y="4457700"/>
            <a:ext cx="838200" cy="685800"/>
          </a:xfrm>
          <a:prstGeom prst="rect">
            <a:avLst/>
          </a:prstGeom>
          <a:solidFill>
            <a:srgbClr val="FFFFFF"/>
          </a:solidFill>
          <a:ln w="0">
            <a:noFill/>
          </a:ln>
        </p:spPr>
      </p:sp>
      <p:sp>
        <p:nvSpPr>
          <p:cNvPr id="35" name="Rectangle 34">
            <a:extLst>
              <a:ext uri="{FF2B5EF4-FFF2-40B4-BE49-F238E27FC236}">
                <a16:creationId xmlns:a16="http://schemas.microsoft.com/office/drawing/2014/main" id="{48B23623-EEF3-4E48-8974-6B63BED3C5D7}"/>
              </a:ext>
            </a:extLst>
          </p:cNvPr>
          <p:cNvSpPr>
            <a:spLocks noGrp="1"/>
          </p:cNvSpPr>
          <p:nvPr/>
        </p:nvSpPr>
        <p:spPr>
          <a:xfrm>
            <a:off x="4714875" y="4619625"/>
            <a:ext cx="752475" cy="342900"/>
          </a:xfrm>
          <a:prstGeom prst="rect">
            <a:avLst/>
          </a:prstGeom>
          <a:noFill/>
          <a:ln w="0">
            <a:noFill/>
          </a:ln>
        </p:spPr>
        <p:txBody>
          <a:bodyPr>
            <a:noAutofit/>
          </a:bodyPr>
          <a:lstStyle/>
          <a:p>
            <a:pPr>
              <a:defRPr sz="1950" b="1">
                <a:solidFill>
                  <a:srgbClr val="087F8C"/>
                </a:solidFill>
                <a:latin typeface="Aptos"/>
                <a:ea typeface="Aptos"/>
                <a:cs typeface="Aptos"/>
              </a:defRPr>
            </a:pPr>
            <a:r>
              <a:rPr sz="1950" b="1">
                <a:solidFill>
                  <a:srgbClr val="087F8C"/>
                </a:solidFill>
                <a:latin typeface="Aptos"/>
                <a:ea typeface="Aptos"/>
                <a:cs typeface="Aptos"/>
              </a:rPr>
              <a:t>74.2</a:t>
            </a:r>
          </a:p>
        </p:txBody>
      </p:sp>
      <p:sp>
        <p:nvSpPr>
          <p:cNvPr id="36" name="Rectangle 35">
            <a:extLst>
              <a:ext uri="{FF2B5EF4-FFF2-40B4-BE49-F238E27FC236}">
                <a16:creationId xmlns:a16="http://schemas.microsoft.com/office/drawing/2014/main" id="{7AF61133-1994-4A66-A366-2B62276DB688}"/>
              </a:ext>
            </a:extLst>
          </p:cNvPr>
          <p:cNvSpPr>
            <a:spLocks noGrp="1"/>
          </p:cNvSpPr>
          <p:nvPr/>
        </p:nvSpPr>
        <p:spPr>
          <a:xfrm>
            <a:off x="6724650" y="3867150"/>
            <a:ext cx="4572000" cy="323850"/>
          </a:xfrm>
          <a:prstGeom prst="rect">
            <a:avLst/>
          </a:prstGeom>
          <a:noFill/>
          <a:ln w="0">
            <a:noFill/>
          </a:ln>
        </p:spPr>
        <p:txBody>
          <a:bodyPr>
            <a:noAutofit/>
          </a:bodyPr>
          <a:lstStyle/>
          <a:p>
            <a:pPr>
              <a:defRPr sz="1725" b="1">
                <a:solidFill>
                  <a:srgbClr val="10283F"/>
                </a:solidFill>
                <a:latin typeface="Aptos"/>
                <a:ea typeface="Aptos"/>
                <a:cs typeface="Aptos"/>
              </a:defRPr>
            </a:pPr>
            <a:r>
              <a:rPr sz="1725" b="1">
                <a:solidFill>
                  <a:srgbClr val="10283F"/>
                </a:solidFill>
                <a:latin typeface="Aptos"/>
                <a:ea typeface="Aptos"/>
                <a:cs typeface="Aptos"/>
              </a:rPr>
              <a:t>Session minutes by activity</a:t>
            </a:r>
          </a:p>
        </p:txBody>
      </p:sp>
      <p:sp>
        <p:nvSpPr>
          <p:cNvPr id="37" name="Rectangle 36">
            <a:extLst>
              <a:ext uri="{FF2B5EF4-FFF2-40B4-BE49-F238E27FC236}">
                <a16:creationId xmlns:a16="http://schemas.microsoft.com/office/drawing/2014/main" id="{2C38ED06-5D81-40B2-A7F3-FC8136F2A5DC}"/>
              </a:ext>
            </a:extLst>
          </p:cNvPr>
          <p:cNvSpPr>
            <a:spLocks noGrp="1"/>
          </p:cNvSpPr>
          <p:nvPr/>
        </p:nvSpPr>
        <p:spPr>
          <a:xfrm>
            <a:off x="6734175" y="4362450"/>
            <a:ext cx="1238250" cy="266700"/>
          </a:xfrm>
          <a:prstGeom prst="rect">
            <a:avLst/>
          </a:prstGeom>
          <a:noFill/>
          <a:ln w="0">
            <a:noFill/>
          </a:ln>
        </p:spPr>
        <p:txBody>
          <a:bodyPr>
            <a:noAutofit/>
          </a:bodyPr>
          <a:lstStyle/>
          <a:p>
            <a:pPr>
              <a:defRPr sz="1350" b="0">
                <a:solidFill>
                  <a:srgbClr val="16324A"/>
                </a:solidFill>
                <a:latin typeface="Aptos"/>
                <a:ea typeface="Aptos"/>
                <a:cs typeface="Aptos"/>
              </a:defRPr>
            </a:pPr>
            <a:r>
              <a:rPr sz="1350" b="0">
                <a:solidFill>
                  <a:srgbClr val="16324A"/>
                </a:solidFill>
                <a:latin typeface="Aptos"/>
                <a:ea typeface="Aptos"/>
                <a:cs typeface="Aptos"/>
              </a:rPr>
              <a:t>Strength</a:t>
            </a:r>
          </a:p>
        </p:txBody>
      </p:sp>
      <p:sp>
        <p:nvSpPr>
          <p:cNvPr id="38" name="Rectangle 37">
            <a:extLst>
              <a:ext uri="{FF2B5EF4-FFF2-40B4-BE49-F238E27FC236}">
                <a16:creationId xmlns:a16="http://schemas.microsoft.com/office/drawing/2014/main" id="{45A644D1-CD7A-47FF-AF7B-18530D21EE40}"/>
              </a:ext>
            </a:extLst>
          </p:cNvPr>
          <p:cNvSpPr>
            <a:spLocks noGrp="1"/>
          </p:cNvSpPr>
          <p:nvPr/>
        </p:nvSpPr>
        <p:spPr>
          <a:xfrm>
            <a:off x="8039100" y="4400550"/>
            <a:ext cx="2314575" cy="180975"/>
          </a:xfrm>
          <a:prstGeom prst="rect">
            <a:avLst/>
          </a:prstGeom>
          <a:solidFill>
            <a:srgbClr val="087F8C"/>
          </a:solidFill>
          <a:ln w="0">
            <a:noFill/>
          </a:ln>
        </p:spPr>
      </p:sp>
      <p:sp>
        <p:nvSpPr>
          <p:cNvPr id="39" name="Rectangle 38">
            <a:extLst>
              <a:ext uri="{FF2B5EF4-FFF2-40B4-BE49-F238E27FC236}">
                <a16:creationId xmlns:a16="http://schemas.microsoft.com/office/drawing/2014/main" id="{68E2B049-3B43-4E7F-A833-12C38DEAB8DA}"/>
              </a:ext>
            </a:extLst>
          </p:cNvPr>
          <p:cNvSpPr>
            <a:spLocks noGrp="1"/>
          </p:cNvSpPr>
          <p:nvPr/>
        </p:nvSpPr>
        <p:spPr>
          <a:xfrm>
            <a:off x="10429875" y="4343400"/>
            <a:ext cx="714375" cy="266700"/>
          </a:xfrm>
          <a:prstGeom prst="rect">
            <a:avLst/>
          </a:prstGeom>
          <a:noFill/>
          <a:ln w="0">
            <a:noFill/>
          </a:ln>
        </p:spPr>
        <p:txBody>
          <a:bodyPr>
            <a:noAutofit/>
          </a:bodyPr>
          <a:lstStyle/>
          <a:p>
            <a:pPr>
              <a:defRPr sz="1350" b="0">
                <a:solidFill>
                  <a:srgbClr val="526778"/>
                </a:solidFill>
                <a:latin typeface="Aptos"/>
                <a:ea typeface="Aptos"/>
                <a:cs typeface="Aptos"/>
              </a:defRPr>
            </a:pPr>
            <a:r>
              <a:rPr sz="1350" b="0">
                <a:solidFill>
                  <a:srgbClr val="526778"/>
                </a:solidFill>
                <a:latin typeface="Aptos"/>
                <a:ea typeface="Aptos"/>
                <a:cs typeface="Aptos"/>
              </a:rPr>
              <a:t>180</a:t>
            </a:r>
          </a:p>
        </p:txBody>
      </p:sp>
      <p:sp>
        <p:nvSpPr>
          <p:cNvPr id="40" name="Rectangle 39">
            <a:extLst>
              <a:ext uri="{FF2B5EF4-FFF2-40B4-BE49-F238E27FC236}">
                <a16:creationId xmlns:a16="http://schemas.microsoft.com/office/drawing/2014/main" id="{3B750D78-286E-47D6-B376-BE9F526A2C23}"/>
              </a:ext>
            </a:extLst>
          </p:cNvPr>
          <p:cNvSpPr>
            <a:spLocks noGrp="1"/>
          </p:cNvSpPr>
          <p:nvPr/>
        </p:nvSpPr>
        <p:spPr>
          <a:xfrm>
            <a:off x="6734175" y="4772025"/>
            <a:ext cx="1238250" cy="266700"/>
          </a:xfrm>
          <a:prstGeom prst="rect">
            <a:avLst/>
          </a:prstGeom>
          <a:noFill/>
          <a:ln w="0">
            <a:noFill/>
          </a:ln>
        </p:spPr>
        <p:txBody>
          <a:bodyPr>
            <a:noAutofit/>
          </a:bodyPr>
          <a:lstStyle/>
          <a:p>
            <a:pPr>
              <a:defRPr sz="1350" b="0">
                <a:solidFill>
                  <a:srgbClr val="16324A"/>
                </a:solidFill>
                <a:latin typeface="Aptos"/>
                <a:ea typeface="Aptos"/>
                <a:cs typeface="Aptos"/>
              </a:defRPr>
            </a:pPr>
            <a:r>
              <a:rPr sz="1350" b="0">
                <a:solidFill>
                  <a:srgbClr val="16324A"/>
                </a:solidFill>
                <a:latin typeface="Aptos"/>
                <a:ea typeface="Aptos"/>
                <a:cs typeface="Aptos"/>
              </a:rPr>
              <a:t>Walking</a:t>
            </a:r>
          </a:p>
        </p:txBody>
      </p:sp>
      <p:sp>
        <p:nvSpPr>
          <p:cNvPr id="41" name="Rectangle 40">
            <a:extLst>
              <a:ext uri="{FF2B5EF4-FFF2-40B4-BE49-F238E27FC236}">
                <a16:creationId xmlns:a16="http://schemas.microsoft.com/office/drawing/2014/main" id="{70FED1C2-086D-4FE9-A62A-08B84BE6950D}"/>
              </a:ext>
            </a:extLst>
          </p:cNvPr>
          <p:cNvSpPr>
            <a:spLocks noGrp="1"/>
          </p:cNvSpPr>
          <p:nvPr/>
        </p:nvSpPr>
        <p:spPr>
          <a:xfrm>
            <a:off x="8039100" y="4810125"/>
            <a:ext cx="1928813" cy="180975"/>
          </a:xfrm>
          <a:prstGeom prst="rect">
            <a:avLst/>
          </a:prstGeom>
          <a:solidFill>
            <a:srgbClr val="087F8C"/>
          </a:solidFill>
          <a:ln w="0">
            <a:noFill/>
          </a:ln>
        </p:spPr>
      </p:sp>
      <p:sp>
        <p:nvSpPr>
          <p:cNvPr id="42" name="Rectangle 41">
            <a:extLst>
              <a:ext uri="{FF2B5EF4-FFF2-40B4-BE49-F238E27FC236}">
                <a16:creationId xmlns:a16="http://schemas.microsoft.com/office/drawing/2014/main" id="{2761588A-8593-4987-8E22-B8FA75DCA801}"/>
              </a:ext>
            </a:extLst>
          </p:cNvPr>
          <p:cNvSpPr>
            <a:spLocks noGrp="1"/>
          </p:cNvSpPr>
          <p:nvPr/>
        </p:nvSpPr>
        <p:spPr>
          <a:xfrm>
            <a:off x="10429875" y="4752975"/>
            <a:ext cx="714375" cy="266700"/>
          </a:xfrm>
          <a:prstGeom prst="rect">
            <a:avLst/>
          </a:prstGeom>
          <a:noFill/>
          <a:ln w="0">
            <a:noFill/>
          </a:ln>
        </p:spPr>
        <p:txBody>
          <a:bodyPr>
            <a:noAutofit/>
          </a:bodyPr>
          <a:lstStyle/>
          <a:p>
            <a:pPr>
              <a:defRPr sz="1350" b="0">
                <a:solidFill>
                  <a:srgbClr val="526778"/>
                </a:solidFill>
                <a:latin typeface="Aptos"/>
                <a:ea typeface="Aptos"/>
                <a:cs typeface="Aptos"/>
              </a:defRPr>
            </a:pPr>
            <a:r>
              <a:rPr sz="1350" b="0">
                <a:solidFill>
                  <a:srgbClr val="526778"/>
                </a:solidFill>
                <a:latin typeface="Aptos"/>
                <a:ea typeface="Aptos"/>
                <a:cs typeface="Aptos"/>
              </a:rPr>
              <a:t>150</a:t>
            </a:r>
          </a:p>
        </p:txBody>
      </p:sp>
      <p:sp>
        <p:nvSpPr>
          <p:cNvPr id="43" name="Rectangle 42">
            <a:extLst>
              <a:ext uri="{FF2B5EF4-FFF2-40B4-BE49-F238E27FC236}">
                <a16:creationId xmlns:a16="http://schemas.microsoft.com/office/drawing/2014/main" id="{82EFEE26-9C91-4695-8E9B-7452A043B971}"/>
              </a:ext>
            </a:extLst>
          </p:cNvPr>
          <p:cNvSpPr>
            <a:spLocks noGrp="1"/>
          </p:cNvSpPr>
          <p:nvPr/>
        </p:nvSpPr>
        <p:spPr>
          <a:xfrm>
            <a:off x="6734175" y="5181600"/>
            <a:ext cx="1238250" cy="266700"/>
          </a:xfrm>
          <a:prstGeom prst="rect">
            <a:avLst/>
          </a:prstGeom>
          <a:noFill/>
          <a:ln w="0">
            <a:noFill/>
          </a:ln>
        </p:spPr>
        <p:txBody>
          <a:bodyPr>
            <a:noAutofit/>
          </a:bodyPr>
          <a:lstStyle/>
          <a:p>
            <a:pPr>
              <a:defRPr sz="1350" b="0">
                <a:solidFill>
                  <a:srgbClr val="16324A"/>
                </a:solidFill>
                <a:latin typeface="Aptos"/>
                <a:ea typeface="Aptos"/>
                <a:cs typeface="Aptos"/>
              </a:defRPr>
            </a:pPr>
            <a:r>
              <a:rPr sz="1350" b="0">
                <a:solidFill>
                  <a:srgbClr val="16324A"/>
                </a:solidFill>
                <a:latin typeface="Aptos"/>
                <a:ea typeface="Aptos"/>
                <a:cs typeface="Aptos"/>
              </a:rPr>
              <a:t>Cycling</a:t>
            </a:r>
          </a:p>
        </p:txBody>
      </p:sp>
      <p:sp>
        <p:nvSpPr>
          <p:cNvPr id="44" name="Rectangle 43">
            <a:extLst>
              <a:ext uri="{FF2B5EF4-FFF2-40B4-BE49-F238E27FC236}">
                <a16:creationId xmlns:a16="http://schemas.microsoft.com/office/drawing/2014/main" id="{2E9CA029-7655-44CF-BD11-07E1E7972F35}"/>
              </a:ext>
            </a:extLst>
          </p:cNvPr>
          <p:cNvSpPr>
            <a:spLocks noGrp="1"/>
          </p:cNvSpPr>
          <p:nvPr/>
        </p:nvSpPr>
        <p:spPr>
          <a:xfrm>
            <a:off x="8039100" y="5219700"/>
            <a:ext cx="1157288" cy="180975"/>
          </a:xfrm>
          <a:prstGeom prst="rect">
            <a:avLst/>
          </a:prstGeom>
          <a:solidFill>
            <a:srgbClr val="087F8C"/>
          </a:solidFill>
          <a:ln w="0">
            <a:noFill/>
          </a:ln>
        </p:spPr>
      </p:sp>
      <p:sp>
        <p:nvSpPr>
          <p:cNvPr id="45" name="Rectangle 44">
            <a:extLst>
              <a:ext uri="{FF2B5EF4-FFF2-40B4-BE49-F238E27FC236}">
                <a16:creationId xmlns:a16="http://schemas.microsoft.com/office/drawing/2014/main" id="{0044008D-E751-45D4-A130-3285F11E8566}"/>
              </a:ext>
            </a:extLst>
          </p:cNvPr>
          <p:cNvSpPr>
            <a:spLocks noGrp="1"/>
          </p:cNvSpPr>
          <p:nvPr/>
        </p:nvSpPr>
        <p:spPr>
          <a:xfrm>
            <a:off x="10429875" y="5162550"/>
            <a:ext cx="714375" cy="266700"/>
          </a:xfrm>
          <a:prstGeom prst="rect">
            <a:avLst/>
          </a:prstGeom>
          <a:noFill/>
          <a:ln w="0">
            <a:noFill/>
          </a:ln>
        </p:spPr>
        <p:txBody>
          <a:bodyPr>
            <a:noAutofit/>
          </a:bodyPr>
          <a:lstStyle/>
          <a:p>
            <a:pPr>
              <a:defRPr sz="1350" b="0">
                <a:solidFill>
                  <a:srgbClr val="526778"/>
                </a:solidFill>
                <a:latin typeface="Aptos"/>
                <a:ea typeface="Aptos"/>
                <a:cs typeface="Aptos"/>
              </a:defRPr>
            </a:pPr>
            <a:r>
              <a:rPr sz="1350" b="0">
                <a:solidFill>
                  <a:srgbClr val="526778"/>
                </a:solidFill>
                <a:latin typeface="Aptos"/>
                <a:ea typeface="Aptos"/>
                <a:cs typeface="Aptos"/>
              </a:rPr>
              <a:t>90</a:t>
            </a:r>
          </a:p>
        </p:txBody>
      </p:sp>
      <p:sp>
        <p:nvSpPr>
          <p:cNvPr id="46" name="Rectangle 45">
            <a:extLst>
              <a:ext uri="{FF2B5EF4-FFF2-40B4-BE49-F238E27FC236}">
                <a16:creationId xmlns:a16="http://schemas.microsoft.com/office/drawing/2014/main" id="{625032E4-1F6A-42C4-9365-ED5E2FF8D729}"/>
              </a:ext>
            </a:extLst>
          </p:cNvPr>
          <p:cNvSpPr>
            <a:spLocks noGrp="1"/>
          </p:cNvSpPr>
          <p:nvPr/>
        </p:nvSpPr>
        <p:spPr>
          <a:xfrm>
            <a:off x="609600" y="6067425"/>
            <a:ext cx="10953750" cy="342900"/>
          </a:xfrm>
          <a:prstGeom prst="rect">
            <a:avLst/>
          </a:prstGeom>
          <a:noFill/>
          <a:ln w="0">
            <a:noFill/>
          </a:ln>
        </p:spPr>
        <p:txBody>
          <a:bodyPr>
            <a:noAutofit/>
          </a:bodyPr>
          <a:lstStyle/>
          <a:p>
            <a:pPr>
              <a:defRPr sz="1650" b="0">
                <a:solidFill>
                  <a:srgbClr val="526778"/>
                </a:solidFill>
                <a:latin typeface="Aptos"/>
                <a:ea typeface="Aptos"/>
                <a:cs typeface="Aptos"/>
              </a:defRPr>
            </a:pPr>
            <a:r>
              <a:rPr sz="1650" b="0">
                <a:solidFill>
                  <a:srgbClr val="526778"/>
                </a:solidFill>
                <a:latin typeface="Aptos"/>
                <a:ea typeface="Aptos"/>
                <a:cs typeface="Aptos"/>
              </a:rPr>
              <a:t>Select a member or period, then open daily detail or the goals page</a:t>
            </a:r>
          </a:p>
        </p:txBody>
      </p:sp>
    </p:spTree>
    <p:extLst>
      <p:ext uri="{BB962C8B-B14F-4D97-AF65-F5344CB8AC3E}">
        <p14:creationId xmlns:p14="http://schemas.microsoft.com/office/powerpoint/2010/main" val="2069039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2AAA49B-BE2B-4E2A-9989-7E786F62F064}"/>
              </a:ext>
            </a:extLst>
          </p:cNvPr>
          <p:cNvSpPr>
            <a:spLocks noGrp="1"/>
          </p:cNvSpPr>
          <p:nvPr/>
        </p:nvSpPr>
        <p:spPr>
          <a:xfrm>
            <a:off x="609600" y="457200"/>
            <a:ext cx="10972800" cy="666750"/>
          </a:xfrm>
          <a:prstGeom prst="rect">
            <a:avLst/>
          </a:prstGeom>
          <a:noFill/>
          <a:ln w="0">
            <a:noFill/>
          </a:ln>
        </p:spPr>
        <p:txBody>
          <a:bodyPr>
            <a:noAutofit/>
          </a:bodyPr>
          <a:lstStyle/>
          <a:p>
            <a:pPr>
              <a:defRPr sz="3150" b="1">
                <a:solidFill>
                  <a:srgbClr val="10283F"/>
                </a:solidFill>
                <a:latin typeface="Aptos"/>
                <a:ea typeface="Aptos"/>
                <a:cs typeface="Aptos"/>
              </a:defRPr>
            </a:pPr>
            <a:r>
              <a:rPr sz="3150" b="1">
                <a:solidFill>
                  <a:srgbClr val="10283F"/>
                </a:solidFill>
                <a:latin typeface="Aptos"/>
                <a:ea typeface="Aptos"/>
                <a:cs typeface="Aptos"/>
              </a:rPr>
              <a:t>Report Pages &amp; Interactions</a:t>
            </a:r>
          </a:p>
        </p:txBody>
      </p:sp>
      <p:sp>
        <p:nvSpPr>
          <p:cNvPr id="2" name="Rectangle 1">
            <a:extLst>
              <a:ext uri="{FF2B5EF4-FFF2-40B4-BE49-F238E27FC236}">
                <a16:creationId xmlns:a16="http://schemas.microsoft.com/office/drawing/2014/main" id="{D0213ADA-B3F7-4AF6-BDE4-BA6795F08349}"/>
              </a:ext>
            </a:extLst>
          </p:cNvPr>
          <p:cNvSpPr>
            <a:spLocks noGrp="1"/>
          </p:cNvSpPr>
          <p:nvPr/>
        </p:nvSpPr>
        <p:spPr>
          <a:xfrm>
            <a:off x="609600" y="1219200"/>
            <a:ext cx="10972800" cy="590550"/>
          </a:xfrm>
          <a:prstGeom prst="rect">
            <a:avLst/>
          </a:prstGeom>
          <a:noFill/>
          <a:ln w="0">
            <a:noFill/>
          </a:ln>
        </p:spPr>
        <p:txBody>
          <a:bodyPr>
            <a:noAutofit/>
          </a:bodyPr>
          <a:lstStyle/>
          <a:p>
            <a:pPr>
              <a:defRPr sz="1725" b="0">
                <a:solidFill>
                  <a:srgbClr val="526778"/>
                </a:solidFill>
                <a:latin typeface="Aptos"/>
                <a:ea typeface="Aptos"/>
                <a:cs typeface="Aptos"/>
              </a:defRPr>
            </a:pPr>
            <a:r>
              <a:rPr sz="1725" b="0">
                <a:solidFill>
                  <a:srgbClr val="526778"/>
                </a:solidFill>
                <a:latin typeface="Aptos"/>
                <a:ea typeface="Aptos"/>
                <a:cs typeface="Aptos"/>
              </a:rPr>
              <a:t>A clear exploration path for managers, coaches and members</a:t>
            </a:r>
          </a:p>
        </p:txBody>
      </p:sp>
      <p:sp>
        <p:nvSpPr>
          <p:cNvPr id="3" name="Rectangle 2">
            <a:extLst>
              <a:ext uri="{FF2B5EF4-FFF2-40B4-BE49-F238E27FC236}">
                <a16:creationId xmlns:a16="http://schemas.microsoft.com/office/drawing/2014/main" id="{6781511C-2EA7-4815-865B-F0DEB244634E}"/>
              </a:ext>
            </a:extLst>
          </p:cNvPr>
          <p:cNvSpPr>
            <a:spLocks noGrp="1"/>
          </p:cNvSpPr>
          <p:nvPr/>
        </p:nvSpPr>
        <p:spPr>
          <a:xfrm>
            <a:off x="11049000" y="6410325"/>
            <a:ext cx="523875" cy="238125"/>
          </a:xfrm>
          <a:prstGeom prst="rect">
            <a:avLst/>
          </a:prstGeom>
          <a:noFill/>
          <a:ln w="0">
            <a:noFill/>
          </a:ln>
        </p:spPr>
        <p:txBody>
          <a:bodyPr>
            <a:noAutofit/>
          </a:bodyPr>
          <a:lstStyle/>
          <a:p>
            <a:pPr>
              <a:defRPr sz="1125" b="0">
                <a:solidFill>
                  <a:srgbClr val="526778"/>
                </a:solidFill>
                <a:latin typeface="Aptos"/>
                <a:ea typeface="Aptos"/>
                <a:cs typeface="Aptos"/>
              </a:defRPr>
            </a:pPr>
            <a:r>
              <a:rPr sz="1125" b="0">
                <a:solidFill>
                  <a:srgbClr val="526778"/>
                </a:solidFill>
                <a:latin typeface="Aptos"/>
                <a:ea typeface="Aptos"/>
                <a:cs typeface="Aptos"/>
              </a:rPr>
              <a:t>12</a:t>
            </a:r>
          </a:p>
        </p:txBody>
      </p:sp>
      <p:sp>
        <p:nvSpPr>
          <p:cNvPr id="4" name="Rectangle 3">
            <a:extLst>
              <a:ext uri="{FF2B5EF4-FFF2-40B4-BE49-F238E27FC236}">
                <a16:creationId xmlns:a16="http://schemas.microsoft.com/office/drawing/2014/main" id="{F8D95458-7BF3-489C-BE3B-82D90E5759F3}"/>
              </a:ext>
            </a:extLst>
          </p:cNvPr>
          <p:cNvSpPr>
            <a:spLocks noGrp="1"/>
          </p:cNvSpPr>
          <p:nvPr/>
        </p:nvSpPr>
        <p:spPr>
          <a:xfrm>
            <a:off x="609600" y="2000250"/>
            <a:ext cx="619125" cy="409575"/>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01</a:t>
            </a:r>
          </a:p>
        </p:txBody>
      </p:sp>
      <p:sp>
        <p:nvSpPr>
          <p:cNvPr id="5" name="Rectangle 4">
            <a:extLst>
              <a:ext uri="{FF2B5EF4-FFF2-40B4-BE49-F238E27FC236}">
                <a16:creationId xmlns:a16="http://schemas.microsoft.com/office/drawing/2014/main" id="{3A248DF3-E0CB-4BB8-AEEE-573B3E03B638}"/>
              </a:ext>
            </a:extLst>
          </p:cNvPr>
          <p:cNvSpPr>
            <a:spLocks noGrp="1"/>
          </p:cNvSpPr>
          <p:nvPr/>
        </p:nvSpPr>
        <p:spPr>
          <a:xfrm>
            <a:off x="1495425" y="2000250"/>
            <a:ext cx="3429000" cy="438150"/>
          </a:xfrm>
          <a:prstGeom prst="rect">
            <a:avLst/>
          </a:prstGeom>
          <a:noFill/>
          <a:ln w="0">
            <a:noFill/>
          </a:ln>
        </p:spPr>
        <p:txBody>
          <a:bodyPr>
            <a:noAutofit/>
          </a:bodyPr>
          <a:lstStyle/>
          <a:p>
            <a:pPr>
              <a:defRPr sz="2025" b="1">
                <a:solidFill>
                  <a:srgbClr val="10283F"/>
                </a:solidFill>
                <a:latin typeface="Aptos"/>
                <a:ea typeface="Aptos"/>
                <a:cs typeface="Aptos"/>
              </a:defRPr>
            </a:pPr>
            <a:r>
              <a:rPr sz="2025" b="1">
                <a:solidFill>
                  <a:srgbClr val="10283F"/>
                </a:solidFill>
                <a:latin typeface="Aptos"/>
                <a:ea typeface="Aptos"/>
                <a:cs typeface="Aptos"/>
              </a:rPr>
              <a:t>Overview</a:t>
            </a:r>
          </a:p>
        </p:txBody>
      </p:sp>
      <p:sp>
        <p:nvSpPr>
          <p:cNvPr id="6" name="Rectangle 5">
            <a:extLst>
              <a:ext uri="{FF2B5EF4-FFF2-40B4-BE49-F238E27FC236}">
                <a16:creationId xmlns:a16="http://schemas.microsoft.com/office/drawing/2014/main" id="{EA20A374-6F91-4D65-9DDF-CABAA3E47CC2}"/>
              </a:ext>
            </a:extLst>
          </p:cNvPr>
          <p:cNvSpPr>
            <a:spLocks noGrp="1"/>
          </p:cNvSpPr>
          <p:nvPr/>
        </p:nvSpPr>
        <p:spPr>
          <a:xfrm>
            <a:off x="5429250" y="2000250"/>
            <a:ext cx="6048375" cy="638175"/>
          </a:xfrm>
          <a:prstGeom prst="rect">
            <a:avLst/>
          </a:prstGeom>
          <a:noFill/>
          <a:ln w="0">
            <a:noFill/>
          </a:ln>
        </p:spPr>
        <p:txBody>
          <a:bodyPr>
            <a:noAutofit/>
          </a:bodyPr>
          <a:lstStyle/>
          <a:p>
            <a:pPr>
              <a:defRPr sz="1800" b="0">
                <a:solidFill>
                  <a:srgbClr val="16324A"/>
                </a:solidFill>
                <a:latin typeface="Aptos"/>
                <a:ea typeface="Aptos"/>
                <a:cs typeface="Aptos"/>
              </a:defRPr>
            </a:pPr>
            <a:r>
              <a:rPr sz="1800" b="0">
                <a:solidFill>
                  <a:srgbClr val="16324A"/>
                </a:solidFill>
                <a:latin typeface="Aptos"/>
                <a:ea typeface="Aptos"/>
                <a:cs typeface="Aptos"/>
              </a:rPr>
              <a:t>Filter a month to review attendance and data freshness.</a:t>
            </a:r>
          </a:p>
        </p:txBody>
      </p:sp>
      <p:sp>
        <p:nvSpPr>
          <p:cNvPr id="7" name="Rectangle 6">
            <a:extLst>
              <a:ext uri="{FF2B5EF4-FFF2-40B4-BE49-F238E27FC236}">
                <a16:creationId xmlns:a16="http://schemas.microsoft.com/office/drawing/2014/main" id="{1FC1D5D5-FFFC-46D7-960C-6FCA6C4F5C52}"/>
              </a:ext>
            </a:extLst>
          </p:cNvPr>
          <p:cNvSpPr>
            <a:spLocks noGrp="1"/>
          </p:cNvSpPr>
          <p:nvPr/>
        </p:nvSpPr>
        <p:spPr>
          <a:xfrm>
            <a:off x="609600" y="2838450"/>
            <a:ext cx="619125" cy="409575"/>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02</a:t>
            </a:r>
          </a:p>
        </p:txBody>
      </p:sp>
      <p:sp>
        <p:nvSpPr>
          <p:cNvPr id="8" name="Rectangle 7">
            <a:extLst>
              <a:ext uri="{FF2B5EF4-FFF2-40B4-BE49-F238E27FC236}">
                <a16:creationId xmlns:a16="http://schemas.microsoft.com/office/drawing/2014/main" id="{9FFEDDE0-B2AC-4C5A-9A6A-7C3757B4EFF2}"/>
              </a:ext>
            </a:extLst>
          </p:cNvPr>
          <p:cNvSpPr>
            <a:spLocks noGrp="1"/>
          </p:cNvSpPr>
          <p:nvPr/>
        </p:nvSpPr>
        <p:spPr>
          <a:xfrm>
            <a:off x="1495425" y="2838450"/>
            <a:ext cx="3429000" cy="438150"/>
          </a:xfrm>
          <a:prstGeom prst="rect">
            <a:avLst/>
          </a:prstGeom>
          <a:noFill/>
          <a:ln w="0">
            <a:noFill/>
          </a:ln>
        </p:spPr>
        <p:txBody>
          <a:bodyPr>
            <a:noAutofit/>
          </a:bodyPr>
          <a:lstStyle/>
          <a:p>
            <a:pPr>
              <a:defRPr sz="2025" b="1">
                <a:solidFill>
                  <a:srgbClr val="10283F"/>
                </a:solidFill>
                <a:latin typeface="Aptos"/>
                <a:ea typeface="Aptos"/>
                <a:cs typeface="Aptos"/>
              </a:defRPr>
            </a:pPr>
            <a:r>
              <a:rPr sz="2025" b="1">
                <a:solidFill>
                  <a:srgbClr val="10283F"/>
                </a:solidFill>
                <a:latin typeface="Aptos"/>
                <a:ea typeface="Aptos"/>
                <a:cs typeface="Aptos"/>
              </a:rPr>
              <a:t>Member progress</a:t>
            </a:r>
          </a:p>
        </p:txBody>
      </p:sp>
      <p:sp>
        <p:nvSpPr>
          <p:cNvPr id="9" name="Rectangle 8">
            <a:extLst>
              <a:ext uri="{FF2B5EF4-FFF2-40B4-BE49-F238E27FC236}">
                <a16:creationId xmlns:a16="http://schemas.microsoft.com/office/drawing/2014/main" id="{9FE9A314-A3C1-47F0-A9A7-E2772461BF27}"/>
              </a:ext>
            </a:extLst>
          </p:cNvPr>
          <p:cNvSpPr>
            <a:spLocks noGrp="1"/>
          </p:cNvSpPr>
          <p:nvPr/>
        </p:nvSpPr>
        <p:spPr>
          <a:xfrm>
            <a:off x="5429250" y="2838450"/>
            <a:ext cx="6048375" cy="638175"/>
          </a:xfrm>
          <a:prstGeom prst="rect">
            <a:avLst/>
          </a:prstGeom>
          <a:noFill/>
          <a:ln w="0">
            <a:noFill/>
          </a:ln>
        </p:spPr>
        <p:txBody>
          <a:bodyPr>
            <a:noAutofit/>
          </a:bodyPr>
          <a:lstStyle/>
          <a:p>
            <a:pPr>
              <a:defRPr sz="1800" b="0">
                <a:solidFill>
                  <a:srgbClr val="16324A"/>
                </a:solidFill>
                <a:latin typeface="Aptos"/>
                <a:ea typeface="Aptos"/>
                <a:cs typeface="Aptos"/>
              </a:defRPr>
            </a:pPr>
            <a:r>
              <a:rPr sz="1800" b="0">
                <a:solidFill>
                  <a:srgbClr val="16324A"/>
                </a:solidFill>
                <a:latin typeface="Aptos"/>
                <a:ea typeface="Aptos"/>
                <a:cs typeface="Aptos"/>
              </a:rPr>
              <a:t>Select a member to explore weight, height and goal history.</a:t>
            </a:r>
          </a:p>
        </p:txBody>
      </p:sp>
      <p:sp>
        <p:nvSpPr>
          <p:cNvPr id="10" name="Rectangle 9">
            <a:extLst>
              <a:ext uri="{FF2B5EF4-FFF2-40B4-BE49-F238E27FC236}">
                <a16:creationId xmlns:a16="http://schemas.microsoft.com/office/drawing/2014/main" id="{9F570359-EDA2-4D83-9E77-528AD33F4DBE}"/>
              </a:ext>
            </a:extLst>
          </p:cNvPr>
          <p:cNvSpPr>
            <a:spLocks noGrp="1"/>
          </p:cNvSpPr>
          <p:nvPr/>
        </p:nvSpPr>
        <p:spPr>
          <a:xfrm>
            <a:off x="609600" y="3676650"/>
            <a:ext cx="619125" cy="409575"/>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03</a:t>
            </a:r>
          </a:p>
        </p:txBody>
      </p:sp>
      <p:sp>
        <p:nvSpPr>
          <p:cNvPr id="11" name="Rectangle 10">
            <a:extLst>
              <a:ext uri="{FF2B5EF4-FFF2-40B4-BE49-F238E27FC236}">
                <a16:creationId xmlns:a16="http://schemas.microsoft.com/office/drawing/2014/main" id="{8B477D5C-EF2D-4BED-8BFC-FABC9B5AB4F8}"/>
              </a:ext>
            </a:extLst>
          </p:cNvPr>
          <p:cNvSpPr>
            <a:spLocks noGrp="1"/>
          </p:cNvSpPr>
          <p:nvPr/>
        </p:nvSpPr>
        <p:spPr>
          <a:xfrm>
            <a:off x="1495425" y="3676650"/>
            <a:ext cx="3429000" cy="438150"/>
          </a:xfrm>
          <a:prstGeom prst="rect">
            <a:avLst/>
          </a:prstGeom>
          <a:noFill/>
          <a:ln w="0">
            <a:noFill/>
          </a:ln>
        </p:spPr>
        <p:txBody>
          <a:bodyPr>
            <a:noAutofit/>
          </a:bodyPr>
          <a:lstStyle/>
          <a:p>
            <a:pPr>
              <a:defRPr sz="2025" b="1">
                <a:solidFill>
                  <a:srgbClr val="10283F"/>
                </a:solidFill>
                <a:latin typeface="Aptos"/>
                <a:ea typeface="Aptos"/>
                <a:cs typeface="Aptos"/>
              </a:defRPr>
            </a:pPr>
            <a:r>
              <a:rPr sz="2025" b="1">
                <a:solidFill>
                  <a:srgbClr val="10283F"/>
                </a:solidFill>
                <a:latin typeface="Aptos"/>
                <a:ea typeface="Aptos"/>
                <a:cs typeface="Aptos"/>
              </a:rPr>
              <a:t>Daily activity</a:t>
            </a:r>
          </a:p>
        </p:txBody>
      </p:sp>
      <p:sp>
        <p:nvSpPr>
          <p:cNvPr id="12" name="Rectangle 11">
            <a:extLst>
              <a:ext uri="{FF2B5EF4-FFF2-40B4-BE49-F238E27FC236}">
                <a16:creationId xmlns:a16="http://schemas.microsoft.com/office/drawing/2014/main" id="{5DBDE30E-DCC3-45D5-B6E9-B82A2A4AF053}"/>
              </a:ext>
            </a:extLst>
          </p:cNvPr>
          <p:cNvSpPr>
            <a:spLocks noGrp="1"/>
          </p:cNvSpPr>
          <p:nvPr/>
        </p:nvSpPr>
        <p:spPr>
          <a:xfrm>
            <a:off x="5429250" y="3676650"/>
            <a:ext cx="6048375" cy="638175"/>
          </a:xfrm>
          <a:prstGeom prst="rect">
            <a:avLst/>
          </a:prstGeom>
          <a:noFill/>
          <a:ln w="0">
            <a:noFill/>
          </a:ln>
        </p:spPr>
        <p:txBody>
          <a:bodyPr>
            <a:noAutofit/>
          </a:bodyPr>
          <a:lstStyle/>
          <a:p>
            <a:pPr>
              <a:defRPr sz="1800" b="0">
                <a:solidFill>
                  <a:srgbClr val="16324A"/>
                </a:solidFill>
                <a:latin typeface="Aptos"/>
                <a:ea typeface="Aptos"/>
                <a:cs typeface="Aptos"/>
              </a:defRPr>
            </a:pPr>
            <a:r>
              <a:rPr sz="1800" b="0">
                <a:solidFill>
                  <a:srgbClr val="16324A"/>
                </a:solidFill>
                <a:latin typeface="Aptos"/>
                <a:ea typeface="Aptos"/>
                <a:cs typeface="Aptos"/>
              </a:rPr>
              <a:t>Drill through a date to inspect sessions and recorded measurements.</a:t>
            </a:r>
          </a:p>
        </p:txBody>
      </p:sp>
      <p:sp>
        <p:nvSpPr>
          <p:cNvPr id="13" name="Rectangle 12">
            <a:extLst>
              <a:ext uri="{FF2B5EF4-FFF2-40B4-BE49-F238E27FC236}">
                <a16:creationId xmlns:a16="http://schemas.microsoft.com/office/drawing/2014/main" id="{06A07BA6-EA53-48CF-85DC-8DBBC7BA1131}"/>
              </a:ext>
            </a:extLst>
          </p:cNvPr>
          <p:cNvSpPr>
            <a:spLocks noGrp="1"/>
          </p:cNvSpPr>
          <p:nvPr/>
        </p:nvSpPr>
        <p:spPr>
          <a:xfrm>
            <a:off x="609600" y="4514850"/>
            <a:ext cx="619125" cy="409575"/>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04</a:t>
            </a:r>
          </a:p>
        </p:txBody>
      </p:sp>
      <p:sp>
        <p:nvSpPr>
          <p:cNvPr id="14" name="Rectangle 13">
            <a:extLst>
              <a:ext uri="{FF2B5EF4-FFF2-40B4-BE49-F238E27FC236}">
                <a16:creationId xmlns:a16="http://schemas.microsoft.com/office/drawing/2014/main" id="{456C7A82-8C06-4188-B6FB-C079B4C13459}"/>
              </a:ext>
            </a:extLst>
          </p:cNvPr>
          <p:cNvSpPr>
            <a:spLocks noGrp="1"/>
          </p:cNvSpPr>
          <p:nvPr/>
        </p:nvSpPr>
        <p:spPr>
          <a:xfrm>
            <a:off x="1495425" y="4514850"/>
            <a:ext cx="3429000" cy="438150"/>
          </a:xfrm>
          <a:prstGeom prst="rect">
            <a:avLst/>
          </a:prstGeom>
          <a:noFill/>
          <a:ln w="0">
            <a:noFill/>
          </a:ln>
        </p:spPr>
        <p:txBody>
          <a:bodyPr>
            <a:noAutofit/>
          </a:bodyPr>
          <a:lstStyle/>
          <a:p>
            <a:pPr>
              <a:defRPr sz="2025" b="1">
                <a:solidFill>
                  <a:srgbClr val="10283F"/>
                </a:solidFill>
                <a:latin typeface="Aptos"/>
                <a:ea typeface="Aptos"/>
                <a:cs typeface="Aptos"/>
              </a:defRPr>
            </a:pPr>
            <a:r>
              <a:rPr sz="2025" b="1">
                <a:solidFill>
                  <a:srgbClr val="10283F"/>
                </a:solidFill>
                <a:latin typeface="Aptos"/>
                <a:ea typeface="Aptos"/>
                <a:cs typeface="Aptos"/>
              </a:rPr>
              <a:t>Goals &amp; consistency</a:t>
            </a:r>
          </a:p>
        </p:txBody>
      </p:sp>
      <p:sp>
        <p:nvSpPr>
          <p:cNvPr id="15" name="Rectangle 14">
            <a:extLst>
              <a:ext uri="{FF2B5EF4-FFF2-40B4-BE49-F238E27FC236}">
                <a16:creationId xmlns:a16="http://schemas.microsoft.com/office/drawing/2014/main" id="{429ABD4F-A263-4FDF-8F09-59D57DCE82B8}"/>
              </a:ext>
            </a:extLst>
          </p:cNvPr>
          <p:cNvSpPr>
            <a:spLocks noGrp="1"/>
          </p:cNvSpPr>
          <p:nvPr/>
        </p:nvSpPr>
        <p:spPr>
          <a:xfrm>
            <a:off x="5429250" y="4514850"/>
            <a:ext cx="6048375" cy="638175"/>
          </a:xfrm>
          <a:prstGeom prst="rect">
            <a:avLst/>
          </a:prstGeom>
          <a:noFill/>
          <a:ln w="0">
            <a:noFill/>
          </a:ln>
        </p:spPr>
        <p:txBody>
          <a:bodyPr>
            <a:noAutofit/>
          </a:bodyPr>
          <a:lstStyle/>
          <a:p>
            <a:pPr>
              <a:defRPr sz="1800" b="0">
                <a:solidFill>
                  <a:srgbClr val="16324A"/>
                </a:solidFill>
                <a:latin typeface="Aptos"/>
                <a:ea typeface="Aptos"/>
                <a:cs typeface="Aptos"/>
              </a:defRPr>
            </a:pPr>
            <a:r>
              <a:rPr sz="1800" b="0">
                <a:solidFill>
                  <a:srgbClr val="16324A"/>
                </a:solidFill>
                <a:latin typeface="Aptos"/>
                <a:ea typeface="Aptos"/>
                <a:cs typeface="Aptos"/>
              </a:rPr>
              <a:t>Compare actuals with personal targets and inspect missed sessions.</a:t>
            </a:r>
          </a:p>
        </p:txBody>
      </p:sp>
      <p:sp>
        <p:nvSpPr>
          <p:cNvPr id="16" name="Rectangle 15">
            <a:extLst>
              <a:ext uri="{FF2B5EF4-FFF2-40B4-BE49-F238E27FC236}">
                <a16:creationId xmlns:a16="http://schemas.microsoft.com/office/drawing/2014/main" id="{5A25CCF1-7CDB-4918-A758-8E930412BEAC}"/>
              </a:ext>
            </a:extLst>
          </p:cNvPr>
          <p:cNvSpPr>
            <a:spLocks noGrp="1"/>
          </p:cNvSpPr>
          <p:nvPr/>
        </p:nvSpPr>
        <p:spPr>
          <a:xfrm>
            <a:off x="609600" y="5715000"/>
            <a:ext cx="10953750" cy="409575"/>
          </a:xfrm>
          <a:prstGeom prst="rect">
            <a:avLst/>
          </a:prstGeom>
          <a:noFill/>
          <a:ln w="0">
            <a:noFill/>
          </a:ln>
        </p:spPr>
        <p:txBody>
          <a:bodyPr>
            <a:noAutofit/>
          </a:bodyPr>
          <a:lstStyle/>
          <a:p>
            <a:pPr>
              <a:defRPr sz="1800" b="1">
                <a:solidFill>
                  <a:srgbClr val="087F8C"/>
                </a:solidFill>
                <a:latin typeface="Aptos"/>
                <a:ea typeface="Aptos"/>
                <a:cs typeface="Aptos"/>
              </a:defRPr>
            </a:pPr>
            <a:r>
              <a:rPr sz="1800" b="1">
                <a:solidFill>
                  <a:srgbClr val="087F8C"/>
                </a:solidFill>
                <a:latin typeface="Aptos"/>
                <a:ea typeface="Aptos"/>
                <a:cs typeface="Aptos"/>
              </a:rPr>
              <a:t>Optional data entry: an embedded form can save new measurements</a:t>
            </a:r>
          </a:p>
        </p:txBody>
      </p:sp>
    </p:spTree>
    <p:extLst>
      <p:ext uri="{BB962C8B-B14F-4D97-AF65-F5344CB8AC3E}">
        <p14:creationId xmlns:p14="http://schemas.microsoft.com/office/powerpoint/2010/main" val="783070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64195F1-D6C3-4605-BEF1-003C99E58174}"/>
              </a:ext>
            </a:extLst>
          </p:cNvPr>
          <p:cNvSpPr>
            <a:spLocks noGrp="1"/>
          </p:cNvSpPr>
          <p:nvPr/>
        </p:nvSpPr>
        <p:spPr>
          <a:xfrm>
            <a:off x="609600" y="457200"/>
            <a:ext cx="10972800" cy="666750"/>
          </a:xfrm>
          <a:prstGeom prst="rect">
            <a:avLst/>
          </a:prstGeom>
          <a:noFill/>
          <a:ln w="0">
            <a:noFill/>
          </a:ln>
        </p:spPr>
        <p:txBody>
          <a:bodyPr>
            <a:noAutofit/>
          </a:bodyPr>
          <a:lstStyle/>
          <a:p>
            <a:pPr>
              <a:defRPr sz="3150" b="1">
                <a:solidFill>
                  <a:srgbClr val="10283F"/>
                </a:solidFill>
                <a:latin typeface="Aptos"/>
                <a:ea typeface="Aptos"/>
                <a:cs typeface="Aptos"/>
              </a:defRPr>
            </a:pPr>
            <a:r>
              <a:rPr sz="3150" b="1">
                <a:solidFill>
                  <a:srgbClr val="10283F"/>
                </a:solidFill>
                <a:latin typeface="Aptos"/>
                <a:ea typeface="Aptos"/>
                <a:cs typeface="Aptos"/>
              </a:rPr>
              <a:t>GitHub &amp; CI/CD</a:t>
            </a:r>
          </a:p>
        </p:txBody>
      </p:sp>
      <p:sp>
        <p:nvSpPr>
          <p:cNvPr id="2" name="Rectangle 1">
            <a:extLst>
              <a:ext uri="{FF2B5EF4-FFF2-40B4-BE49-F238E27FC236}">
                <a16:creationId xmlns:a16="http://schemas.microsoft.com/office/drawing/2014/main" id="{20E9FD29-7FC1-43E5-BDB8-684347F897B9}"/>
              </a:ext>
            </a:extLst>
          </p:cNvPr>
          <p:cNvSpPr>
            <a:spLocks noGrp="1"/>
          </p:cNvSpPr>
          <p:nvPr/>
        </p:nvSpPr>
        <p:spPr>
          <a:xfrm>
            <a:off x="609600" y="1219200"/>
            <a:ext cx="10972800" cy="590550"/>
          </a:xfrm>
          <a:prstGeom prst="rect">
            <a:avLst/>
          </a:prstGeom>
          <a:noFill/>
          <a:ln w="0">
            <a:noFill/>
          </a:ln>
        </p:spPr>
        <p:txBody>
          <a:bodyPr>
            <a:noAutofit/>
          </a:bodyPr>
          <a:lstStyle/>
          <a:p>
            <a:pPr>
              <a:defRPr sz="1725" b="0">
                <a:solidFill>
                  <a:srgbClr val="526778"/>
                </a:solidFill>
                <a:latin typeface="Aptos"/>
                <a:ea typeface="Aptos"/>
                <a:cs typeface="Aptos"/>
              </a:defRPr>
            </a:pPr>
            <a:r>
              <a:rPr sz="1725" b="0">
                <a:solidFill>
                  <a:srgbClr val="526778"/>
                </a:solidFill>
                <a:latin typeface="Aptos"/>
                <a:ea typeface="Aptos"/>
                <a:cs typeface="Aptos"/>
              </a:rPr>
              <a:t>A versioned delivery process across engineering and reporting</a:t>
            </a:r>
          </a:p>
        </p:txBody>
      </p:sp>
      <p:sp>
        <p:nvSpPr>
          <p:cNvPr id="3" name="Rectangle 2">
            <a:extLst>
              <a:ext uri="{FF2B5EF4-FFF2-40B4-BE49-F238E27FC236}">
                <a16:creationId xmlns:a16="http://schemas.microsoft.com/office/drawing/2014/main" id="{F671563F-33A8-474A-A9F4-59EA2DA9BEEF}"/>
              </a:ext>
            </a:extLst>
          </p:cNvPr>
          <p:cNvSpPr>
            <a:spLocks noGrp="1"/>
          </p:cNvSpPr>
          <p:nvPr/>
        </p:nvSpPr>
        <p:spPr>
          <a:xfrm>
            <a:off x="11049000" y="6410325"/>
            <a:ext cx="523875" cy="238125"/>
          </a:xfrm>
          <a:prstGeom prst="rect">
            <a:avLst/>
          </a:prstGeom>
          <a:noFill/>
          <a:ln w="0">
            <a:noFill/>
          </a:ln>
        </p:spPr>
        <p:txBody>
          <a:bodyPr>
            <a:noAutofit/>
          </a:bodyPr>
          <a:lstStyle/>
          <a:p>
            <a:pPr>
              <a:defRPr sz="1125" b="0">
                <a:solidFill>
                  <a:srgbClr val="526778"/>
                </a:solidFill>
                <a:latin typeface="Aptos"/>
                <a:ea typeface="Aptos"/>
                <a:cs typeface="Aptos"/>
              </a:defRPr>
            </a:pPr>
            <a:r>
              <a:rPr sz="1125" b="0">
                <a:solidFill>
                  <a:srgbClr val="526778"/>
                </a:solidFill>
                <a:latin typeface="Aptos"/>
                <a:ea typeface="Aptos"/>
                <a:cs typeface="Aptos"/>
              </a:rPr>
              <a:t>13</a:t>
            </a:r>
          </a:p>
        </p:txBody>
      </p:sp>
      <p:sp>
        <p:nvSpPr>
          <p:cNvPr id="4" name="Rectangle 3">
            <a:extLst>
              <a:ext uri="{FF2B5EF4-FFF2-40B4-BE49-F238E27FC236}">
                <a16:creationId xmlns:a16="http://schemas.microsoft.com/office/drawing/2014/main" id="{9309F37B-194C-4E33-BC83-7060BA48A297}"/>
              </a:ext>
            </a:extLst>
          </p:cNvPr>
          <p:cNvSpPr>
            <a:spLocks noGrp="1"/>
          </p:cNvSpPr>
          <p:nvPr/>
        </p:nvSpPr>
        <p:spPr>
          <a:xfrm>
            <a:off x="609600" y="2028825"/>
            <a:ext cx="50482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Repository scope</a:t>
            </a:r>
          </a:p>
        </p:txBody>
      </p:sp>
      <p:sp>
        <p:nvSpPr>
          <p:cNvPr id="5" name="Rectangle 4">
            <a:extLst>
              <a:ext uri="{FF2B5EF4-FFF2-40B4-BE49-F238E27FC236}">
                <a16:creationId xmlns:a16="http://schemas.microsoft.com/office/drawing/2014/main" id="{49D190FC-2BA3-451A-9E5B-AAEB17F6C2D0}"/>
              </a:ext>
            </a:extLst>
          </p:cNvPr>
          <p:cNvSpPr>
            <a:spLocks noGrp="1"/>
          </p:cNvSpPr>
          <p:nvPr/>
        </p:nvSpPr>
        <p:spPr>
          <a:xfrm>
            <a:off x="609600" y="2638425"/>
            <a:ext cx="5381625" cy="2905125"/>
          </a:xfrm>
          <a:prstGeom prst="rect">
            <a:avLst/>
          </a:prstGeom>
          <a:noFill/>
          <a:ln w="0">
            <a:noFill/>
          </a:ln>
        </p:spPr>
        <p:txBody>
          <a:bodyPr>
            <a:noAutofit/>
          </a:bodyPr>
          <a:lstStyle/>
          <a:p>
            <a:pPr>
              <a:defRPr sz="1800" b="0">
                <a:solidFill>
                  <a:srgbClr val="16324A"/>
                </a:solidFill>
                <a:latin typeface="Aptos"/>
                <a:ea typeface="Aptos"/>
                <a:cs typeface="Aptos"/>
              </a:defRPr>
            </a:pPr>
            <a:r>
              <a:rPr sz="1800" b="0">
                <a:solidFill>
                  <a:srgbClr val="16324A"/>
                </a:solidFill>
                <a:latin typeface="Aptos"/>
                <a:ea typeface="Aptos"/>
                <a:cs typeface="Aptos"/>
              </a:rPr>
              <a:t>PySpark / Python and SQL</a:t>
            </a:r>
          </a:p>
          <a:p>
            <a:pPr>
              <a:defRPr sz="1800" b="0">
                <a:solidFill>
                  <a:srgbClr val="16324A"/>
                </a:solidFill>
                <a:latin typeface="Aptos"/>
                <a:ea typeface="Aptos"/>
                <a:cs typeface="Aptos"/>
              </a:defRPr>
            </a:pPr>
            <a:r>
              <a:rPr sz="1800" b="0">
                <a:solidFill>
                  <a:srgbClr val="16324A"/>
                </a:solidFill>
                <a:latin typeface="Aptos"/>
                <a:ea typeface="Aptos"/>
                <a:cs typeface="Aptos"/>
              </a:rPr>
              <a:t>Databricks notebooks and scripts</a:t>
            </a:r>
          </a:p>
          <a:p>
            <a:pPr>
              <a:defRPr sz="1800" b="0">
                <a:solidFill>
                  <a:srgbClr val="16324A"/>
                </a:solidFill>
                <a:latin typeface="Aptos"/>
                <a:ea typeface="Aptos"/>
                <a:cs typeface="Aptos"/>
              </a:defRPr>
            </a:pPr>
            <a:r>
              <a:rPr sz="1800" b="0">
                <a:solidFill>
                  <a:srgbClr val="16324A"/>
                </a:solidFill>
                <a:latin typeface="Aptos"/>
                <a:ea typeface="Aptos"/>
                <a:cs typeface="Aptos"/>
              </a:rPr>
              <a:t>Workflow / job configuration</a:t>
            </a:r>
          </a:p>
          <a:p>
            <a:pPr>
              <a:defRPr sz="1800" b="0">
                <a:solidFill>
                  <a:srgbClr val="16324A"/>
                </a:solidFill>
                <a:latin typeface="Aptos"/>
                <a:ea typeface="Aptos"/>
                <a:cs typeface="Aptos"/>
              </a:defRPr>
            </a:pPr>
            <a:r>
              <a:rPr sz="1800" b="0">
                <a:solidFill>
                  <a:srgbClr val="16324A"/>
                </a:solidFill>
                <a:latin typeface="Aptos"/>
                <a:ea typeface="Aptos"/>
                <a:cs typeface="Aptos"/>
              </a:rPr>
              <a:t>Power BI PBIP assets, where appropriate</a:t>
            </a:r>
          </a:p>
          <a:p>
            <a:pPr>
              <a:defRPr sz="1800" b="0">
                <a:solidFill>
                  <a:srgbClr val="16324A"/>
                </a:solidFill>
                <a:latin typeface="Aptos"/>
                <a:ea typeface="Aptos"/>
                <a:cs typeface="Aptos"/>
              </a:defRPr>
            </a:pPr>
            <a:r>
              <a:rPr sz="1800" b="0">
                <a:solidFill>
                  <a:srgbClr val="16324A"/>
                </a:solidFill>
                <a:latin typeface="Aptos"/>
                <a:ea typeface="Aptos"/>
                <a:cs typeface="Aptos"/>
              </a:rPr>
              <a:t>DAX documentation</a:t>
            </a:r>
          </a:p>
          <a:p>
            <a:pPr>
              <a:defRPr sz="1800" b="0">
                <a:solidFill>
                  <a:srgbClr val="16324A"/>
                </a:solidFill>
                <a:latin typeface="Aptos"/>
                <a:ea typeface="Aptos"/>
                <a:cs typeface="Aptos"/>
              </a:defRPr>
            </a:pPr>
            <a:r>
              <a:rPr sz="1800" b="0">
                <a:solidFill>
                  <a:srgbClr val="16324A"/>
                </a:solidFill>
                <a:latin typeface="Aptos"/>
                <a:ea typeface="Aptos"/>
                <a:cs typeface="Aptos"/>
              </a:rPr>
              <a:t>README and architecture docs</a:t>
            </a:r>
          </a:p>
          <a:p>
            <a:pPr>
              <a:defRPr sz="1800" b="0">
                <a:solidFill>
                  <a:srgbClr val="16324A"/>
                </a:solidFill>
                <a:latin typeface="Aptos"/>
                <a:ea typeface="Aptos"/>
                <a:cs typeface="Aptos"/>
              </a:defRPr>
            </a:pPr>
            <a:r>
              <a:rPr sz="1800" b="0">
                <a:solidFill>
                  <a:srgbClr val="16324A"/>
                </a:solidFill>
                <a:latin typeface="Aptos"/>
                <a:ea typeface="Aptos"/>
                <a:cs typeface="Aptos"/>
              </a:rPr>
              <a:t>CI/CD workflow definitions</a:t>
            </a:r>
          </a:p>
        </p:txBody>
      </p:sp>
      <p:sp>
        <p:nvSpPr>
          <p:cNvPr id="6" name="Rectangle 5">
            <a:extLst>
              <a:ext uri="{FF2B5EF4-FFF2-40B4-BE49-F238E27FC236}">
                <a16:creationId xmlns:a16="http://schemas.microsoft.com/office/drawing/2014/main" id="{8050803B-98C5-4F5C-AD8E-0B13E7ABFF6C}"/>
              </a:ext>
            </a:extLst>
          </p:cNvPr>
          <p:cNvSpPr>
            <a:spLocks noGrp="1"/>
          </p:cNvSpPr>
          <p:nvPr/>
        </p:nvSpPr>
        <p:spPr>
          <a:xfrm>
            <a:off x="6934200" y="2028825"/>
            <a:ext cx="44767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Release flow</a:t>
            </a:r>
          </a:p>
        </p:txBody>
      </p:sp>
      <p:sp>
        <p:nvSpPr>
          <p:cNvPr id="7" name="Rectangle 6">
            <a:extLst>
              <a:ext uri="{FF2B5EF4-FFF2-40B4-BE49-F238E27FC236}">
                <a16:creationId xmlns:a16="http://schemas.microsoft.com/office/drawing/2014/main" id="{69645DFC-9E68-4420-AFEC-BCCDBFF33305}"/>
              </a:ext>
            </a:extLst>
          </p:cNvPr>
          <p:cNvSpPr>
            <a:spLocks noGrp="1"/>
          </p:cNvSpPr>
          <p:nvPr/>
        </p:nvSpPr>
        <p:spPr>
          <a:xfrm>
            <a:off x="6962775" y="2676525"/>
            <a:ext cx="523875" cy="3810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01</a:t>
            </a:r>
          </a:p>
        </p:txBody>
      </p:sp>
      <p:sp>
        <p:nvSpPr>
          <p:cNvPr id="8" name="Rectangle 7">
            <a:extLst>
              <a:ext uri="{FF2B5EF4-FFF2-40B4-BE49-F238E27FC236}">
                <a16:creationId xmlns:a16="http://schemas.microsoft.com/office/drawing/2014/main" id="{B1B664D4-DBF9-4909-965E-F8840B975088}"/>
              </a:ext>
            </a:extLst>
          </p:cNvPr>
          <p:cNvSpPr>
            <a:spLocks noGrp="1"/>
          </p:cNvSpPr>
          <p:nvPr/>
        </p:nvSpPr>
        <p:spPr>
          <a:xfrm>
            <a:off x="7600950" y="2676525"/>
            <a:ext cx="3857625" cy="476250"/>
          </a:xfrm>
          <a:prstGeom prst="rect">
            <a:avLst/>
          </a:prstGeom>
          <a:noFill/>
          <a:ln w="0">
            <a:noFill/>
          </a:ln>
        </p:spPr>
        <p:txBody>
          <a:bodyPr>
            <a:noAutofit/>
          </a:bodyPr>
          <a:lstStyle/>
          <a:p>
            <a:pPr>
              <a:defRPr sz="1800" b="0">
                <a:solidFill>
                  <a:srgbClr val="16324A"/>
                </a:solidFill>
                <a:latin typeface="Aptos"/>
                <a:ea typeface="Aptos"/>
                <a:cs typeface="Aptos"/>
              </a:defRPr>
            </a:pPr>
            <a:r>
              <a:rPr sz="1800" b="0">
                <a:solidFill>
                  <a:srgbClr val="16324A"/>
                </a:solidFill>
                <a:latin typeface="Aptos"/>
                <a:ea typeface="Aptos"/>
                <a:cs typeface="Aptos"/>
              </a:rPr>
              <a:t>Commit + pull request</a:t>
            </a:r>
          </a:p>
        </p:txBody>
      </p:sp>
      <p:sp>
        <p:nvSpPr>
          <p:cNvPr id="9" name="Rectangle 8">
            <a:extLst>
              <a:ext uri="{FF2B5EF4-FFF2-40B4-BE49-F238E27FC236}">
                <a16:creationId xmlns:a16="http://schemas.microsoft.com/office/drawing/2014/main" id="{0BB8DF5A-424D-4377-A138-97F5BE92C0A2}"/>
              </a:ext>
            </a:extLst>
          </p:cNvPr>
          <p:cNvSpPr>
            <a:spLocks noGrp="1"/>
          </p:cNvSpPr>
          <p:nvPr/>
        </p:nvSpPr>
        <p:spPr>
          <a:xfrm>
            <a:off x="6962775" y="3390900"/>
            <a:ext cx="523875" cy="3810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02</a:t>
            </a:r>
          </a:p>
        </p:txBody>
      </p:sp>
      <p:sp>
        <p:nvSpPr>
          <p:cNvPr id="10" name="Rectangle 9">
            <a:extLst>
              <a:ext uri="{FF2B5EF4-FFF2-40B4-BE49-F238E27FC236}">
                <a16:creationId xmlns:a16="http://schemas.microsoft.com/office/drawing/2014/main" id="{AB07F0CC-3496-4B02-8A14-594E39BBA44A}"/>
              </a:ext>
            </a:extLst>
          </p:cNvPr>
          <p:cNvSpPr>
            <a:spLocks noGrp="1"/>
          </p:cNvSpPr>
          <p:nvPr/>
        </p:nvSpPr>
        <p:spPr>
          <a:xfrm>
            <a:off x="7600950" y="3390900"/>
            <a:ext cx="3857625" cy="476250"/>
          </a:xfrm>
          <a:prstGeom prst="rect">
            <a:avLst/>
          </a:prstGeom>
          <a:noFill/>
          <a:ln w="0">
            <a:noFill/>
          </a:ln>
        </p:spPr>
        <p:txBody>
          <a:bodyPr>
            <a:noAutofit/>
          </a:bodyPr>
          <a:lstStyle/>
          <a:p>
            <a:pPr>
              <a:defRPr sz="1800" b="0">
                <a:solidFill>
                  <a:srgbClr val="16324A"/>
                </a:solidFill>
                <a:latin typeface="Aptos"/>
                <a:ea typeface="Aptos"/>
                <a:cs typeface="Aptos"/>
              </a:defRPr>
            </a:pPr>
            <a:r>
              <a:rPr sz="1800" b="0">
                <a:solidFill>
                  <a:srgbClr val="16324A"/>
                </a:solidFill>
                <a:latin typeface="Aptos"/>
                <a:ea typeface="Aptos"/>
                <a:cs typeface="Aptos"/>
              </a:rPr>
              <a:t>Automated validation</a:t>
            </a:r>
          </a:p>
        </p:txBody>
      </p:sp>
      <p:sp>
        <p:nvSpPr>
          <p:cNvPr id="11" name="Rectangle 10">
            <a:extLst>
              <a:ext uri="{FF2B5EF4-FFF2-40B4-BE49-F238E27FC236}">
                <a16:creationId xmlns:a16="http://schemas.microsoft.com/office/drawing/2014/main" id="{AD55B9A7-F458-41E7-A411-6E6B33578513}"/>
              </a:ext>
            </a:extLst>
          </p:cNvPr>
          <p:cNvSpPr>
            <a:spLocks noGrp="1"/>
          </p:cNvSpPr>
          <p:nvPr/>
        </p:nvSpPr>
        <p:spPr>
          <a:xfrm>
            <a:off x="6962775" y="4105275"/>
            <a:ext cx="523875" cy="3810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03</a:t>
            </a:r>
          </a:p>
        </p:txBody>
      </p:sp>
      <p:sp>
        <p:nvSpPr>
          <p:cNvPr id="12" name="Rectangle 11">
            <a:extLst>
              <a:ext uri="{FF2B5EF4-FFF2-40B4-BE49-F238E27FC236}">
                <a16:creationId xmlns:a16="http://schemas.microsoft.com/office/drawing/2014/main" id="{715787A3-8FF6-46E9-BF34-62611B4D0F12}"/>
              </a:ext>
            </a:extLst>
          </p:cNvPr>
          <p:cNvSpPr>
            <a:spLocks noGrp="1"/>
          </p:cNvSpPr>
          <p:nvPr/>
        </p:nvSpPr>
        <p:spPr>
          <a:xfrm>
            <a:off x="7600950" y="4105275"/>
            <a:ext cx="3857625" cy="476250"/>
          </a:xfrm>
          <a:prstGeom prst="rect">
            <a:avLst/>
          </a:prstGeom>
          <a:noFill/>
          <a:ln w="0">
            <a:noFill/>
          </a:ln>
        </p:spPr>
        <p:txBody>
          <a:bodyPr>
            <a:noAutofit/>
          </a:bodyPr>
          <a:lstStyle/>
          <a:p>
            <a:pPr>
              <a:defRPr sz="1800" b="0">
                <a:solidFill>
                  <a:srgbClr val="16324A"/>
                </a:solidFill>
                <a:latin typeface="Aptos"/>
                <a:ea typeface="Aptos"/>
                <a:cs typeface="Aptos"/>
              </a:defRPr>
            </a:pPr>
            <a:r>
              <a:rPr sz="1800" b="0">
                <a:solidFill>
                  <a:srgbClr val="16324A"/>
                </a:solidFill>
                <a:latin typeface="Aptos"/>
                <a:ea typeface="Aptos"/>
                <a:cs typeface="Aptos"/>
              </a:rPr>
              <a:t>Deploy to test + review</a:t>
            </a:r>
          </a:p>
        </p:txBody>
      </p:sp>
      <p:sp>
        <p:nvSpPr>
          <p:cNvPr id="13" name="Rectangle 12">
            <a:extLst>
              <a:ext uri="{FF2B5EF4-FFF2-40B4-BE49-F238E27FC236}">
                <a16:creationId xmlns:a16="http://schemas.microsoft.com/office/drawing/2014/main" id="{BDA99C11-5C95-4FA0-A9FA-9BD752D28043}"/>
              </a:ext>
            </a:extLst>
          </p:cNvPr>
          <p:cNvSpPr>
            <a:spLocks noGrp="1"/>
          </p:cNvSpPr>
          <p:nvPr/>
        </p:nvSpPr>
        <p:spPr>
          <a:xfrm>
            <a:off x="6962775" y="4819650"/>
            <a:ext cx="523875" cy="38100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04</a:t>
            </a:r>
          </a:p>
        </p:txBody>
      </p:sp>
      <p:sp>
        <p:nvSpPr>
          <p:cNvPr id="14" name="Rectangle 13">
            <a:extLst>
              <a:ext uri="{FF2B5EF4-FFF2-40B4-BE49-F238E27FC236}">
                <a16:creationId xmlns:a16="http://schemas.microsoft.com/office/drawing/2014/main" id="{A1AA5A22-DF64-49DD-9D94-03DBF477565E}"/>
              </a:ext>
            </a:extLst>
          </p:cNvPr>
          <p:cNvSpPr>
            <a:spLocks noGrp="1"/>
          </p:cNvSpPr>
          <p:nvPr/>
        </p:nvSpPr>
        <p:spPr>
          <a:xfrm>
            <a:off x="7600950" y="4819650"/>
            <a:ext cx="3857625" cy="476250"/>
          </a:xfrm>
          <a:prstGeom prst="rect">
            <a:avLst/>
          </a:prstGeom>
          <a:noFill/>
          <a:ln w="0">
            <a:noFill/>
          </a:ln>
        </p:spPr>
        <p:txBody>
          <a:bodyPr>
            <a:noAutofit/>
          </a:bodyPr>
          <a:lstStyle/>
          <a:p>
            <a:pPr>
              <a:defRPr sz="1800" b="0">
                <a:solidFill>
                  <a:srgbClr val="16324A"/>
                </a:solidFill>
                <a:latin typeface="Aptos"/>
                <a:ea typeface="Aptos"/>
                <a:cs typeface="Aptos"/>
              </a:defRPr>
            </a:pPr>
            <a:r>
              <a:rPr sz="1800" b="0">
                <a:solidFill>
                  <a:srgbClr val="16324A"/>
                </a:solidFill>
                <a:latin typeface="Aptos"/>
                <a:ea typeface="Aptos"/>
                <a:cs typeface="Aptos"/>
              </a:rPr>
              <a:t>Approve + release to production</a:t>
            </a:r>
          </a:p>
        </p:txBody>
      </p:sp>
      <p:sp>
        <p:nvSpPr>
          <p:cNvPr id="15" name="Rectangle 14">
            <a:extLst>
              <a:ext uri="{FF2B5EF4-FFF2-40B4-BE49-F238E27FC236}">
                <a16:creationId xmlns:a16="http://schemas.microsoft.com/office/drawing/2014/main" id="{2D14BA93-AA5F-497A-8B7E-607918E433FA}"/>
              </a:ext>
            </a:extLst>
          </p:cNvPr>
          <p:cNvSpPr>
            <a:spLocks noGrp="1"/>
          </p:cNvSpPr>
          <p:nvPr/>
        </p:nvSpPr>
        <p:spPr>
          <a:xfrm>
            <a:off x="609600" y="6038850"/>
            <a:ext cx="10763250" cy="333375"/>
          </a:xfrm>
          <a:prstGeom prst="rect">
            <a:avLst/>
          </a:prstGeom>
          <a:noFill/>
          <a:ln w="0">
            <a:noFill/>
          </a:ln>
        </p:spPr>
        <p:txBody>
          <a:bodyPr>
            <a:noAutofit/>
          </a:bodyPr>
          <a:lstStyle/>
          <a:p>
            <a:pPr>
              <a:defRPr sz="1650" b="0">
                <a:solidFill>
                  <a:srgbClr val="526778"/>
                </a:solidFill>
                <a:latin typeface="Aptos"/>
                <a:ea typeface="Aptos"/>
                <a:cs typeface="Aptos"/>
              </a:defRPr>
            </a:pPr>
            <a:r>
              <a:rPr sz="1650" b="0">
                <a:solidFill>
                  <a:srgbClr val="526778"/>
                </a:solidFill>
                <a:latin typeface="Aptos"/>
                <a:ea typeface="Aptos"/>
                <a:cs typeface="Aptos"/>
              </a:rPr>
              <a:t>GitHub contains code and sample data. Personal member records stay in secured storage.</a:t>
            </a:r>
          </a:p>
        </p:txBody>
      </p:sp>
    </p:spTree>
    <p:extLst>
      <p:ext uri="{BB962C8B-B14F-4D97-AF65-F5344CB8AC3E}">
        <p14:creationId xmlns:p14="http://schemas.microsoft.com/office/powerpoint/2010/main" val="125426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5B823C6-51A3-457A-A54E-53AFB729F26D}"/>
              </a:ext>
            </a:extLst>
          </p:cNvPr>
          <p:cNvSpPr>
            <a:spLocks noGrp="1"/>
          </p:cNvSpPr>
          <p:nvPr/>
        </p:nvSpPr>
        <p:spPr>
          <a:xfrm>
            <a:off x="609600" y="457200"/>
            <a:ext cx="10972800" cy="666750"/>
          </a:xfrm>
          <a:prstGeom prst="rect">
            <a:avLst/>
          </a:prstGeom>
          <a:noFill/>
          <a:ln w="0">
            <a:noFill/>
          </a:ln>
        </p:spPr>
        <p:txBody>
          <a:bodyPr>
            <a:noAutofit/>
          </a:bodyPr>
          <a:lstStyle/>
          <a:p>
            <a:pPr>
              <a:defRPr sz="3150" b="1">
                <a:solidFill>
                  <a:srgbClr val="10283F"/>
                </a:solidFill>
                <a:latin typeface="Aptos"/>
                <a:ea typeface="Aptos"/>
                <a:cs typeface="Aptos"/>
              </a:defRPr>
            </a:pPr>
            <a:r>
              <a:rPr sz="3150" b="1">
                <a:solidFill>
                  <a:srgbClr val="10283F"/>
                </a:solidFill>
                <a:latin typeface="Aptos"/>
                <a:ea typeface="Aptos"/>
                <a:cs typeface="Aptos"/>
              </a:rPr>
              <a:t>Data Quality &amp; Monitoring</a:t>
            </a:r>
          </a:p>
        </p:txBody>
      </p:sp>
      <p:sp>
        <p:nvSpPr>
          <p:cNvPr id="2" name="Rectangle 1">
            <a:extLst>
              <a:ext uri="{FF2B5EF4-FFF2-40B4-BE49-F238E27FC236}">
                <a16:creationId xmlns:a16="http://schemas.microsoft.com/office/drawing/2014/main" id="{94E9E858-2142-4CDA-AAC2-5419E1C08B73}"/>
              </a:ext>
            </a:extLst>
          </p:cNvPr>
          <p:cNvSpPr>
            <a:spLocks noGrp="1"/>
          </p:cNvSpPr>
          <p:nvPr/>
        </p:nvSpPr>
        <p:spPr>
          <a:xfrm>
            <a:off x="609600" y="1219200"/>
            <a:ext cx="10972800" cy="590550"/>
          </a:xfrm>
          <a:prstGeom prst="rect">
            <a:avLst/>
          </a:prstGeom>
          <a:noFill/>
          <a:ln w="0">
            <a:noFill/>
          </a:ln>
        </p:spPr>
        <p:txBody>
          <a:bodyPr>
            <a:noAutofit/>
          </a:bodyPr>
          <a:lstStyle/>
          <a:p>
            <a:pPr>
              <a:defRPr sz="1725" b="0">
                <a:solidFill>
                  <a:srgbClr val="526778"/>
                </a:solidFill>
                <a:latin typeface="Aptos"/>
                <a:ea typeface="Aptos"/>
                <a:cs typeface="Aptos"/>
              </a:defRPr>
            </a:pPr>
            <a:r>
              <a:rPr sz="1725" b="0">
                <a:solidFill>
                  <a:srgbClr val="526778"/>
                </a:solidFill>
                <a:latin typeface="Aptos"/>
                <a:ea typeface="Aptos"/>
                <a:cs typeface="Aptos"/>
              </a:rPr>
              <a:t>Trusted member reviews depend on complete, dated records</a:t>
            </a:r>
          </a:p>
        </p:txBody>
      </p:sp>
      <p:sp>
        <p:nvSpPr>
          <p:cNvPr id="3" name="Rectangle 2">
            <a:extLst>
              <a:ext uri="{FF2B5EF4-FFF2-40B4-BE49-F238E27FC236}">
                <a16:creationId xmlns:a16="http://schemas.microsoft.com/office/drawing/2014/main" id="{607A1267-177A-4DE9-B440-4C1C6BB34786}"/>
              </a:ext>
            </a:extLst>
          </p:cNvPr>
          <p:cNvSpPr>
            <a:spLocks noGrp="1"/>
          </p:cNvSpPr>
          <p:nvPr/>
        </p:nvSpPr>
        <p:spPr>
          <a:xfrm>
            <a:off x="11049000" y="6410325"/>
            <a:ext cx="523875" cy="238125"/>
          </a:xfrm>
          <a:prstGeom prst="rect">
            <a:avLst/>
          </a:prstGeom>
          <a:noFill/>
          <a:ln w="0">
            <a:noFill/>
          </a:ln>
        </p:spPr>
        <p:txBody>
          <a:bodyPr>
            <a:noAutofit/>
          </a:bodyPr>
          <a:lstStyle/>
          <a:p>
            <a:pPr>
              <a:defRPr sz="1125" b="0">
                <a:solidFill>
                  <a:srgbClr val="526778"/>
                </a:solidFill>
                <a:latin typeface="Aptos"/>
                <a:ea typeface="Aptos"/>
                <a:cs typeface="Aptos"/>
              </a:defRPr>
            </a:pPr>
            <a:r>
              <a:rPr sz="1125" b="0">
                <a:solidFill>
                  <a:srgbClr val="526778"/>
                </a:solidFill>
                <a:latin typeface="Aptos"/>
                <a:ea typeface="Aptos"/>
                <a:cs typeface="Aptos"/>
              </a:rPr>
              <a:t>14</a:t>
            </a:r>
          </a:p>
        </p:txBody>
      </p:sp>
      <p:sp>
        <p:nvSpPr>
          <p:cNvPr id="4" name="Rectangle 3">
            <a:extLst>
              <a:ext uri="{FF2B5EF4-FFF2-40B4-BE49-F238E27FC236}">
                <a16:creationId xmlns:a16="http://schemas.microsoft.com/office/drawing/2014/main" id="{48C6D030-1DA7-4656-9F8A-E761589E7183}"/>
              </a:ext>
            </a:extLst>
          </p:cNvPr>
          <p:cNvSpPr>
            <a:spLocks noGrp="1"/>
          </p:cNvSpPr>
          <p:nvPr/>
        </p:nvSpPr>
        <p:spPr>
          <a:xfrm>
            <a:off x="609600" y="2286000"/>
            <a:ext cx="33337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Data checks</a:t>
            </a:r>
          </a:p>
        </p:txBody>
      </p:sp>
      <p:sp>
        <p:nvSpPr>
          <p:cNvPr id="5" name="Rectangle 4">
            <a:extLst>
              <a:ext uri="{FF2B5EF4-FFF2-40B4-BE49-F238E27FC236}">
                <a16:creationId xmlns:a16="http://schemas.microsoft.com/office/drawing/2014/main" id="{A246C977-551B-4396-8780-A798562D8A6B}"/>
              </a:ext>
            </a:extLst>
          </p:cNvPr>
          <p:cNvSpPr>
            <a:spLocks noGrp="1"/>
          </p:cNvSpPr>
          <p:nvPr/>
        </p:nvSpPr>
        <p:spPr>
          <a:xfrm>
            <a:off x="609600" y="2971800"/>
            <a:ext cx="3333750" cy="2381250"/>
          </a:xfrm>
          <a:prstGeom prst="rect">
            <a:avLst/>
          </a:prstGeom>
          <a:noFill/>
          <a:ln w="0">
            <a:noFill/>
          </a:ln>
        </p:spPr>
        <p:txBody>
          <a:bodyPr>
            <a:noAutofit/>
          </a:bodyPr>
          <a:lstStyle/>
          <a:p>
            <a:pPr>
              <a:defRPr sz="1950" b="0">
                <a:solidFill>
                  <a:srgbClr val="16324A"/>
                </a:solidFill>
                <a:latin typeface="Aptos"/>
                <a:ea typeface="Aptos"/>
                <a:cs typeface="Aptos"/>
              </a:defRPr>
            </a:pPr>
            <a:r>
              <a:rPr sz="1950" b="0">
                <a:solidFill>
                  <a:srgbClr val="16324A"/>
                </a:solidFill>
                <a:latin typeface="Aptos"/>
                <a:ea typeface="Aptos"/>
                <a:cs typeface="Aptos"/>
              </a:rPr>
              <a:t>Unique measurement and session IDs</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Consistent kg, cm and minute units</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Valid member references</a:t>
            </a:r>
          </a:p>
        </p:txBody>
      </p:sp>
      <p:sp>
        <p:nvSpPr>
          <p:cNvPr id="6" name="Rectangle 5">
            <a:extLst>
              <a:ext uri="{FF2B5EF4-FFF2-40B4-BE49-F238E27FC236}">
                <a16:creationId xmlns:a16="http://schemas.microsoft.com/office/drawing/2014/main" id="{FB15EDDC-92DD-4431-819C-6BE2A040C822}"/>
              </a:ext>
            </a:extLst>
          </p:cNvPr>
          <p:cNvSpPr>
            <a:spLocks noGrp="1"/>
          </p:cNvSpPr>
          <p:nvPr/>
        </p:nvSpPr>
        <p:spPr>
          <a:xfrm>
            <a:off x="4419600" y="2286000"/>
            <a:ext cx="33337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Freshness checks</a:t>
            </a:r>
          </a:p>
        </p:txBody>
      </p:sp>
      <p:sp>
        <p:nvSpPr>
          <p:cNvPr id="7" name="Rectangle 6">
            <a:extLst>
              <a:ext uri="{FF2B5EF4-FFF2-40B4-BE49-F238E27FC236}">
                <a16:creationId xmlns:a16="http://schemas.microsoft.com/office/drawing/2014/main" id="{8D8B96F6-E8F8-4E29-824B-7484DF65AE78}"/>
              </a:ext>
            </a:extLst>
          </p:cNvPr>
          <p:cNvSpPr>
            <a:spLocks noGrp="1"/>
          </p:cNvSpPr>
          <p:nvPr/>
        </p:nvSpPr>
        <p:spPr>
          <a:xfrm>
            <a:off x="4419600" y="2971800"/>
            <a:ext cx="3333750" cy="2381250"/>
          </a:xfrm>
          <a:prstGeom prst="rect">
            <a:avLst/>
          </a:prstGeom>
          <a:noFill/>
          <a:ln w="0">
            <a:noFill/>
          </a:ln>
        </p:spPr>
        <p:txBody>
          <a:bodyPr>
            <a:noAutofit/>
          </a:bodyPr>
          <a:lstStyle/>
          <a:p>
            <a:pPr>
              <a:defRPr sz="1950" b="0">
                <a:solidFill>
                  <a:srgbClr val="16324A"/>
                </a:solidFill>
                <a:latin typeface="Aptos"/>
                <a:ea typeface="Aptos"/>
                <a:cs typeface="Aptos"/>
              </a:defRPr>
            </a:pPr>
            <a:r>
              <a:rPr sz="1950" b="0">
                <a:solidFill>
                  <a:srgbClr val="16324A"/>
                </a:solidFill>
                <a:latin typeface="Aptos"/>
                <a:ea typeface="Aptos"/>
                <a:cs typeface="Aptos"/>
              </a:rPr>
              <a:t>Latest file and job status</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Last recorded weight and height</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Missing expected entries</a:t>
            </a:r>
          </a:p>
        </p:txBody>
      </p:sp>
      <p:sp>
        <p:nvSpPr>
          <p:cNvPr id="8" name="Rectangle 7">
            <a:extLst>
              <a:ext uri="{FF2B5EF4-FFF2-40B4-BE49-F238E27FC236}">
                <a16:creationId xmlns:a16="http://schemas.microsoft.com/office/drawing/2014/main" id="{06C9F2B9-6E05-40B9-BEA3-C33781D68638}"/>
              </a:ext>
            </a:extLst>
          </p:cNvPr>
          <p:cNvSpPr>
            <a:spLocks noGrp="1"/>
          </p:cNvSpPr>
          <p:nvPr/>
        </p:nvSpPr>
        <p:spPr>
          <a:xfrm>
            <a:off x="8229600" y="2286000"/>
            <a:ext cx="3333750" cy="476250"/>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Quality response</a:t>
            </a:r>
          </a:p>
        </p:txBody>
      </p:sp>
      <p:sp>
        <p:nvSpPr>
          <p:cNvPr id="9" name="Rectangle 8">
            <a:extLst>
              <a:ext uri="{FF2B5EF4-FFF2-40B4-BE49-F238E27FC236}">
                <a16:creationId xmlns:a16="http://schemas.microsoft.com/office/drawing/2014/main" id="{44C43C55-5AAC-4E51-9A01-3575627108E9}"/>
              </a:ext>
            </a:extLst>
          </p:cNvPr>
          <p:cNvSpPr>
            <a:spLocks noGrp="1"/>
          </p:cNvSpPr>
          <p:nvPr/>
        </p:nvSpPr>
        <p:spPr>
          <a:xfrm>
            <a:off x="8229600" y="2971800"/>
            <a:ext cx="3333750" cy="2381250"/>
          </a:xfrm>
          <a:prstGeom prst="rect">
            <a:avLst/>
          </a:prstGeom>
          <a:noFill/>
          <a:ln w="0">
            <a:noFill/>
          </a:ln>
        </p:spPr>
        <p:txBody>
          <a:bodyPr>
            <a:noAutofit/>
          </a:bodyPr>
          <a:lstStyle/>
          <a:p>
            <a:pPr>
              <a:defRPr sz="1950" b="0">
                <a:solidFill>
                  <a:srgbClr val="16324A"/>
                </a:solidFill>
                <a:latin typeface="Aptos"/>
                <a:ea typeface="Aptos"/>
                <a:cs typeface="Aptos"/>
              </a:defRPr>
            </a:pPr>
            <a:r>
              <a:rPr sz="1950" b="0">
                <a:solidFill>
                  <a:srgbClr val="16324A"/>
                </a:solidFill>
                <a:latin typeface="Aptos"/>
                <a:ea typeface="Aptos"/>
                <a:cs typeface="Aptos"/>
              </a:rPr>
              <a:t>Flag exceptions for review</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Preserve original values</a:t>
            </a:r>
          </a:p>
          <a:p>
            <a:endParaRPr sz="1950" b="0">
              <a:solidFill>
                <a:srgbClr val="16324A"/>
              </a:solidFill>
              <a:latin typeface="Aptos"/>
              <a:ea typeface="Aptos"/>
              <a:cs typeface="Aptos"/>
            </a:endParaRPr>
          </a:p>
          <a:p>
            <a:pPr>
              <a:defRPr sz="1950" b="0">
                <a:solidFill>
                  <a:srgbClr val="16324A"/>
                </a:solidFill>
                <a:latin typeface="Aptos"/>
                <a:ea typeface="Aptos"/>
                <a:cs typeface="Aptos"/>
              </a:defRPr>
            </a:pPr>
            <a:r>
              <a:rPr sz="1950" b="0">
                <a:solidFill>
                  <a:srgbClr val="16324A"/>
                </a:solidFill>
                <a:latin typeface="Aptos"/>
                <a:ea typeface="Aptos"/>
                <a:cs typeface="Aptos"/>
              </a:rPr>
              <a:t>Reprocess corrected records</a:t>
            </a:r>
          </a:p>
        </p:txBody>
      </p:sp>
      <p:sp>
        <p:nvSpPr>
          <p:cNvPr id="10" name="Rectangle 9">
            <a:extLst>
              <a:ext uri="{FF2B5EF4-FFF2-40B4-BE49-F238E27FC236}">
                <a16:creationId xmlns:a16="http://schemas.microsoft.com/office/drawing/2014/main" id="{B61BFCCE-CE84-437D-A751-DA904DE250A3}"/>
              </a:ext>
            </a:extLst>
          </p:cNvPr>
          <p:cNvSpPr>
            <a:spLocks noGrp="1"/>
          </p:cNvSpPr>
          <p:nvPr/>
        </p:nvSpPr>
        <p:spPr>
          <a:xfrm>
            <a:off x="609600" y="5924550"/>
            <a:ext cx="10858500" cy="438150"/>
          </a:xfrm>
          <a:prstGeom prst="rect">
            <a:avLst/>
          </a:prstGeom>
          <a:noFill/>
          <a:ln w="0">
            <a:noFill/>
          </a:ln>
        </p:spPr>
        <p:txBody>
          <a:bodyPr>
            <a:noAutofit/>
          </a:bodyPr>
          <a:lstStyle/>
          <a:p>
            <a:pPr>
              <a:defRPr sz="1875" b="1">
                <a:solidFill>
                  <a:srgbClr val="087F8C"/>
                </a:solidFill>
                <a:latin typeface="Aptos"/>
                <a:ea typeface="Aptos"/>
                <a:cs typeface="Aptos"/>
              </a:defRPr>
            </a:pPr>
            <a:r>
              <a:rPr sz="1875" b="1">
                <a:solidFill>
                  <a:srgbClr val="087F8C"/>
                </a:solidFill>
                <a:latin typeface="Aptos"/>
                <a:ea typeface="Aptos"/>
                <a:cs typeface="Aptos"/>
              </a:rPr>
              <a:t>A missing measurement stays blank and visible as a data gap</a:t>
            </a:r>
          </a:p>
        </p:txBody>
      </p:sp>
    </p:spTree>
    <p:extLst>
      <p:ext uri="{BB962C8B-B14F-4D97-AF65-F5344CB8AC3E}">
        <p14:creationId xmlns:p14="http://schemas.microsoft.com/office/powerpoint/2010/main" val="1486856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2ED5611-C184-4ED6-959D-C7782D5E2BA0}"/>
              </a:ext>
            </a:extLst>
          </p:cNvPr>
          <p:cNvSpPr>
            <a:spLocks noGrp="1"/>
          </p:cNvSpPr>
          <p:nvPr/>
        </p:nvSpPr>
        <p:spPr>
          <a:xfrm>
            <a:off x="609600" y="457200"/>
            <a:ext cx="10972800" cy="666750"/>
          </a:xfrm>
          <a:prstGeom prst="rect">
            <a:avLst/>
          </a:prstGeom>
          <a:noFill/>
          <a:ln w="0">
            <a:noFill/>
          </a:ln>
        </p:spPr>
        <p:txBody>
          <a:bodyPr>
            <a:noAutofit/>
          </a:bodyPr>
          <a:lstStyle/>
          <a:p>
            <a:pPr>
              <a:defRPr sz="3150" b="1">
                <a:solidFill>
                  <a:srgbClr val="10283F"/>
                </a:solidFill>
                <a:latin typeface="Aptos"/>
                <a:ea typeface="Aptos"/>
                <a:cs typeface="Aptos"/>
              </a:defRPr>
            </a:pPr>
            <a:r>
              <a:rPr sz="3150" b="1">
                <a:solidFill>
                  <a:srgbClr val="10283F"/>
                </a:solidFill>
                <a:latin typeface="Aptos"/>
                <a:ea typeface="Aptos"/>
                <a:cs typeface="Aptos"/>
              </a:rPr>
              <a:t>Business Value / Outcomes</a:t>
            </a:r>
          </a:p>
        </p:txBody>
      </p:sp>
      <p:sp>
        <p:nvSpPr>
          <p:cNvPr id="2" name="Rectangle 1">
            <a:extLst>
              <a:ext uri="{FF2B5EF4-FFF2-40B4-BE49-F238E27FC236}">
                <a16:creationId xmlns:a16="http://schemas.microsoft.com/office/drawing/2014/main" id="{52A804AE-D9E2-4672-948A-E41BF43C2E94}"/>
              </a:ext>
            </a:extLst>
          </p:cNvPr>
          <p:cNvSpPr>
            <a:spLocks noGrp="1"/>
          </p:cNvSpPr>
          <p:nvPr/>
        </p:nvSpPr>
        <p:spPr>
          <a:xfrm>
            <a:off x="609600" y="1219200"/>
            <a:ext cx="10972800" cy="590550"/>
          </a:xfrm>
          <a:prstGeom prst="rect">
            <a:avLst/>
          </a:prstGeom>
          <a:noFill/>
          <a:ln w="0">
            <a:noFill/>
          </a:ln>
        </p:spPr>
        <p:txBody>
          <a:bodyPr>
            <a:noAutofit/>
          </a:bodyPr>
          <a:lstStyle/>
          <a:p>
            <a:pPr>
              <a:defRPr sz="1725" b="0">
                <a:solidFill>
                  <a:srgbClr val="526778"/>
                </a:solidFill>
                <a:latin typeface="Aptos"/>
                <a:ea typeface="Aptos"/>
                <a:cs typeface="Aptos"/>
              </a:defRPr>
            </a:pPr>
            <a:r>
              <a:rPr sz="1725" b="0">
                <a:solidFill>
                  <a:srgbClr val="526778"/>
                </a:solidFill>
                <a:latin typeface="Aptos"/>
                <a:ea typeface="Aptos"/>
                <a:cs typeface="Aptos"/>
              </a:rPr>
              <a:t>Expected value for a fitness business, measured after rollout</a:t>
            </a:r>
          </a:p>
        </p:txBody>
      </p:sp>
      <p:sp>
        <p:nvSpPr>
          <p:cNvPr id="3" name="Rectangle 2">
            <a:extLst>
              <a:ext uri="{FF2B5EF4-FFF2-40B4-BE49-F238E27FC236}">
                <a16:creationId xmlns:a16="http://schemas.microsoft.com/office/drawing/2014/main" id="{6F24E53A-24BF-4948-A1E8-4319798A83A3}"/>
              </a:ext>
            </a:extLst>
          </p:cNvPr>
          <p:cNvSpPr>
            <a:spLocks noGrp="1"/>
          </p:cNvSpPr>
          <p:nvPr/>
        </p:nvSpPr>
        <p:spPr>
          <a:xfrm>
            <a:off x="11049000" y="6410325"/>
            <a:ext cx="523875" cy="238125"/>
          </a:xfrm>
          <a:prstGeom prst="rect">
            <a:avLst/>
          </a:prstGeom>
          <a:noFill/>
          <a:ln w="0">
            <a:noFill/>
          </a:ln>
        </p:spPr>
        <p:txBody>
          <a:bodyPr>
            <a:noAutofit/>
          </a:bodyPr>
          <a:lstStyle/>
          <a:p>
            <a:pPr>
              <a:defRPr sz="1125" b="0">
                <a:solidFill>
                  <a:srgbClr val="526778"/>
                </a:solidFill>
                <a:latin typeface="Aptos"/>
                <a:ea typeface="Aptos"/>
                <a:cs typeface="Aptos"/>
              </a:defRPr>
            </a:pPr>
            <a:r>
              <a:rPr sz="1125" b="0">
                <a:solidFill>
                  <a:srgbClr val="526778"/>
                </a:solidFill>
                <a:latin typeface="Aptos"/>
                <a:ea typeface="Aptos"/>
                <a:cs typeface="Aptos"/>
              </a:rPr>
              <a:t>15</a:t>
            </a:r>
          </a:p>
        </p:txBody>
      </p:sp>
      <p:sp>
        <p:nvSpPr>
          <p:cNvPr id="4" name="Rectangle 3">
            <a:extLst>
              <a:ext uri="{FF2B5EF4-FFF2-40B4-BE49-F238E27FC236}">
                <a16:creationId xmlns:a16="http://schemas.microsoft.com/office/drawing/2014/main" id="{88E25091-AD69-4151-997A-655A57B4CF0E}"/>
              </a:ext>
            </a:extLst>
          </p:cNvPr>
          <p:cNvSpPr>
            <a:spLocks noGrp="1"/>
          </p:cNvSpPr>
          <p:nvPr/>
        </p:nvSpPr>
        <p:spPr>
          <a:xfrm>
            <a:off x="609600" y="2095500"/>
            <a:ext cx="5000625" cy="523875"/>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Faster member reviews</a:t>
            </a:r>
          </a:p>
        </p:txBody>
      </p:sp>
      <p:sp>
        <p:nvSpPr>
          <p:cNvPr id="5" name="Rectangle 4">
            <a:extLst>
              <a:ext uri="{FF2B5EF4-FFF2-40B4-BE49-F238E27FC236}">
                <a16:creationId xmlns:a16="http://schemas.microsoft.com/office/drawing/2014/main" id="{3DF2D14D-4705-4785-8411-0D56E3214D6F}"/>
              </a:ext>
            </a:extLst>
          </p:cNvPr>
          <p:cNvSpPr>
            <a:spLocks noGrp="1"/>
          </p:cNvSpPr>
          <p:nvPr/>
        </p:nvSpPr>
        <p:spPr>
          <a:xfrm>
            <a:off x="6057900" y="2095500"/>
            <a:ext cx="5372100" cy="619125"/>
          </a:xfrm>
          <a:prstGeom prst="rect">
            <a:avLst/>
          </a:prstGeom>
          <a:noFill/>
          <a:ln w="0">
            <a:noFill/>
          </a:ln>
        </p:spPr>
        <p:txBody>
          <a:bodyPr>
            <a:noAutofit/>
          </a:bodyPr>
          <a:lstStyle/>
          <a:p>
            <a:pPr>
              <a:defRPr sz="1875" b="0">
                <a:solidFill>
                  <a:srgbClr val="16324A"/>
                </a:solidFill>
                <a:latin typeface="Aptos"/>
                <a:ea typeface="Aptos"/>
                <a:cs typeface="Aptos"/>
              </a:defRPr>
            </a:pPr>
            <a:r>
              <a:rPr sz="1875" b="0">
                <a:solidFill>
                  <a:srgbClr val="16324A"/>
                </a:solidFill>
                <a:latin typeface="Aptos"/>
                <a:ea typeface="Aptos"/>
                <a:cs typeface="Aptos"/>
              </a:rPr>
              <a:t>Measure preparation time before and after adoption</a:t>
            </a:r>
          </a:p>
        </p:txBody>
      </p:sp>
      <p:sp>
        <p:nvSpPr>
          <p:cNvPr id="6" name="Rectangle 5">
            <a:extLst>
              <a:ext uri="{FF2B5EF4-FFF2-40B4-BE49-F238E27FC236}">
                <a16:creationId xmlns:a16="http://schemas.microsoft.com/office/drawing/2014/main" id="{EF7ACC18-5B76-4E98-8FAA-6AFDEC391562}"/>
              </a:ext>
            </a:extLst>
          </p:cNvPr>
          <p:cNvSpPr>
            <a:spLocks noGrp="1"/>
          </p:cNvSpPr>
          <p:nvPr/>
        </p:nvSpPr>
        <p:spPr>
          <a:xfrm>
            <a:off x="609600" y="3038475"/>
            <a:ext cx="5000625" cy="523875"/>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More focused follow-ups</a:t>
            </a:r>
          </a:p>
        </p:txBody>
      </p:sp>
      <p:sp>
        <p:nvSpPr>
          <p:cNvPr id="7" name="Rectangle 6">
            <a:extLst>
              <a:ext uri="{FF2B5EF4-FFF2-40B4-BE49-F238E27FC236}">
                <a16:creationId xmlns:a16="http://schemas.microsoft.com/office/drawing/2014/main" id="{2C6B18B4-56F7-4FA6-A514-1D6BA951BE18}"/>
              </a:ext>
            </a:extLst>
          </p:cNvPr>
          <p:cNvSpPr>
            <a:spLocks noGrp="1"/>
          </p:cNvSpPr>
          <p:nvPr/>
        </p:nvSpPr>
        <p:spPr>
          <a:xfrm>
            <a:off x="6057900" y="3038475"/>
            <a:ext cx="5372100" cy="619125"/>
          </a:xfrm>
          <a:prstGeom prst="rect">
            <a:avLst/>
          </a:prstGeom>
          <a:noFill/>
          <a:ln w="0">
            <a:noFill/>
          </a:ln>
        </p:spPr>
        <p:txBody>
          <a:bodyPr>
            <a:noAutofit/>
          </a:bodyPr>
          <a:lstStyle/>
          <a:p>
            <a:pPr>
              <a:defRPr sz="1875" b="0">
                <a:solidFill>
                  <a:srgbClr val="16324A"/>
                </a:solidFill>
                <a:latin typeface="Aptos"/>
                <a:ea typeface="Aptos"/>
                <a:cs typeface="Aptos"/>
              </a:defRPr>
            </a:pPr>
            <a:r>
              <a:rPr sz="1875" b="0">
                <a:solidFill>
                  <a:srgbClr val="16324A"/>
                </a:solidFill>
                <a:latin typeface="Aptos"/>
                <a:ea typeface="Aptos"/>
                <a:cs typeface="Aptos"/>
              </a:rPr>
              <a:t>Track overdue reviews and completed coach follow-ups</a:t>
            </a:r>
          </a:p>
        </p:txBody>
      </p:sp>
      <p:sp>
        <p:nvSpPr>
          <p:cNvPr id="8" name="Rectangle 7">
            <a:extLst>
              <a:ext uri="{FF2B5EF4-FFF2-40B4-BE49-F238E27FC236}">
                <a16:creationId xmlns:a16="http://schemas.microsoft.com/office/drawing/2014/main" id="{9364DDE8-6CAB-42D0-80A0-07163933EB66}"/>
              </a:ext>
            </a:extLst>
          </p:cNvPr>
          <p:cNvSpPr>
            <a:spLocks noGrp="1"/>
          </p:cNvSpPr>
          <p:nvPr/>
        </p:nvSpPr>
        <p:spPr>
          <a:xfrm>
            <a:off x="609600" y="3981450"/>
            <a:ext cx="5000625" cy="523875"/>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Clearer progress discussions</a:t>
            </a:r>
          </a:p>
        </p:txBody>
      </p:sp>
      <p:sp>
        <p:nvSpPr>
          <p:cNvPr id="9" name="Rectangle 8">
            <a:extLst>
              <a:ext uri="{FF2B5EF4-FFF2-40B4-BE49-F238E27FC236}">
                <a16:creationId xmlns:a16="http://schemas.microsoft.com/office/drawing/2014/main" id="{FB47D46B-D40D-4446-90DD-6C85EA66CCDD}"/>
              </a:ext>
            </a:extLst>
          </p:cNvPr>
          <p:cNvSpPr>
            <a:spLocks noGrp="1"/>
          </p:cNvSpPr>
          <p:nvPr/>
        </p:nvSpPr>
        <p:spPr>
          <a:xfrm>
            <a:off x="6057900" y="3981450"/>
            <a:ext cx="5372100" cy="619125"/>
          </a:xfrm>
          <a:prstGeom prst="rect">
            <a:avLst/>
          </a:prstGeom>
          <a:noFill/>
          <a:ln w="0">
            <a:noFill/>
          </a:ln>
        </p:spPr>
        <p:txBody>
          <a:bodyPr>
            <a:noAutofit/>
          </a:bodyPr>
          <a:lstStyle/>
          <a:p>
            <a:pPr>
              <a:defRPr sz="1875" b="0">
                <a:solidFill>
                  <a:srgbClr val="16324A"/>
                </a:solidFill>
                <a:latin typeface="Aptos"/>
                <a:ea typeface="Aptos"/>
                <a:cs typeface="Aptos"/>
              </a:defRPr>
            </a:pPr>
            <a:r>
              <a:rPr sz="1875" b="0">
                <a:solidFill>
                  <a:srgbClr val="16324A"/>
                </a:solidFill>
                <a:latin typeface="Aptos"/>
                <a:ea typeface="Aptos"/>
                <a:cs typeface="Aptos"/>
              </a:rPr>
              <a:t>Review dated measurements alongside individual goals</a:t>
            </a:r>
          </a:p>
        </p:txBody>
      </p:sp>
      <p:sp>
        <p:nvSpPr>
          <p:cNvPr id="10" name="Rectangle 9">
            <a:extLst>
              <a:ext uri="{FF2B5EF4-FFF2-40B4-BE49-F238E27FC236}">
                <a16:creationId xmlns:a16="http://schemas.microsoft.com/office/drawing/2014/main" id="{1EDEAE5D-9654-4C7E-8B8E-7C31B88685CF}"/>
              </a:ext>
            </a:extLst>
          </p:cNvPr>
          <p:cNvSpPr>
            <a:spLocks noGrp="1"/>
          </p:cNvSpPr>
          <p:nvPr/>
        </p:nvSpPr>
        <p:spPr>
          <a:xfrm>
            <a:off x="609600" y="4924425"/>
            <a:ext cx="5000625" cy="523875"/>
          </a:xfrm>
          <a:prstGeom prst="rect">
            <a:avLst/>
          </a:prstGeom>
          <a:noFill/>
          <a:ln w="0">
            <a:noFill/>
          </a:ln>
        </p:spPr>
        <p:txBody>
          <a:bodyPr>
            <a:noAutofit/>
          </a:bodyPr>
          <a:lstStyle/>
          <a:p>
            <a:pPr>
              <a:defRPr sz="2175" b="1">
                <a:solidFill>
                  <a:srgbClr val="087F8C"/>
                </a:solidFill>
                <a:latin typeface="Aptos"/>
                <a:ea typeface="Aptos"/>
                <a:cs typeface="Aptos"/>
              </a:defRPr>
            </a:pPr>
            <a:r>
              <a:rPr sz="2175" b="1">
                <a:solidFill>
                  <a:srgbClr val="087F8C"/>
                </a:solidFill>
                <a:latin typeface="Aptos"/>
                <a:ea typeface="Aptos"/>
                <a:cs typeface="Aptos"/>
              </a:rPr>
              <a:t>Reliable reporting</a:t>
            </a:r>
          </a:p>
        </p:txBody>
      </p:sp>
      <p:sp>
        <p:nvSpPr>
          <p:cNvPr id="11" name="Rectangle 10">
            <a:extLst>
              <a:ext uri="{FF2B5EF4-FFF2-40B4-BE49-F238E27FC236}">
                <a16:creationId xmlns:a16="http://schemas.microsoft.com/office/drawing/2014/main" id="{AE4730A6-443E-4F46-8ABF-C1E61F80EA17}"/>
              </a:ext>
            </a:extLst>
          </p:cNvPr>
          <p:cNvSpPr>
            <a:spLocks noGrp="1"/>
          </p:cNvSpPr>
          <p:nvPr/>
        </p:nvSpPr>
        <p:spPr>
          <a:xfrm>
            <a:off x="6057900" y="4924425"/>
            <a:ext cx="5372100" cy="619125"/>
          </a:xfrm>
          <a:prstGeom prst="rect">
            <a:avLst/>
          </a:prstGeom>
          <a:noFill/>
          <a:ln w="0">
            <a:noFill/>
          </a:ln>
        </p:spPr>
        <p:txBody>
          <a:bodyPr>
            <a:noAutofit/>
          </a:bodyPr>
          <a:lstStyle/>
          <a:p>
            <a:pPr>
              <a:defRPr sz="1875" b="0">
                <a:solidFill>
                  <a:srgbClr val="16324A"/>
                </a:solidFill>
                <a:latin typeface="Aptos"/>
                <a:ea typeface="Aptos"/>
                <a:cs typeface="Aptos"/>
              </a:defRPr>
            </a:pPr>
            <a:r>
              <a:rPr sz="1875" b="0">
                <a:solidFill>
                  <a:srgbClr val="16324A"/>
                </a:solidFill>
                <a:latin typeface="Aptos"/>
                <a:ea typeface="Aptos"/>
                <a:cs typeface="Aptos"/>
              </a:rPr>
              <a:t>Monitor refresh success and unresolved data exceptions</a:t>
            </a:r>
          </a:p>
        </p:txBody>
      </p:sp>
    </p:spTree>
    <p:extLst>
      <p:ext uri="{BB962C8B-B14F-4D97-AF65-F5344CB8AC3E}">
        <p14:creationId xmlns:p14="http://schemas.microsoft.com/office/powerpoint/2010/main" val="476445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283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821E470-1B35-4FCA-9629-5614A5723B80}"/>
              </a:ext>
            </a:extLst>
          </p:cNvPr>
          <p:cNvSpPr>
            <a:spLocks noGrp="1"/>
          </p:cNvSpPr>
          <p:nvPr/>
        </p:nvSpPr>
        <p:spPr>
          <a:xfrm>
            <a:off x="609600" y="457200"/>
            <a:ext cx="10972800" cy="666750"/>
          </a:xfrm>
          <a:prstGeom prst="rect">
            <a:avLst/>
          </a:prstGeom>
          <a:noFill/>
          <a:ln w="0">
            <a:noFill/>
          </a:ln>
        </p:spPr>
        <p:txBody>
          <a:bodyPr>
            <a:noAutofit/>
          </a:bodyPr>
          <a:lstStyle/>
          <a:p>
            <a:pPr>
              <a:defRPr sz="3150" b="1">
                <a:solidFill>
                  <a:srgbClr val="FFFFFF"/>
                </a:solidFill>
                <a:latin typeface="Aptos"/>
                <a:ea typeface="Aptos"/>
                <a:cs typeface="Aptos"/>
              </a:defRPr>
            </a:pPr>
            <a:r>
              <a:rPr sz="3150" b="1">
                <a:solidFill>
                  <a:srgbClr val="FFFFFF"/>
                </a:solidFill>
                <a:latin typeface="Aptos"/>
                <a:ea typeface="Aptos"/>
                <a:cs typeface="Aptos"/>
              </a:rPr>
              <a:t>Q&amp;A</a:t>
            </a:r>
          </a:p>
        </p:txBody>
      </p:sp>
      <p:sp>
        <p:nvSpPr>
          <p:cNvPr id="2" name="Rectangle 1">
            <a:extLst>
              <a:ext uri="{FF2B5EF4-FFF2-40B4-BE49-F238E27FC236}">
                <a16:creationId xmlns:a16="http://schemas.microsoft.com/office/drawing/2014/main" id="{2FE20D9D-CE7E-4F43-94EF-64D5C447E0D5}"/>
              </a:ext>
            </a:extLst>
          </p:cNvPr>
          <p:cNvSpPr>
            <a:spLocks noGrp="1"/>
          </p:cNvSpPr>
          <p:nvPr/>
        </p:nvSpPr>
        <p:spPr>
          <a:xfrm>
            <a:off x="11049000" y="6410325"/>
            <a:ext cx="523875" cy="238125"/>
          </a:xfrm>
          <a:prstGeom prst="rect">
            <a:avLst/>
          </a:prstGeom>
          <a:noFill/>
          <a:ln w="0">
            <a:noFill/>
          </a:ln>
        </p:spPr>
        <p:txBody>
          <a:bodyPr>
            <a:noAutofit/>
          </a:bodyPr>
          <a:lstStyle/>
          <a:p>
            <a:pPr>
              <a:defRPr sz="1125" b="0">
                <a:solidFill>
                  <a:srgbClr val="BCD4E0"/>
                </a:solidFill>
                <a:latin typeface="Aptos"/>
                <a:ea typeface="Aptos"/>
                <a:cs typeface="Aptos"/>
              </a:defRPr>
            </a:pPr>
            <a:r>
              <a:rPr sz="1125" b="0">
                <a:solidFill>
                  <a:srgbClr val="BCD4E0"/>
                </a:solidFill>
                <a:latin typeface="Aptos"/>
                <a:ea typeface="Aptos"/>
                <a:cs typeface="Aptos"/>
              </a:rPr>
              <a:t>16</a:t>
            </a:r>
          </a:p>
        </p:txBody>
      </p:sp>
      <p:sp>
        <p:nvSpPr>
          <p:cNvPr id="3" name="Rectangle 2">
            <a:extLst>
              <a:ext uri="{FF2B5EF4-FFF2-40B4-BE49-F238E27FC236}">
                <a16:creationId xmlns:a16="http://schemas.microsoft.com/office/drawing/2014/main" id="{B4F475E3-643E-4341-A264-68F6611E6E8C}"/>
              </a:ext>
            </a:extLst>
          </p:cNvPr>
          <p:cNvSpPr>
            <a:spLocks noGrp="1"/>
          </p:cNvSpPr>
          <p:nvPr/>
        </p:nvSpPr>
        <p:spPr>
          <a:xfrm>
            <a:off x="685800" y="1952625"/>
            <a:ext cx="10477500" cy="1381125"/>
          </a:xfrm>
          <a:prstGeom prst="rect">
            <a:avLst/>
          </a:prstGeom>
          <a:noFill/>
          <a:ln w="0">
            <a:noFill/>
          </a:ln>
        </p:spPr>
        <p:txBody>
          <a:bodyPr>
            <a:noAutofit/>
          </a:bodyPr>
          <a:lstStyle/>
          <a:p>
            <a:pPr>
              <a:defRPr sz="3675" b="1">
                <a:solidFill>
                  <a:srgbClr val="FFFFFF"/>
                </a:solidFill>
                <a:latin typeface="Aptos"/>
                <a:ea typeface="Aptos"/>
                <a:cs typeface="Aptos"/>
              </a:defRPr>
            </a:pPr>
            <a:r>
              <a:rPr sz="3675" b="1">
                <a:solidFill>
                  <a:srgbClr val="FFFFFF"/>
                </a:solidFill>
                <a:latin typeface="Aptos"/>
                <a:ea typeface="Aptos"/>
                <a:cs typeface="Aptos"/>
              </a:rPr>
              <a:t>Member progress.</a:t>
            </a:r>
          </a:p>
          <a:p>
            <a:pPr>
              <a:defRPr sz="3675" b="1">
                <a:solidFill>
                  <a:srgbClr val="FFFFFF"/>
                </a:solidFill>
                <a:latin typeface="Aptos"/>
                <a:ea typeface="Aptos"/>
                <a:cs typeface="Aptos"/>
              </a:defRPr>
            </a:pPr>
            <a:r>
              <a:rPr sz="3675" b="1">
                <a:solidFill>
                  <a:srgbClr val="FFFFFF"/>
                </a:solidFill>
                <a:latin typeface="Aptos"/>
                <a:ea typeface="Aptos"/>
                <a:cs typeface="Aptos"/>
              </a:rPr>
              <a:t>Better-informed coaching.</a:t>
            </a:r>
          </a:p>
        </p:txBody>
      </p:sp>
      <p:sp>
        <p:nvSpPr>
          <p:cNvPr id="4" name="Rectangle 3">
            <a:extLst>
              <a:ext uri="{FF2B5EF4-FFF2-40B4-BE49-F238E27FC236}">
                <a16:creationId xmlns:a16="http://schemas.microsoft.com/office/drawing/2014/main" id="{A3A7235C-6129-4E13-8777-39DF1B5D0F70}"/>
              </a:ext>
            </a:extLst>
          </p:cNvPr>
          <p:cNvSpPr>
            <a:spLocks noGrp="1"/>
          </p:cNvSpPr>
          <p:nvPr/>
        </p:nvSpPr>
        <p:spPr>
          <a:xfrm>
            <a:off x="723900" y="3800475"/>
            <a:ext cx="10477500" cy="762000"/>
          </a:xfrm>
          <a:prstGeom prst="rect">
            <a:avLst/>
          </a:prstGeom>
          <a:noFill/>
          <a:ln w="0">
            <a:noFill/>
          </a:ln>
        </p:spPr>
        <p:txBody>
          <a:bodyPr>
            <a:noAutofit/>
          </a:bodyPr>
          <a:lstStyle/>
          <a:p>
            <a:pPr>
              <a:defRPr sz="2100" b="0">
                <a:solidFill>
                  <a:srgbClr val="8DD7DB"/>
                </a:solidFill>
                <a:latin typeface="Aptos"/>
                <a:ea typeface="Aptos"/>
                <a:cs typeface="Aptos"/>
              </a:defRPr>
            </a:pPr>
            <a:r>
              <a:rPr sz="2100" b="0">
                <a:solidFill>
                  <a:srgbClr val="8DD7DB"/>
                </a:solidFill>
                <a:latin typeface="Aptos"/>
                <a:ea typeface="Aptos"/>
                <a:cs typeface="Aptos"/>
              </a:rPr>
              <a:t>Discussion: member goals, attendance rules, access and the first report page</a:t>
            </a:r>
          </a:p>
        </p:txBody>
      </p:sp>
      <p:sp>
        <p:nvSpPr>
          <p:cNvPr id="5" name="Rectangle 4">
            <a:extLst>
              <a:ext uri="{FF2B5EF4-FFF2-40B4-BE49-F238E27FC236}">
                <a16:creationId xmlns:a16="http://schemas.microsoft.com/office/drawing/2014/main" id="{32BA68F2-2AE9-4338-94CB-FBC3399B6715}"/>
              </a:ext>
            </a:extLst>
          </p:cNvPr>
          <p:cNvSpPr>
            <a:spLocks noGrp="1"/>
          </p:cNvSpPr>
          <p:nvPr/>
        </p:nvSpPr>
        <p:spPr>
          <a:xfrm>
            <a:off x="723900" y="5276850"/>
            <a:ext cx="9525000" cy="476250"/>
          </a:xfrm>
          <a:prstGeom prst="rect">
            <a:avLst/>
          </a:prstGeom>
          <a:noFill/>
          <a:ln w="0">
            <a:noFill/>
          </a:ln>
        </p:spPr>
        <p:txBody>
          <a:bodyPr lIns="91440" tIns="45720" rIns="91440" bIns="45720" anchor="t">
            <a:noAutofit/>
          </a:bodyPr>
          <a:lstStyle/>
          <a:p>
            <a:pPr>
              <a:defRPr sz="2400" b="1">
                <a:solidFill>
                  <a:srgbClr val="FFFFFF"/>
                </a:solidFill>
                <a:latin typeface="Aptos"/>
                <a:ea typeface="Aptos"/>
                <a:cs typeface="Aptos"/>
              </a:defRPr>
            </a:pPr>
            <a:r>
              <a:rPr lang="en-US" sz="2400" b="1" dirty="0">
                <a:solidFill>
                  <a:srgbClr val="FFFFFF"/>
                </a:solidFill>
                <a:latin typeface="Aptos"/>
                <a:ea typeface="Aptos"/>
                <a:cs typeface="Aptos"/>
              </a:rPr>
              <a:t>Geddam Sri Praveena</a:t>
            </a:r>
          </a:p>
          <a:p>
            <a:pPr>
              <a:defRPr sz="2400" b="1">
                <a:solidFill>
                  <a:srgbClr val="FFFFFF"/>
                </a:solidFill>
                <a:latin typeface="Aptos"/>
                <a:ea typeface="Aptos"/>
                <a:cs typeface="Aptos"/>
              </a:defRPr>
            </a:pPr>
            <a:endParaRPr lang="en-US" sz="2400" b="1" dirty="0">
              <a:solidFill>
                <a:srgbClr val="FFFFFF"/>
              </a:solidFill>
              <a:latin typeface="Aptos"/>
              <a:ea typeface="Aptos"/>
              <a:cs typeface="Aptos"/>
            </a:endParaRPr>
          </a:p>
        </p:txBody>
      </p:sp>
      <p:sp>
        <p:nvSpPr>
          <p:cNvPr id="6" name="Rectangle 5">
            <a:extLst>
              <a:ext uri="{FF2B5EF4-FFF2-40B4-BE49-F238E27FC236}">
                <a16:creationId xmlns:a16="http://schemas.microsoft.com/office/drawing/2014/main" id="{E72DA214-51A9-41A4-A79C-DAE7EE1D0AE9}"/>
              </a:ext>
            </a:extLst>
          </p:cNvPr>
          <p:cNvSpPr>
            <a:spLocks noGrp="1"/>
          </p:cNvSpPr>
          <p:nvPr/>
        </p:nvSpPr>
        <p:spPr>
          <a:xfrm>
            <a:off x="723900" y="5819775"/>
            <a:ext cx="9525000" cy="381000"/>
          </a:xfrm>
          <a:prstGeom prst="rect">
            <a:avLst/>
          </a:prstGeom>
          <a:noFill/>
          <a:ln w="0">
            <a:noFill/>
          </a:ln>
        </p:spPr>
        <p:txBody>
          <a:bodyPr>
            <a:noAutofit/>
          </a:bodyPr>
          <a:lstStyle/>
          <a:p>
            <a:pPr>
              <a:defRPr sz="1875" b="0">
                <a:solidFill>
                  <a:srgbClr val="BCD4E0"/>
                </a:solidFill>
                <a:latin typeface="Aptos"/>
                <a:ea typeface="Aptos"/>
                <a:cs typeface="Aptos"/>
              </a:defRPr>
            </a:pPr>
            <a:r>
              <a:rPr sz="1875" b="0">
                <a:solidFill>
                  <a:srgbClr val="BCD4E0"/>
                </a:solidFill>
                <a:latin typeface="Aptos"/>
                <a:ea typeface="Aptos"/>
                <a:cs typeface="Aptos"/>
              </a:rPr>
              <a:t>Data &amp; Analytics Engineer</a:t>
            </a:r>
          </a:p>
        </p:txBody>
      </p:sp>
    </p:spTree>
    <p:extLst>
      <p:ext uri="{BB962C8B-B14F-4D97-AF65-F5344CB8AC3E}">
        <p14:creationId xmlns:p14="http://schemas.microsoft.com/office/powerpoint/2010/main" val="22854614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DocSecurity>0</DocSecurity>
  <PresentationFormat>Widescreen</PresentationFormat>
  <Slides>16</Slides>
  <Notes>16</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Walnut Exporter</cp:lastModifiedBy>
  <cp:revision>5</cp:revision>
  <dcterms:created xsi:type="dcterms:W3CDTF">2026-09-30T16:59:13Z</dcterms:created>
  <dcterms:modified xsi:type="dcterms:W3CDTF">2026-09-30T17:19:58Z</dcterms:modified>
</cp:coreProperties>
</file>